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notesSlides/notesSlide2.xml" ContentType="application/vnd.openxmlformats-officedocument.presentationml.notesSlide+xml"/>
  <Override PartName="/ppt/diagrams/quickStyle4.xml" ContentType="application/vnd.openxmlformats-officedocument.drawingml.diagramStyle+xml"/>
  <Default Extension="svg" ContentType="image/sv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diagrams/layout7.xml" ContentType="application/vnd.openxmlformats-officedocument.drawingml.diagramLayout+xml"/>
  <Override PartName="/ppt/diagrams/data8.xml" ContentType="application/vnd.openxmlformats-officedocument.drawingml.diagramData+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diagrams/layout5.xml" ContentType="application/vnd.openxmlformats-officedocument.drawingml.diagramLayout+xml"/>
  <Override PartName="/ppt/diagrams/data6.xml" ContentType="application/vnd.openxmlformats-officedocument.drawingml.diagramData+xml"/>
  <Override PartName="/ppt/diagrams/layout3.xml" ContentType="application/vnd.openxmlformats-officedocument.drawingml.diagramLayout+xml"/>
  <Override PartName="/ppt/diagrams/data4.xml" ContentType="application/vnd.openxmlformats-officedocument.drawingml.diagramData+xml"/>
  <Override PartName="/ppt/diagrams/colors8.xml" ContentType="application/vnd.openxmlformats-officedocument.drawingml.diagramColors+xml"/>
  <Override PartName="/ppt/diagrams/layout1.xml" ContentType="application/vnd.openxmlformats-officedocument.drawingml.diagramLayout+xml"/>
  <Override PartName="/ppt/diagrams/data2.xml" ContentType="application/vnd.openxmlformats-officedocument.drawingml.diagramData+xml"/>
  <Override PartName="/ppt/diagrams/colors6.xml" ContentType="application/vnd.openxmlformats-officedocument.drawingml.diagramColor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ppt/notesSlides/notesSlide4.xml" ContentType="application/vnd.openxmlformats-officedocument.presentationml.notesSlide+xml"/>
  <Override PartName="/ppt/diagrams/colors3.xml" ContentType="application/vnd.openxmlformats-officedocument.drawingml.diagramColors+xml"/>
  <Override PartName="/ppt/diagrams/colors4.xml" ContentType="application/vnd.openxmlformats-officedocument.drawingml.diagramColors+xml"/>
  <Override PartName="/ppt/diagrams/quickStyle6.xml" ContentType="application/vnd.openxmlformats-officedocument.drawingml.diagramStyle+xml"/>
  <Override PartName="/ppt/diagrams/quickStyle7.xml" ContentType="application/vnd.openxmlformats-officedocument.drawingml.diagramStyl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diagrams/colors2.xml" ContentType="application/vnd.openxmlformats-officedocument.drawingml.diagramColors+xml"/>
  <Override PartName="/ppt/notesSlides/notesSlide1.xml" ContentType="application/vnd.openxmlformats-officedocument.presentationml.notesSlide+xml"/>
  <Override PartName="/ppt/notesSlides/notesSlide3.xml" ContentType="application/vnd.openxmlformats-officedocument.presentationml.notesSlide+xml"/>
  <Override PartName="/ppt/diagrams/quickStyle5.xml" ContentType="application/vnd.openxmlformats-officedocument.drawingml.diagramStyl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quickStyle3.xml" ContentType="application/vnd.openxmlformats-officedocument.drawingml.diagramStyl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diagrams/layout8.xml" ContentType="application/vnd.openxmlformats-officedocument.drawingml.diagram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diagrams/layout6.xml" ContentType="application/vnd.openxmlformats-officedocument.drawingml.diagram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diagrams/layout4.xml" ContentType="application/vnd.openxmlformats-officedocument.drawingml.diagramLayout+xml"/>
  <Override PartName="/ppt/diagrams/data7.xml" ContentType="application/vnd.openxmlformats-officedocument.drawingml.diagramData+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data5.xml" ContentType="application/vnd.openxmlformats-officedocument.drawingml.diagramData+xml"/>
  <Override PartName="/ppt/diagrams/colors7.xml" ContentType="application/vnd.openxmlformats-officedocument.drawingml.diagramColors+xml"/>
  <Override PartName="/ppt/diagrams/data3.xml" ContentType="application/vnd.openxmlformats-officedocument.drawingml.diagramData+xml"/>
  <Override PartName="/ppt/diagrams/colors5.xml" ContentType="application/vnd.openxmlformats-officedocument.drawingml.diagramColors+xml"/>
  <Override PartName="/ppt/diagrams/quickStyle8.xml" ContentType="application/vnd.openxmlformats-officedocument.drawingml.diagramStyl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4"/>
  </p:notesMasterIdLst>
  <p:sldIdLst>
    <p:sldId id="256" r:id="rId2"/>
    <p:sldId id="258" r:id="rId3"/>
    <p:sldId id="257" r:id="rId4"/>
    <p:sldId id="268" r:id="rId5"/>
    <p:sldId id="259" r:id="rId6"/>
    <p:sldId id="260" r:id="rId7"/>
    <p:sldId id="261" r:id="rId8"/>
    <p:sldId id="262" r:id="rId9"/>
    <p:sldId id="263" r:id="rId10"/>
    <p:sldId id="270" r:id="rId11"/>
    <p:sldId id="274" r:id="rId12"/>
    <p:sldId id="275" r:id="rId13"/>
    <p:sldId id="276" r:id="rId14"/>
    <p:sldId id="277" r:id="rId15"/>
    <p:sldId id="278" r:id="rId16"/>
    <p:sldId id="273" r:id="rId17"/>
    <p:sldId id="272" r:id="rId18"/>
    <p:sldId id="271" r:id="rId19"/>
    <p:sldId id="279" r:id="rId20"/>
    <p:sldId id="264" r:id="rId21"/>
    <p:sldId id="265" r:id="rId22"/>
    <p:sldId id="266" r:id="rId23"/>
  </p:sldIdLst>
  <p:sldSz cx="15468600" cy="10287000"/>
  <p:notesSz cx="6858000" cy="9144000"/>
  <p:embeddedFontLst>
    <p:embeddedFont>
      <p:font typeface="Canva Sans Bold" charset="0"/>
      <p:regular r:id="rId25"/>
    </p:embeddedFont>
    <p:embeddedFont>
      <p:font typeface="Red Hat Display Bold" charset="0"/>
      <p:regular r:id="rId26"/>
    </p:embeddedFont>
    <p:embeddedFont>
      <p:font typeface="Calibri" pitchFamily="34" charset="0"/>
      <p:regular r:id="rId27"/>
      <p:bold r:id="rId28"/>
      <p:italic r:id="rId29"/>
      <p:boldItalic r:id="rId30"/>
    </p:embeddedFont>
    <p:embeddedFont>
      <p:font typeface="Canva Sans" charset="0"/>
      <p:regular r:id="rId31"/>
    </p:embeddedFont>
    <p:embeddedFont>
      <p:font typeface="Poppins Semi-Bold" charset="0"/>
      <p:regular r:id="rId32"/>
    </p:embeddedFont>
    <p:embeddedFont>
      <p:font typeface="Anton" charset="0"/>
      <p:regular r:id="rId33"/>
    </p:embeddedFont>
    <p:embeddedFont>
      <p:font typeface="Poppins" charset="0"/>
      <p:regular r:id="rId34"/>
    </p:embeddedFont>
    <p:embeddedFont>
      <p:font typeface="Poppins Ultra-Bold" charset="0"/>
      <p:regular r:id="rId35"/>
    </p:embeddedFont>
    <p:embeddedFont>
      <p:font typeface="Poppins Medium" charset="0"/>
      <p:regular r:id="rId36"/>
    </p:embeddedFont>
    <p:embeddedFont>
      <p:font typeface="Consolas" pitchFamily="49" charset="0"/>
      <p:regular r:id="rId37"/>
      <p:bold r:id="rId38"/>
      <p:italic r:id="rId39"/>
      <p:boldItalic r:id="rId40"/>
    </p:embeddedFont>
    <p:embeddedFont>
      <p:font typeface="Sitka Display" pitchFamily="2" charset="0"/>
      <p:regular r:id="rId41"/>
      <p:bold r:id="rId42"/>
      <p:italic r:id="rId43"/>
      <p:boldItalic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870C2"/>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autoAdjust="0"/>
    <p:restoredTop sz="94622" autoAdjust="0"/>
  </p:normalViewPr>
  <p:slideViewPr>
    <p:cSldViewPr>
      <p:cViewPr varScale="1">
        <p:scale>
          <a:sx n="42" d="100"/>
          <a:sy n="42" d="100"/>
        </p:scale>
        <p:origin x="-1148" y="-1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41"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48"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CB4DA1-AB34-44D8-B499-22B1D244E745}"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n-US"/>
        </a:p>
      </dgm:t>
    </dgm:pt>
    <dgm:pt modelId="{BC9A2461-94B4-4846-96CA-859367C6C0D5}">
      <dgm:prSet/>
      <dgm:spPr/>
      <dgm:t>
        <a:bodyPr/>
        <a:lstStyle/>
        <a:p>
          <a:pPr rtl="0"/>
          <a:r>
            <a:rPr lang="en-US" b="1" dirty="0" smtClean="0"/>
            <a:t>Requirement Scoping:</a:t>
          </a:r>
          <a:endParaRPr lang="en-US" b="1" dirty="0"/>
        </a:p>
      </dgm:t>
    </dgm:pt>
    <dgm:pt modelId="{0CE89C6A-A16D-46F1-BDC6-3AC90878FE4F}" type="parTrans" cxnId="{C446B606-EDA0-428F-98BE-4230F0CBC3BE}">
      <dgm:prSet/>
      <dgm:spPr/>
      <dgm:t>
        <a:bodyPr/>
        <a:lstStyle/>
        <a:p>
          <a:endParaRPr lang="en-US"/>
        </a:p>
      </dgm:t>
    </dgm:pt>
    <dgm:pt modelId="{BD20D8FC-2CC9-4982-83BF-299CAA850702}" type="sibTrans" cxnId="{C446B606-EDA0-428F-98BE-4230F0CBC3BE}">
      <dgm:prSet/>
      <dgm:spPr/>
      <dgm:t>
        <a:bodyPr/>
        <a:lstStyle/>
        <a:p>
          <a:endParaRPr lang="en-US"/>
        </a:p>
      </dgm:t>
    </dgm:pt>
    <dgm:pt modelId="{A48C2E93-1166-4AEE-8020-89716BF681A1}" type="pres">
      <dgm:prSet presAssocID="{8ECB4DA1-AB34-44D8-B499-22B1D244E745}" presName="linear" presStyleCnt="0">
        <dgm:presLayoutVars>
          <dgm:animLvl val="lvl"/>
          <dgm:resizeHandles val="exact"/>
        </dgm:presLayoutVars>
      </dgm:prSet>
      <dgm:spPr/>
      <dgm:t>
        <a:bodyPr/>
        <a:lstStyle/>
        <a:p>
          <a:endParaRPr lang="en-US"/>
        </a:p>
      </dgm:t>
    </dgm:pt>
    <dgm:pt modelId="{D8E134EE-54A5-4D07-952C-333055F23724}" type="pres">
      <dgm:prSet presAssocID="{BC9A2461-94B4-4846-96CA-859367C6C0D5}" presName="parentText" presStyleLbl="node1" presStyleIdx="0" presStyleCnt="1">
        <dgm:presLayoutVars>
          <dgm:chMax val="0"/>
          <dgm:bulletEnabled val="1"/>
        </dgm:presLayoutVars>
      </dgm:prSet>
      <dgm:spPr/>
      <dgm:t>
        <a:bodyPr/>
        <a:lstStyle/>
        <a:p>
          <a:endParaRPr lang="en-US"/>
        </a:p>
      </dgm:t>
    </dgm:pt>
  </dgm:ptLst>
  <dgm:cxnLst>
    <dgm:cxn modelId="{07162114-C4C4-4170-B20D-FE722A0D464B}" type="presOf" srcId="{8ECB4DA1-AB34-44D8-B499-22B1D244E745}" destId="{A48C2E93-1166-4AEE-8020-89716BF681A1}" srcOrd="0" destOrd="0" presId="urn:microsoft.com/office/officeart/2005/8/layout/vList2"/>
    <dgm:cxn modelId="{E917A12D-B208-4478-8A4B-B3018037E8FE}" type="presOf" srcId="{BC9A2461-94B4-4846-96CA-859367C6C0D5}" destId="{D8E134EE-54A5-4D07-952C-333055F23724}" srcOrd="0" destOrd="0" presId="urn:microsoft.com/office/officeart/2005/8/layout/vList2"/>
    <dgm:cxn modelId="{C446B606-EDA0-428F-98BE-4230F0CBC3BE}" srcId="{8ECB4DA1-AB34-44D8-B499-22B1D244E745}" destId="{BC9A2461-94B4-4846-96CA-859367C6C0D5}" srcOrd="0" destOrd="0" parTransId="{0CE89C6A-A16D-46F1-BDC6-3AC90878FE4F}" sibTransId="{BD20D8FC-2CC9-4982-83BF-299CAA850702}"/>
    <dgm:cxn modelId="{A63E4E2E-0235-4C49-A173-9501FAE5A760}" type="presParOf" srcId="{A48C2E93-1166-4AEE-8020-89716BF681A1}" destId="{D8E134EE-54A5-4D07-952C-333055F23724}" srcOrd="0" destOrd="0" presId="urn:microsoft.com/office/officeart/2005/8/layout/vList2"/>
  </dgm:cxnLst>
  <dgm:bg/>
  <dgm:whole/>
</dgm:dataModel>
</file>

<file path=ppt/diagrams/data2.xml><?xml version="1.0" encoding="utf-8"?>
<dgm:dataModel xmlns:dgm="http://schemas.openxmlformats.org/drawingml/2006/diagram" xmlns:a="http://schemas.openxmlformats.org/drawingml/2006/main">
  <dgm:ptLst>
    <dgm:pt modelId="{8ECB4DA1-AB34-44D8-B499-22B1D244E745}"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US"/>
        </a:p>
      </dgm:t>
    </dgm:pt>
    <dgm:pt modelId="{BC9A2461-94B4-4846-96CA-859367C6C0D5}">
      <dgm:prSet/>
      <dgm:spPr/>
      <dgm:t>
        <a:bodyPr/>
        <a:lstStyle/>
        <a:p>
          <a:pPr rtl="0"/>
          <a:r>
            <a:rPr lang="en-US" b="1" dirty="0" smtClean="0"/>
            <a:t>Data Collection:</a:t>
          </a:r>
          <a:endParaRPr lang="en-US" b="1" dirty="0"/>
        </a:p>
      </dgm:t>
    </dgm:pt>
    <dgm:pt modelId="{0CE89C6A-A16D-46F1-BDC6-3AC90878FE4F}" type="parTrans" cxnId="{C446B606-EDA0-428F-98BE-4230F0CBC3BE}">
      <dgm:prSet/>
      <dgm:spPr/>
      <dgm:t>
        <a:bodyPr/>
        <a:lstStyle/>
        <a:p>
          <a:endParaRPr lang="en-US"/>
        </a:p>
      </dgm:t>
    </dgm:pt>
    <dgm:pt modelId="{BD20D8FC-2CC9-4982-83BF-299CAA850702}" type="sibTrans" cxnId="{C446B606-EDA0-428F-98BE-4230F0CBC3BE}">
      <dgm:prSet/>
      <dgm:spPr/>
      <dgm:t>
        <a:bodyPr/>
        <a:lstStyle/>
        <a:p>
          <a:endParaRPr lang="en-US"/>
        </a:p>
      </dgm:t>
    </dgm:pt>
    <dgm:pt modelId="{A48C2E93-1166-4AEE-8020-89716BF681A1}" type="pres">
      <dgm:prSet presAssocID="{8ECB4DA1-AB34-44D8-B499-22B1D244E745}" presName="linear" presStyleCnt="0">
        <dgm:presLayoutVars>
          <dgm:animLvl val="lvl"/>
          <dgm:resizeHandles val="exact"/>
        </dgm:presLayoutVars>
      </dgm:prSet>
      <dgm:spPr/>
      <dgm:t>
        <a:bodyPr/>
        <a:lstStyle/>
        <a:p>
          <a:endParaRPr lang="en-US"/>
        </a:p>
      </dgm:t>
    </dgm:pt>
    <dgm:pt modelId="{D8E134EE-54A5-4D07-952C-333055F23724}" type="pres">
      <dgm:prSet presAssocID="{BC9A2461-94B4-4846-96CA-859367C6C0D5}" presName="parentText" presStyleLbl="node1" presStyleIdx="0" presStyleCnt="1" custLinFactNeighborX="-32787" custLinFactNeighborY="359">
        <dgm:presLayoutVars>
          <dgm:chMax val="0"/>
          <dgm:bulletEnabled val="1"/>
        </dgm:presLayoutVars>
      </dgm:prSet>
      <dgm:spPr/>
      <dgm:t>
        <a:bodyPr/>
        <a:lstStyle/>
        <a:p>
          <a:endParaRPr lang="en-US"/>
        </a:p>
      </dgm:t>
    </dgm:pt>
  </dgm:ptLst>
  <dgm:cxnLst>
    <dgm:cxn modelId="{28B6FAD5-A58D-4942-B651-55E4ECC63EBE}" type="presOf" srcId="{BC9A2461-94B4-4846-96CA-859367C6C0D5}" destId="{D8E134EE-54A5-4D07-952C-333055F23724}" srcOrd="0" destOrd="0" presId="urn:microsoft.com/office/officeart/2005/8/layout/vList2"/>
    <dgm:cxn modelId="{33E78E7F-62F7-4B38-8976-6D3F0A94EF7F}" type="presOf" srcId="{8ECB4DA1-AB34-44D8-B499-22B1D244E745}" destId="{A48C2E93-1166-4AEE-8020-89716BF681A1}" srcOrd="0" destOrd="0" presId="urn:microsoft.com/office/officeart/2005/8/layout/vList2"/>
    <dgm:cxn modelId="{C446B606-EDA0-428F-98BE-4230F0CBC3BE}" srcId="{8ECB4DA1-AB34-44D8-B499-22B1D244E745}" destId="{BC9A2461-94B4-4846-96CA-859367C6C0D5}" srcOrd="0" destOrd="0" parTransId="{0CE89C6A-A16D-46F1-BDC6-3AC90878FE4F}" sibTransId="{BD20D8FC-2CC9-4982-83BF-299CAA850702}"/>
    <dgm:cxn modelId="{C74D536D-91DF-4723-B49D-C461DB09C22E}" type="presParOf" srcId="{A48C2E93-1166-4AEE-8020-89716BF681A1}" destId="{D8E134EE-54A5-4D07-952C-333055F23724}" srcOrd="0" destOrd="0" presId="urn:microsoft.com/office/officeart/2005/8/layout/vList2"/>
  </dgm:cxnLst>
  <dgm:bg/>
  <dgm:whole/>
</dgm:dataModel>
</file>

<file path=ppt/diagrams/data3.xml><?xml version="1.0" encoding="utf-8"?>
<dgm:dataModel xmlns:dgm="http://schemas.openxmlformats.org/drawingml/2006/diagram" xmlns:a="http://schemas.openxmlformats.org/drawingml/2006/main">
  <dgm:ptLst>
    <dgm:pt modelId="{7B0117B8-BAD3-4EDD-91C4-DF6B497A7D78}"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24984C71-5F8F-4EE6-87CF-F53C95A807DB}">
      <dgm:prSet phldrT="[Text]"/>
      <dgm:spPr/>
      <dgm:t>
        <a:bodyPr/>
        <a:lstStyle/>
        <a:p>
          <a:r>
            <a:rPr lang="en-IN" dirty="0" err="1" smtClean="0"/>
            <a:t>playerTable</a:t>
          </a:r>
          <a:endParaRPr lang="en-US" dirty="0"/>
        </a:p>
      </dgm:t>
    </dgm:pt>
    <dgm:pt modelId="{9AF122AC-DFDF-48AA-8AA7-E0E37594126F}" type="parTrans" cxnId="{C8C2CCFE-F355-4676-8C35-02E6028760C7}">
      <dgm:prSet/>
      <dgm:spPr/>
      <dgm:t>
        <a:bodyPr/>
        <a:lstStyle/>
        <a:p>
          <a:endParaRPr lang="en-US"/>
        </a:p>
      </dgm:t>
    </dgm:pt>
    <dgm:pt modelId="{87227458-7135-4A25-864E-015359E3847A}" type="sibTrans" cxnId="{C8C2CCFE-F355-4676-8C35-02E6028760C7}">
      <dgm:prSet/>
      <dgm:spPr/>
      <dgm:t>
        <a:bodyPr/>
        <a:lstStyle/>
        <a:p>
          <a:endParaRPr lang="en-US"/>
        </a:p>
      </dgm:t>
    </dgm:pt>
    <dgm:pt modelId="{2F71B7D9-9AFF-4867-A2D3-B9E3CB908C62}">
      <dgm:prSet phldrT="[Text]"/>
      <dgm:spPr/>
      <dgm:t>
        <a:bodyPr/>
        <a:lstStyle/>
        <a:p>
          <a:r>
            <a:rPr lang="en-IN" dirty="0" err="1" smtClean="0"/>
            <a:t>playerName</a:t>
          </a:r>
          <a:endParaRPr lang="en-US" dirty="0"/>
        </a:p>
      </dgm:t>
    </dgm:pt>
    <dgm:pt modelId="{63CEC8CB-04CC-4FAD-BC1E-A2CA7C79282E}" type="parTrans" cxnId="{08D122CC-2FDE-47A1-A89C-0D229D9D7528}">
      <dgm:prSet/>
      <dgm:spPr/>
      <dgm:t>
        <a:bodyPr/>
        <a:lstStyle/>
        <a:p>
          <a:endParaRPr lang="en-US"/>
        </a:p>
      </dgm:t>
    </dgm:pt>
    <dgm:pt modelId="{CAE259D2-4513-456F-B127-6BE48A660421}" type="sibTrans" cxnId="{08D122CC-2FDE-47A1-A89C-0D229D9D7528}">
      <dgm:prSet/>
      <dgm:spPr/>
      <dgm:t>
        <a:bodyPr/>
        <a:lstStyle/>
        <a:p>
          <a:endParaRPr lang="en-US"/>
        </a:p>
      </dgm:t>
    </dgm:pt>
    <dgm:pt modelId="{2B0B3107-5EA7-4E83-A0CB-373E2AA72ED5}">
      <dgm:prSet phldrT="[Text]"/>
      <dgm:spPr/>
      <dgm:t>
        <a:bodyPr/>
        <a:lstStyle/>
        <a:p>
          <a:r>
            <a:rPr lang="en-IN" dirty="0" err="1" smtClean="0"/>
            <a:t>BattingStyle</a:t>
          </a:r>
          <a:endParaRPr lang="en-US" dirty="0"/>
        </a:p>
      </dgm:t>
    </dgm:pt>
    <dgm:pt modelId="{9758A8CE-9B82-4721-8AA0-01A64473CE19}" type="parTrans" cxnId="{480837E2-8514-4F53-A2D5-FA1DF5828D68}">
      <dgm:prSet/>
      <dgm:spPr/>
      <dgm:t>
        <a:bodyPr/>
        <a:lstStyle/>
        <a:p>
          <a:endParaRPr lang="en-US"/>
        </a:p>
      </dgm:t>
    </dgm:pt>
    <dgm:pt modelId="{FB485ABB-1AD6-4190-A1CE-727EA3F989D0}" type="sibTrans" cxnId="{480837E2-8514-4F53-A2D5-FA1DF5828D68}">
      <dgm:prSet/>
      <dgm:spPr/>
      <dgm:t>
        <a:bodyPr/>
        <a:lstStyle/>
        <a:p>
          <a:endParaRPr lang="en-US"/>
        </a:p>
      </dgm:t>
    </dgm:pt>
    <dgm:pt modelId="{0FDCB914-CA93-4F6E-BA95-C5356F89312B}">
      <dgm:prSet phldrT="[Text]"/>
      <dgm:spPr/>
      <dgm:t>
        <a:bodyPr/>
        <a:lstStyle/>
        <a:p>
          <a:r>
            <a:rPr lang="en-IN" dirty="0" err="1" smtClean="0"/>
            <a:t>BowlingStyle</a:t>
          </a:r>
          <a:endParaRPr lang="en-US" dirty="0"/>
        </a:p>
      </dgm:t>
    </dgm:pt>
    <dgm:pt modelId="{52A1E77C-EE06-437C-BC33-2F0EDA644020}" type="parTrans" cxnId="{9B5661B7-71DF-42A5-B48E-B030547560DD}">
      <dgm:prSet/>
      <dgm:spPr/>
      <dgm:t>
        <a:bodyPr/>
        <a:lstStyle/>
        <a:p>
          <a:endParaRPr lang="en-US"/>
        </a:p>
      </dgm:t>
    </dgm:pt>
    <dgm:pt modelId="{28C111CB-7411-4864-A77B-30F70DD53D3F}" type="sibTrans" cxnId="{9B5661B7-71DF-42A5-B48E-B030547560DD}">
      <dgm:prSet/>
      <dgm:spPr/>
      <dgm:t>
        <a:bodyPr/>
        <a:lstStyle/>
        <a:p>
          <a:endParaRPr lang="en-US"/>
        </a:p>
      </dgm:t>
    </dgm:pt>
    <dgm:pt modelId="{956CEFAA-C0AC-476E-9D9A-4ACBD6B146D4}">
      <dgm:prSet phldrT="[Text]"/>
      <dgm:spPr/>
      <dgm:t>
        <a:bodyPr/>
        <a:lstStyle/>
        <a:p>
          <a:r>
            <a:rPr lang="en-IN" dirty="0" smtClean="0"/>
            <a:t>Description</a:t>
          </a:r>
          <a:endParaRPr lang="en-US" dirty="0"/>
        </a:p>
      </dgm:t>
    </dgm:pt>
    <dgm:pt modelId="{7411F27F-3361-4E04-B075-896813091C0D}" type="parTrans" cxnId="{2E2A3088-D170-425C-8261-5B3E60AEC1D4}">
      <dgm:prSet/>
      <dgm:spPr/>
      <dgm:t>
        <a:bodyPr/>
        <a:lstStyle/>
        <a:p>
          <a:endParaRPr lang="en-US"/>
        </a:p>
      </dgm:t>
    </dgm:pt>
    <dgm:pt modelId="{2680D18C-25C3-43EA-8D4C-94F27DEAFEF9}" type="sibTrans" cxnId="{2E2A3088-D170-425C-8261-5B3E60AEC1D4}">
      <dgm:prSet/>
      <dgm:spPr/>
      <dgm:t>
        <a:bodyPr/>
        <a:lstStyle/>
        <a:p>
          <a:endParaRPr lang="en-US"/>
        </a:p>
      </dgm:t>
    </dgm:pt>
    <dgm:pt modelId="{DF3EDEA4-6AA6-4799-B22D-21E23CBE462F}">
      <dgm:prSet phldrT="[Text]"/>
      <dgm:spPr/>
      <dgm:t>
        <a:bodyPr/>
        <a:lstStyle/>
        <a:p>
          <a:r>
            <a:rPr lang="en-IN" dirty="0" smtClean="0"/>
            <a:t>Team</a:t>
          </a:r>
          <a:endParaRPr lang="en-US" dirty="0"/>
        </a:p>
      </dgm:t>
    </dgm:pt>
    <dgm:pt modelId="{0ED91B29-4A22-4702-8B42-1197F6B2CD1A}" type="parTrans" cxnId="{A404FC0C-6683-4598-A099-F2B5E15064F8}">
      <dgm:prSet/>
      <dgm:spPr/>
      <dgm:t>
        <a:bodyPr/>
        <a:lstStyle/>
        <a:p>
          <a:endParaRPr lang="en-US"/>
        </a:p>
      </dgm:t>
    </dgm:pt>
    <dgm:pt modelId="{9A946713-DE2F-43CC-B630-9B994FE64643}" type="sibTrans" cxnId="{A404FC0C-6683-4598-A099-F2B5E15064F8}">
      <dgm:prSet/>
      <dgm:spPr/>
      <dgm:t>
        <a:bodyPr/>
        <a:lstStyle/>
        <a:p>
          <a:endParaRPr lang="en-US"/>
        </a:p>
      </dgm:t>
    </dgm:pt>
    <dgm:pt modelId="{2D643D55-AE4E-486C-8C42-11E14353DD07}" type="pres">
      <dgm:prSet presAssocID="{7B0117B8-BAD3-4EDD-91C4-DF6B497A7D78}" presName="Name0" presStyleCnt="0">
        <dgm:presLayoutVars>
          <dgm:dir/>
          <dgm:animLvl val="lvl"/>
          <dgm:resizeHandles val="exact"/>
        </dgm:presLayoutVars>
      </dgm:prSet>
      <dgm:spPr/>
      <dgm:t>
        <a:bodyPr/>
        <a:lstStyle/>
        <a:p>
          <a:endParaRPr lang="en-US"/>
        </a:p>
      </dgm:t>
    </dgm:pt>
    <dgm:pt modelId="{6AFD7275-FB47-41BA-92AA-F36B6DF87181}" type="pres">
      <dgm:prSet presAssocID="{24984C71-5F8F-4EE6-87CF-F53C95A807DB}" presName="composite" presStyleCnt="0"/>
      <dgm:spPr/>
    </dgm:pt>
    <dgm:pt modelId="{29E09F14-FF60-4872-936A-C1788352561C}" type="pres">
      <dgm:prSet presAssocID="{24984C71-5F8F-4EE6-87CF-F53C95A807DB}" presName="parTx" presStyleLbl="alignNode1" presStyleIdx="0" presStyleCnt="1" custLinFactNeighborX="-2000" custLinFactNeighborY="7991">
        <dgm:presLayoutVars>
          <dgm:chMax val="0"/>
          <dgm:chPref val="0"/>
          <dgm:bulletEnabled val="1"/>
        </dgm:presLayoutVars>
      </dgm:prSet>
      <dgm:spPr/>
      <dgm:t>
        <a:bodyPr/>
        <a:lstStyle/>
        <a:p>
          <a:endParaRPr lang="en-US"/>
        </a:p>
      </dgm:t>
    </dgm:pt>
    <dgm:pt modelId="{4DF6CC8C-36C8-4E86-96A1-39D828D03B1A}" type="pres">
      <dgm:prSet presAssocID="{24984C71-5F8F-4EE6-87CF-F53C95A807DB}" presName="desTx" presStyleLbl="alignAccFollowNode1" presStyleIdx="0" presStyleCnt="1" custLinFactNeighborY="8645">
        <dgm:presLayoutVars>
          <dgm:bulletEnabled val="1"/>
        </dgm:presLayoutVars>
      </dgm:prSet>
      <dgm:spPr/>
      <dgm:t>
        <a:bodyPr/>
        <a:lstStyle/>
        <a:p>
          <a:endParaRPr lang="en-US"/>
        </a:p>
      </dgm:t>
    </dgm:pt>
  </dgm:ptLst>
  <dgm:cxnLst>
    <dgm:cxn modelId="{9B5661B7-71DF-42A5-B48E-B030547560DD}" srcId="{24984C71-5F8F-4EE6-87CF-F53C95A807DB}" destId="{0FDCB914-CA93-4F6E-BA95-C5356F89312B}" srcOrd="2" destOrd="0" parTransId="{52A1E77C-EE06-437C-BC33-2F0EDA644020}" sibTransId="{28C111CB-7411-4864-A77B-30F70DD53D3F}"/>
    <dgm:cxn modelId="{C8C2CCFE-F355-4676-8C35-02E6028760C7}" srcId="{7B0117B8-BAD3-4EDD-91C4-DF6B497A7D78}" destId="{24984C71-5F8F-4EE6-87CF-F53C95A807DB}" srcOrd="0" destOrd="0" parTransId="{9AF122AC-DFDF-48AA-8AA7-E0E37594126F}" sibTransId="{87227458-7135-4A25-864E-015359E3847A}"/>
    <dgm:cxn modelId="{70A7F25C-5370-4416-B456-9C77657BF28B}" type="presOf" srcId="{0FDCB914-CA93-4F6E-BA95-C5356F89312B}" destId="{4DF6CC8C-36C8-4E86-96A1-39D828D03B1A}" srcOrd="0" destOrd="2" presId="urn:microsoft.com/office/officeart/2005/8/layout/hList1"/>
    <dgm:cxn modelId="{C5862A35-259D-450D-98FB-6E4CFB4B1401}" type="presOf" srcId="{956CEFAA-C0AC-476E-9D9A-4ACBD6B146D4}" destId="{4DF6CC8C-36C8-4E86-96A1-39D828D03B1A}" srcOrd="0" destOrd="3" presId="urn:microsoft.com/office/officeart/2005/8/layout/hList1"/>
    <dgm:cxn modelId="{08D122CC-2FDE-47A1-A89C-0D229D9D7528}" srcId="{24984C71-5F8F-4EE6-87CF-F53C95A807DB}" destId="{2F71B7D9-9AFF-4867-A2D3-B9E3CB908C62}" srcOrd="0" destOrd="0" parTransId="{63CEC8CB-04CC-4FAD-BC1E-A2CA7C79282E}" sibTransId="{CAE259D2-4513-456F-B127-6BE48A660421}"/>
    <dgm:cxn modelId="{B442B32E-CB21-4C18-ADCA-7BBE07791174}" type="presOf" srcId="{2B0B3107-5EA7-4E83-A0CB-373E2AA72ED5}" destId="{4DF6CC8C-36C8-4E86-96A1-39D828D03B1A}" srcOrd="0" destOrd="1" presId="urn:microsoft.com/office/officeart/2005/8/layout/hList1"/>
    <dgm:cxn modelId="{A404FC0C-6683-4598-A099-F2B5E15064F8}" srcId="{24984C71-5F8F-4EE6-87CF-F53C95A807DB}" destId="{DF3EDEA4-6AA6-4799-B22D-21E23CBE462F}" srcOrd="4" destOrd="0" parTransId="{0ED91B29-4A22-4702-8B42-1197F6B2CD1A}" sibTransId="{9A946713-DE2F-43CC-B630-9B994FE64643}"/>
    <dgm:cxn modelId="{2E2A3088-D170-425C-8261-5B3E60AEC1D4}" srcId="{24984C71-5F8F-4EE6-87CF-F53C95A807DB}" destId="{956CEFAA-C0AC-476E-9D9A-4ACBD6B146D4}" srcOrd="3" destOrd="0" parTransId="{7411F27F-3361-4E04-B075-896813091C0D}" sibTransId="{2680D18C-25C3-43EA-8D4C-94F27DEAFEF9}"/>
    <dgm:cxn modelId="{AD72E10D-B899-4699-B522-813F612C3823}" type="presOf" srcId="{7B0117B8-BAD3-4EDD-91C4-DF6B497A7D78}" destId="{2D643D55-AE4E-486C-8C42-11E14353DD07}" srcOrd="0" destOrd="0" presId="urn:microsoft.com/office/officeart/2005/8/layout/hList1"/>
    <dgm:cxn modelId="{480837E2-8514-4F53-A2D5-FA1DF5828D68}" srcId="{24984C71-5F8F-4EE6-87CF-F53C95A807DB}" destId="{2B0B3107-5EA7-4E83-A0CB-373E2AA72ED5}" srcOrd="1" destOrd="0" parTransId="{9758A8CE-9B82-4721-8AA0-01A64473CE19}" sibTransId="{FB485ABB-1AD6-4190-A1CE-727EA3F989D0}"/>
    <dgm:cxn modelId="{C2AF8742-7203-4B2A-BD3E-676FDEC14457}" type="presOf" srcId="{24984C71-5F8F-4EE6-87CF-F53C95A807DB}" destId="{29E09F14-FF60-4872-936A-C1788352561C}" srcOrd="0" destOrd="0" presId="urn:microsoft.com/office/officeart/2005/8/layout/hList1"/>
    <dgm:cxn modelId="{16933AE7-2C83-4C69-B464-1CC582EA75F4}" type="presOf" srcId="{DF3EDEA4-6AA6-4799-B22D-21E23CBE462F}" destId="{4DF6CC8C-36C8-4E86-96A1-39D828D03B1A}" srcOrd="0" destOrd="4" presId="urn:microsoft.com/office/officeart/2005/8/layout/hList1"/>
    <dgm:cxn modelId="{80752C60-71C2-4D5F-949F-4F0CB599CD40}" type="presOf" srcId="{2F71B7D9-9AFF-4867-A2D3-B9E3CB908C62}" destId="{4DF6CC8C-36C8-4E86-96A1-39D828D03B1A}" srcOrd="0" destOrd="0" presId="urn:microsoft.com/office/officeart/2005/8/layout/hList1"/>
    <dgm:cxn modelId="{F0263E8C-BE8E-43C8-934F-B761C719E985}" type="presParOf" srcId="{2D643D55-AE4E-486C-8C42-11E14353DD07}" destId="{6AFD7275-FB47-41BA-92AA-F36B6DF87181}" srcOrd="0" destOrd="0" presId="urn:microsoft.com/office/officeart/2005/8/layout/hList1"/>
    <dgm:cxn modelId="{D0FE10C6-28DD-4F13-AAFD-2B91EE5DEFFB}" type="presParOf" srcId="{6AFD7275-FB47-41BA-92AA-F36B6DF87181}" destId="{29E09F14-FF60-4872-936A-C1788352561C}" srcOrd="0" destOrd="0" presId="urn:microsoft.com/office/officeart/2005/8/layout/hList1"/>
    <dgm:cxn modelId="{E93D7880-7892-4B1B-BF03-03F20C8858D7}" type="presParOf" srcId="{6AFD7275-FB47-41BA-92AA-F36B6DF87181}" destId="{4DF6CC8C-36C8-4E86-96A1-39D828D03B1A}" srcOrd="1" destOrd="0" presId="urn:microsoft.com/office/officeart/2005/8/layout/hList1"/>
  </dgm:cxnLst>
  <dgm:bg/>
  <dgm:whole/>
</dgm:dataModel>
</file>

<file path=ppt/diagrams/data4.xml><?xml version="1.0" encoding="utf-8"?>
<dgm:dataModel xmlns:dgm="http://schemas.openxmlformats.org/drawingml/2006/diagram" xmlns:a="http://schemas.openxmlformats.org/drawingml/2006/main">
  <dgm:ptLst>
    <dgm:pt modelId="{82496F08-0D78-4325-8CA5-21B8800B3740}"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50B749A7-B4D2-4123-9A1F-BDC9C50E8A01}">
      <dgm:prSet phldrT="[Text]"/>
      <dgm:spPr/>
      <dgm:t>
        <a:bodyPr/>
        <a:lstStyle/>
        <a:p>
          <a:r>
            <a:rPr lang="en-IN" dirty="0" smtClean="0"/>
            <a:t>match</a:t>
          </a:r>
          <a:endParaRPr lang="en-US" dirty="0"/>
        </a:p>
      </dgm:t>
    </dgm:pt>
    <dgm:pt modelId="{76AB2A6F-05B0-4042-A300-18FA0B65DC63}" type="parTrans" cxnId="{7CEC6939-587D-431B-A8CF-858FE87308A8}">
      <dgm:prSet/>
      <dgm:spPr/>
      <dgm:t>
        <a:bodyPr/>
        <a:lstStyle/>
        <a:p>
          <a:endParaRPr lang="en-US"/>
        </a:p>
      </dgm:t>
    </dgm:pt>
    <dgm:pt modelId="{5E7870D8-6429-4630-A598-B5B9FB6CAC66}" type="sibTrans" cxnId="{7CEC6939-587D-431B-A8CF-858FE87308A8}">
      <dgm:prSet/>
      <dgm:spPr/>
      <dgm:t>
        <a:bodyPr/>
        <a:lstStyle/>
        <a:p>
          <a:endParaRPr lang="en-US"/>
        </a:p>
      </dgm:t>
    </dgm:pt>
    <dgm:pt modelId="{001ACFF6-66FE-43A3-BC44-DCAC14E1CA69}">
      <dgm:prSet phldrT="[Text]"/>
      <dgm:spPr/>
      <dgm:t>
        <a:bodyPr/>
        <a:lstStyle/>
        <a:p>
          <a:r>
            <a:rPr lang="en-IN" dirty="0" err="1" smtClean="0"/>
            <a:t>Match_id</a:t>
          </a:r>
          <a:endParaRPr lang="en-US" dirty="0"/>
        </a:p>
      </dgm:t>
    </dgm:pt>
    <dgm:pt modelId="{A7C786FE-27F2-460E-A382-8C982791E9F3}" type="parTrans" cxnId="{39397276-ADD3-4A2C-A6FE-F6EFDC747423}">
      <dgm:prSet/>
      <dgm:spPr/>
      <dgm:t>
        <a:bodyPr/>
        <a:lstStyle/>
        <a:p>
          <a:endParaRPr lang="en-US"/>
        </a:p>
      </dgm:t>
    </dgm:pt>
    <dgm:pt modelId="{2D5CE152-D23E-4C7B-A4BD-FD3F0AC411EF}" type="sibTrans" cxnId="{39397276-ADD3-4A2C-A6FE-F6EFDC747423}">
      <dgm:prSet/>
      <dgm:spPr/>
      <dgm:t>
        <a:bodyPr/>
        <a:lstStyle/>
        <a:p>
          <a:endParaRPr lang="en-US"/>
        </a:p>
      </dgm:t>
    </dgm:pt>
    <dgm:pt modelId="{48B54A4E-72C0-456F-85CE-C3B136B95DA2}">
      <dgm:prSet phldrT="[Text]"/>
      <dgm:spPr/>
      <dgm:t>
        <a:bodyPr/>
        <a:lstStyle/>
        <a:p>
          <a:r>
            <a:rPr lang="en-IN" dirty="0" err="1" smtClean="0"/>
            <a:t>matchDate</a:t>
          </a:r>
          <a:endParaRPr lang="en-US" dirty="0"/>
        </a:p>
      </dgm:t>
    </dgm:pt>
    <dgm:pt modelId="{0F5DDD8E-9750-40FF-BD40-DAA72837B990}" type="parTrans" cxnId="{31D6C936-62F4-44BC-8C7B-4A032DF7119C}">
      <dgm:prSet/>
      <dgm:spPr/>
      <dgm:t>
        <a:bodyPr/>
        <a:lstStyle/>
        <a:p>
          <a:endParaRPr lang="en-US"/>
        </a:p>
      </dgm:t>
    </dgm:pt>
    <dgm:pt modelId="{E843BE8B-AF65-4551-A2B7-D925A9A50504}" type="sibTrans" cxnId="{31D6C936-62F4-44BC-8C7B-4A032DF7119C}">
      <dgm:prSet/>
      <dgm:spPr/>
      <dgm:t>
        <a:bodyPr/>
        <a:lstStyle/>
        <a:p>
          <a:endParaRPr lang="en-US"/>
        </a:p>
      </dgm:t>
    </dgm:pt>
    <dgm:pt modelId="{5704BF29-6DBA-4394-B5CB-A8AEDE02EC1B}">
      <dgm:prSet phldrT="[Text]"/>
      <dgm:spPr/>
      <dgm:t>
        <a:bodyPr/>
        <a:lstStyle/>
        <a:p>
          <a:r>
            <a:rPr lang="en-IN" dirty="0" smtClean="0"/>
            <a:t>Stage</a:t>
          </a:r>
          <a:endParaRPr lang="en-US" dirty="0"/>
        </a:p>
      </dgm:t>
    </dgm:pt>
    <dgm:pt modelId="{B3C5EE3A-55C2-4B38-981F-D3AFC3CC2899}" type="parTrans" cxnId="{C9F7EB2A-22DB-4257-8C50-526EB18B8A64}">
      <dgm:prSet/>
      <dgm:spPr/>
      <dgm:t>
        <a:bodyPr/>
        <a:lstStyle/>
        <a:p>
          <a:endParaRPr lang="en-US"/>
        </a:p>
      </dgm:t>
    </dgm:pt>
    <dgm:pt modelId="{DAD91AF4-9D76-41C2-91B8-11F32363347D}" type="sibTrans" cxnId="{C9F7EB2A-22DB-4257-8C50-526EB18B8A64}">
      <dgm:prSet/>
      <dgm:spPr/>
      <dgm:t>
        <a:bodyPr/>
        <a:lstStyle/>
        <a:p>
          <a:endParaRPr lang="en-US"/>
        </a:p>
      </dgm:t>
    </dgm:pt>
    <dgm:pt modelId="{FCF1DC8A-8677-4159-BEB7-629AD5725AF9}">
      <dgm:prSet phldrT="[Text]"/>
      <dgm:spPr/>
      <dgm:t>
        <a:bodyPr/>
        <a:lstStyle/>
        <a:p>
          <a:r>
            <a:rPr lang="en-IN" dirty="0" smtClean="0"/>
            <a:t>Team1</a:t>
          </a:r>
          <a:endParaRPr lang="en-US" dirty="0"/>
        </a:p>
      </dgm:t>
    </dgm:pt>
    <dgm:pt modelId="{31865321-07B5-466E-BF58-47EDAE1E3439}" type="parTrans" cxnId="{32E35965-09CC-4B2F-AB00-0B097A0E6A65}">
      <dgm:prSet/>
      <dgm:spPr/>
      <dgm:t>
        <a:bodyPr/>
        <a:lstStyle/>
        <a:p>
          <a:endParaRPr lang="en-US"/>
        </a:p>
      </dgm:t>
    </dgm:pt>
    <dgm:pt modelId="{C6A4DA91-8D81-49B8-A91E-C007768A239F}" type="sibTrans" cxnId="{32E35965-09CC-4B2F-AB00-0B097A0E6A65}">
      <dgm:prSet/>
      <dgm:spPr/>
      <dgm:t>
        <a:bodyPr/>
        <a:lstStyle/>
        <a:p>
          <a:endParaRPr lang="en-US"/>
        </a:p>
      </dgm:t>
    </dgm:pt>
    <dgm:pt modelId="{219F6E31-CA2B-46DE-B1C0-8D7319921799}">
      <dgm:prSet phldrT="[Text]"/>
      <dgm:spPr/>
      <dgm:t>
        <a:bodyPr/>
        <a:lstStyle/>
        <a:p>
          <a:r>
            <a:rPr lang="en-IN" dirty="0" smtClean="0"/>
            <a:t>Team2</a:t>
          </a:r>
          <a:endParaRPr lang="en-US" dirty="0"/>
        </a:p>
      </dgm:t>
    </dgm:pt>
    <dgm:pt modelId="{69564664-C63C-4D19-BD7E-A1AFD5AF7616}" type="parTrans" cxnId="{3682F7AC-002E-4567-A9A4-37BD7FAD6521}">
      <dgm:prSet/>
      <dgm:spPr/>
      <dgm:t>
        <a:bodyPr/>
        <a:lstStyle/>
        <a:p>
          <a:endParaRPr lang="en-US"/>
        </a:p>
      </dgm:t>
    </dgm:pt>
    <dgm:pt modelId="{3B534744-3DC2-4C46-9B03-3ABF7084F1F2}" type="sibTrans" cxnId="{3682F7AC-002E-4567-A9A4-37BD7FAD6521}">
      <dgm:prSet/>
      <dgm:spPr/>
      <dgm:t>
        <a:bodyPr/>
        <a:lstStyle/>
        <a:p>
          <a:endParaRPr lang="en-US"/>
        </a:p>
      </dgm:t>
    </dgm:pt>
    <dgm:pt modelId="{A588EB7B-94E7-42AB-831D-E3E4182D2CDC}">
      <dgm:prSet phldrT="[Text]"/>
      <dgm:spPr/>
      <dgm:t>
        <a:bodyPr/>
        <a:lstStyle/>
        <a:p>
          <a:r>
            <a:rPr lang="en-IN" dirty="0" smtClean="0"/>
            <a:t>winner</a:t>
          </a:r>
          <a:endParaRPr lang="en-US" dirty="0"/>
        </a:p>
      </dgm:t>
    </dgm:pt>
    <dgm:pt modelId="{563C83BF-F88C-42C1-A9D6-FDEAA37C6A77}" type="parTrans" cxnId="{178C545A-F460-43BC-8907-C6C2D41AE5B5}">
      <dgm:prSet/>
      <dgm:spPr/>
      <dgm:t>
        <a:bodyPr/>
        <a:lstStyle/>
        <a:p>
          <a:endParaRPr lang="en-US"/>
        </a:p>
      </dgm:t>
    </dgm:pt>
    <dgm:pt modelId="{5E4656DB-AA88-4EA3-A4E4-4D452C710F18}" type="sibTrans" cxnId="{178C545A-F460-43BC-8907-C6C2D41AE5B5}">
      <dgm:prSet/>
      <dgm:spPr/>
      <dgm:t>
        <a:bodyPr/>
        <a:lstStyle/>
        <a:p>
          <a:endParaRPr lang="en-US"/>
        </a:p>
      </dgm:t>
    </dgm:pt>
    <dgm:pt modelId="{6D632B21-7CE3-459C-9E6F-9E62779DBC35}" type="pres">
      <dgm:prSet presAssocID="{82496F08-0D78-4325-8CA5-21B8800B3740}" presName="Name0" presStyleCnt="0">
        <dgm:presLayoutVars>
          <dgm:dir/>
          <dgm:animLvl val="lvl"/>
          <dgm:resizeHandles val="exact"/>
        </dgm:presLayoutVars>
      </dgm:prSet>
      <dgm:spPr/>
      <dgm:t>
        <a:bodyPr/>
        <a:lstStyle/>
        <a:p>
          <a:endParaRPr lang="en-US"/>
        </a:p>
      </dgm:t>
    </dgm:pt>
    <dgm:pt modelId="{FB880151-1219-43C6-8FC8-B735050B0393}" type="pres">
      <dgm:prSet presAssocID="{50B749A7-B4D2-4123-9A1F-BDC9C50E8A01}" presName="composite" presStyleCnt="0"/>
      <dgm:spPr/>
    </dgm:pt>
    <dgm:pt modelId="{74DE8F0A-F24C-4BE8-997B-B2071ED57A05}" type="pres">
      <dgm:prSet presAssocID="{50B749A7-B4D2-4123-9A1F-BDC9C50E8A01}" presName="parTx" presStyleLbl="alignNode1" presStyleIdx="0" presStyleCnt="1" custLinFactNeighborX="-4444" custLinFactNeighborY="-12385">
        <dgm:presLayoutVars>
          <dgm:chMax val="0"/>
          <dgm:chPref val="0"/>
          <dgm:bulletEnabled val="1"/>
        </dgm:presLayoutVars>
      </dgm:prSet>
      <dgm:spPr/>
      <dgm:t>
        <a:bodyPr/>
        <a:lstStyle/>
        <a:p>
          <a:endParaRPr lang="en-US"/>
        </a:p>
      </dgm:t>
    </dgm:pt>
    <dgm:pt modelId="{80468FB5-5320-4AC2-A007-3188EF012C6F}" type="pres">
      <dgm:prSet presAssocID="{50B749A7-B4D2-4123-9A1F-BDC9C50E8A01}" presName="desTx" presStyleLbl="alignAccFollowNode1" presStyleIdx="0" presStyleCnt="1" custLinFactNeighborX="3774" custLinFactNeighborY="-1455">
        <dgm:presLayoutVars>
          <dgm:bulletEnabled val="1"/>
        </dgm:presLayoutVars>
      </dgm:prSet>
      <dgm:spPr/>
      <dgm:t>
        <a:bodyPr/>
        <a:lstStyle/>
        <a:p>
          <a:endParaRPr lang="en-US"/>
        </a:p>
      </dgm:t>
    </dgm:pt>
  </dgm:ptLst>
  <dgm:cxnLst>
    <dgm:cxn modelId="{1EABB859-DD40-4B0C-9F7C-BB044045DCA9}" type="presOf" srcId="{A588EB7B-94E7-42AB-831D-E3E4182D2CDC}" destId="{80468FB5-5320-4AC2-A007-3188EF012C6F}" srcOrd="0" destOrd="5" presId="urn:microsoft.com/office/officeart/2005/8/layout/hList1"/>
    <dgm:cxn modelId="{7CEC6939-587D-431B-A8CF-858FE87308A8}" srcId="{82496F08-0D78-4325-8CA5-21B8800B3740}" destId="{50B749A7-B4D2-4123-9A1F-BDC9C50E8A01}" srcOrd="0" destOrd="0" parTransId="{76AB2A6F-05B0-4042-A300-18FA0B65DC63}" sibTransId="{5E7870D8-6429-4630-A598-B5B9FB6CAC66}"/>
    <dgm:cxn modelId="{C9F7EB2A-22DB-4257-8C50-526EB18B8A64}" srcId="{50B749A7-B4D2-4123-9A1F-BDC9C50E8A01}" destId="{5704BF29-6DBA-4394-B5CB-A8AEDE02EC1B}" srcOrd="2" destOrd="0" parTransId="{B3C5EE3A-55C2-4B38-981F-D3AFC3CC2899}" sibTransId="{DAD91AF4-9D76-41C2-91B8-11F32363347D}"/>
    <dgm:cxn modelId="{39397276-ADD3-4A2C-A6FE-F6EFDC747423}" srcId="{50B749A7-B4D2-4123-9A1F-BDC9C50E8A01}" destId="{001ACFF6-66FE-43A3-BC44-DCAC14E1CA69}" srcOrd="0" destOrd="0" parTransId="{A7C786FE-27F2-460E-A382-8C982791E9F3}" sibTransId="{2D5CE152-D23E-4C7B-A4BD-FD3F0AC411EF}"/>
    <dgm:cxn modelId="{EC8ADB26-9EBF-4680-ADBA-6730F2CEA13F}" type="presOf" srcId="{50B749A7-B4D2-4123-9A1F-BDC9C50E8A01}" destId="{74DE8F0A-F24C-4BE8-997B-B2071ED57A05}" srcOrd="0" destOrd="0" presId="urn:microsoft.com/office/officeart/2005/8/layout/hList1"/>
    <dgm:cxn modelId="{42DC8DAA-26F8-41E8-BBD5-01AFEB0BEB67}" type="presOf" srcId="{48B54A4E-72C0-456F-85CE-C3B136B95DA2}" destId="{80468FB5-5320-4AC2-A007-3188EF012C6F}" srcOrd="0" destOrd="1" presId="urn:microsoft.com/office/officeart/2005/8/layout/hList1"/>
    <dgm:cxn modelId="{7B315A30-E41F-4576-AF1F-B7EF8A287E7B}" type="presOf" srcId="{001ACFF6-66FE-43A3-BC44-DCAC14E1CA69}" destId="{80468FB5-5320-4AC2-A007-3188EF012C6F}" srcOrd="0" destOrd="0" presId="urn:microsoft.com/office/officeart/2005/8/layout/hList1"/>
    <dgm:cxn modelId="{32E35965-09CC-4B2F-AB00-0B097A0E6A65}" srcId="{50B749A7-B4D2-4123-9A1F-BDC9C50E8A01}" destId="{FCF1DC8A-8677-4159-BEB7-629AD5725AF9}" srcOrd="3" destOrd="0" parTransId="{31865321-07B5-466E-BF58-47EDAE1E3439}" sibTransId="{C6A4DA91-8D81-49B8-A91E-C007768A239F}"/>
    <dgm:cxn modelId="{178C545A-F460-43BC-8907-C6C2D41AE5B5}" srcId="{50B749A7-B4D2-4123-9A1F-BDC9C50E8A01}" destId="{A588EB7B-94E7-42AB-831D-E3E4182D2CDC}" srcOrd="5" destOrd="0" parTransId="{563C83BF-F88C-42C1-A9D6-FDEAA37C6A77}" sibTransId="{5E4656DB-AA88-4EA3-A4E4-4D452C710F18}"/>
    <dgm:cxn modelId="{FC75CAC8-385E-4B99-BD2E-CCD91ED0C3DC}" type="presOf" srcId="{FCF1DC8A-8677-4159-BEB7-629AD5725AF9}" destId="{80468FB5-5320-4AC2-A007-3188EF012C6F}" srcOrd="0" destOrd="3" presId="urn:microsoft.com/office/officeart/2005/8/layout/hList1"/>
    <dgm:cxn modelId="{588FF3F6-787E-4AE6-8DDD-2655018B04A0}" type="presOf" srcId="{219F6E31-CA2B-46DE-B1C0-8D7319921799}" destId="{80468FB5-5320-4AC2-A007-3188EF012C6F}" srcOrd="0" destOrd="4" presId="urn:microsoft.com/office/officeart/2005/8/layout/hList1"/>
    <dgm:cxn modelId="{CBD2F579-817A-45AA-8F5D-F01DE6D9F2B3}" type="presOf" srcId="{82496F08-0D78-4325-8CA5-21B8800B3740}" destId="{6D632B21-7CE3-459C-9E6F-9E62779DBC35}" srcOrd="0" destOrd="0" presId="urn:microsoft.com/office/officeart/2005/8/layout/hList1"/>
    <dgm:cxn modelId="{8A70005A-C4F4-4D0E-A006-DA2E67F5FE0E}" type="presOf" srcId="{5704BF29-6DBA-4394-B5CB-A8AEDE02EC1B}" destId="{80468FB5-5320-4AC2-A007-3188EF012C6F}" srcOrd="0" destOrd="2" presId="urn:microsoft.com/office/officeart/2005/8/layout/hList1"/>
    <dgm:cxn modelId="{31D6C936-62F4-44BC-8C7B-4A032DF7119C}" srcId="{50B749A7-B4D2-4123-9A1F-BDC9C50E8A01}" destId="{48B54A4E-72C0-456F-85CE-C3B136B95DA2}" srcOrd="1" destOrd="0" parTransId="{0F5DDD8E-9750-40FF-BD40-DAA72837B990}" sibTransId="{E843BE8B-AF65-4551-A2B7-D925A9A50504}"/>
    <dgm:cxn modelId="{3682F7AC-002E-4567-A9A4-37BD7FAD6521}" srcId="{50B749A7-B4D2-4123-9A1F-BDC9C50E8A01}" destId="{219F6E31-CA2B-46DE-B1C0-8D7319921799}" srcOrd="4" destOrd="0" parTransId="{69564664-C63C-4D19-BD7E-A1AFD5AF7616}" sibTransId="{3B534744-3DC2-4C46-9B03-3ABF7084F1F2}"/>
    <dgm:cxn modelId="{B26355D9-5E7C-408B-BF3A-FEADBF794E2F}" type="presParOf" srcId="{6D632B21-7CE3-459C-9E6F-9E62779DBC35}" destId="{FB880151-1219-43C6-8FC8-B735050B0393}" srcOrd="0" destOrd="0" presId="urn:microsoft.com/office/officeart/2005/8/layout/hList1"/>
    <dgm:cxn modelId="{4224282E-C8AD-4D93-9830-68DD4A240337}" type="presParOf" srcId="{FB880151-1219-43C6-8FC8-B735050B0393}" destId="{74DE8F0A-F24C-4BE8-997B-B2071ED57A05}" srcOrd="0" destOrd="0" presId="urn:microsoft.com/office/officeart/2005/8/layout/hList1"/>
    <dgm:cxn modelId="{BD39AE43-A15E-4A05-89B8-D639A34DFEB7}" type="presParOf" srcId="{FB880151-1219-43C6-8FC8-B735050B0393}" destId="{80468FB5-5320-4AC2-A007-3188EF012C6F}" srcOrd="1" destOrd="0" presId="urn:microsoft.com/office/officeart/2005/8/layout/hList1"/>
  </dgm:cxnLst>
  <dgm:bg/>
  <dgm:whole/>
</dgm:dataModel>
</file>

<file path=ppt/diagrams/data5.xml><?xml version="1.0" encoding="utf-8"?>
<dgm:dataModel xmlns:dgm="http://schemas.openxmlformats.org/drawingml/2006/diagram" xmlns:a="http://schemas.openxmlformats.org/drawingml/2006/main">
  <dgm:ptLst>
    <dgm:pt modelId="{006A7950-5F3D-44C5-9DA1-20597DBCA575}"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D9B6C68D-569D-442E-B54D-ACAFCF4CF7B7}">
      <dgm:prSet phldrT="[Text]"/>
      <dgm:spPr/>
      <dgm:t>
        <a:bodyPr/>
        <a:lstStyle/>
        <a:p>
          <a:r>
            <a:rPr lang="en-IN" dirty="0" err="1" smtClean="0"/>
            <a:t>battingTable</a:t>
          </a:r>
          <a:endParaRPr lang="en-IN" dirty="0" smtClean="0"/>
        </a:p>
      </dgm:t>
    </dgm:pt>
    <dgm:pt modelId="{609C20DE-30DB-468F-B821-2C676B8F6F36}" type="parTrans" cxnId="{972A162C-2756-4709-AE49-A748C4373C79}">
      <dgm:prSet/>
      <dgm:spPr/>
      <dgm:t>
        <a:bodyPr/>
        <a:lstStyle/>
        <a:p>
          <a:endParaRPr lang="en-US"/>
        </a:p>
      </dgm:t>
    </dgm:pt>
    <dgm:pt modelId="{9B232A72-1676-428E-8D39-249071B8F527}" type="sibTrans" cxnId="{972A162C-2756-4709-AE49-A748C4373C79}">
      <dgm:prSet/>
      <dgm:spPr/>
      <dgm:t>
        <a:bodyPr/>
        <a:lstStyle/>
        <a:p>
          <a:endParaRPr lang="en-US"/>
        </a:p>
      </dgm:t>
    </dgm:pt>
    <dgm:pt modelId="{E5CF5EC2-C323-4A0F-92C8-FEECB742D228}">
      <dgm:prSet/>
      <dgm:spPr/>
      <dgm:t>
        <a:bodyPr/>
        <a:lstStyle/>
        <a:p>
          <a:r>
            <a:rPr lang="en-IN" dirty="0" err="1" smtClean="0"/>
            <a:t>batsmanName</a:t>
          </a:r>
          <a:endParaRPr lang="en-US" dirty="0"/>
        </a:p>
      </dgm:t>
    </dgm:pt>
    <dgm:pt modelId="{44216C97-8C4F-4086-A357-4298BD14DA11}" type="parTrans" cxnId="{D80ADBAE-0CD6-400D-908D-AE929286F705}">
      <dgm:prSet/>
      <dgm:spPr/>
      <dgm:t>
        <a:bodyPr/>
        <a:lstStyle/>
        <a:p>
          <a:endParaRPr lang="en-US"/>
        </a:p>
      </dgm:t>
    </dgm:pt>
    <dgm:pt modelId="{6B944268-96F4-4B82-B717-25D72432B929}" type="sibTrans" cxnId="{D80ADBAE-0CD6-400D-908D-AE929286F705}">
      <dgm:prSet/>
      <dgm:spPr/>
      <dgm:t>
        <a:bodyPr/>
        <a:lstStyle/>
        <a:p>
          <a:endParaRPr lang="en-US"/>
        </a:p>
      </dgm:t>
    </dgm:pt>
    <dgm:pt modelId="{054258D5-C1B8-45E7-9F7C-69A7E99C2E36}">
      <dgm:prSet/>
      <dgm:spPr/>
      <dgm:t>
        <a:bodyPr/>
        <a:lstStyle/>
        <a:p>
          <a:r>
            <a:rPr lang="en-IN" dirty="0" smtClean="0"/>
            <a:t>Runs</a:t>
          </a:r>
          <a:endParaRPr lang="en-US" dirty="0"/>
        </a:p>
      </dgm:t>
    </dgm:pt>
    <dgm:pt modelId="{CA8B1556-3565-4A4D-86F2-687400D596B3}" type="parTrans" cxnId="{CB86C725-B0FB-490B-B4CF-C69805F7C066}">
      <dgm:prSet/>
      <dgm:spPr/>
      <dgm:t>
        <a:bodyPr/>
        <a:lstStyle/>
        <a:p>
          <a:endParaRPr lang="en-US"/>
        </a:p>
      </dgm:t>
    </dgm:pt>
    <dgm:pt modelId="{57FABD0A-0F63-4EF7-9017-0BF807592528}" type="sibTrans" cxnId="{CB86C725-B0FB-490B-B4CF-C69805F7C066}">
      <dgm:prSet/>
      <dgm:spPr/>
      <dgm:t>
        <a:bodyPr/>
        <a:lstStyle/>
        <a:p>
          <a:endParaRPr lang="en-US"/>
        </a:p>
      </dgm:t>
    </dgm:pt>
    <dgm:pt modelId="{41D45635-ED39-43FC-9D7B-DDC3DA6B7F98}">
      <dgm:prSet/>
      <dgm:spPr/>
      <dgm:t>
        <a:bodyPr/>
        <a:lstStyle/>
        <a:p>
          <a:r>
            <a:rPr lang="en-IN" dirty="0" smtClean="0"/>
            <a:t>Fours</a:t>
          </a:r>
          <a:endParaRPr lang="en-US" dirty="0"/>
        </a:p>
      </dgm:t>
    </dgm:pt>
    <dgm:pt modelId="{46ECC439-1FB8-4997-ABC9-D574129C1AD4}" type="parTrans" cxnId="{43F30952-ABD6-4F72-BF8A-4D61BBE81CAD}">
      <dgm:prSet/>
      <dgm:spPr/>
      <dgm:t>
        <a:bodyPr/>
        <a:lstStyle/>
        <a:p>
          <a:endParaRPr lang="en-US"/>
        </a:p>
      </dgm:t>
    </dgm:pt>
    <dgm:pt modelId="{5C32F624-D467-490A-81DF-05E17FEFEF89}" type="sibTrans" cxnId="{43F30952-ABD6-4F72-BF8A-4D61BBE81CAD}">
      <dgm:prSet/>
      <dgm:spPr/>
      <dgm:t>
        <a:bodyPr/>
        <a:lstStyle/>
        <a:p>
          <a:endParaRPr lang="en-US"/>
        </a:p>
      </dgm:t>
    </dgm:pt>
    <dgm:pt modelId="{68C65630-CD1B-40CF-8C2B-0074CB806097}">
      <dgm:prSet/>
      <dgm:spPr/>
      <dgm:t>
        <a:bodyPr/>
        <a:lstStyle/>
        <a:p>
          <a:r>
            <a:rPr lang="en-IN" dirty="0" smtClean="0"/>
            <a:t>Sixes</a:t>
          </a:r>
          <a:endParaRPr lang="en-US" dirty="0"/>
        </a:p>
      </dgm:t>
    </dgm:pt>
    <dgm:pt modelId="{BD1C804A-F9D5-4265-8CF2-E5F0E1362654}" type="parTrans" cxnId="{4CF0F1F3-E400-4198-836E-92C8B30338F1}">
      <dgm:prSet/>
      <dgm:spPr/>
      <dgm:t>
        <a:bodyPr/>
        <a:lstStyle/>
        <a:p>
          <a:endParaRPr lang="en-US"/>
        </a:p>
      </dgm:t>
    </dgm:pt>
    <dgm:pt modelId="{2DBE7679-AB93-4328-AD85-579ACDC754E4}" type="sibTrans" cxnId="{4CF0F1F3-E400-4198-836E-92C8B30338F1}">
      <dgm:prSet/>
      <dgm:spPr/>
      <dgm:t>
        <a:bodyPr/>
        <a:lstStyle/>
        <a:p>
          <a:endParaRPr lang="en-US"/>
        </a:p>
      </dgm:t>
    </dgm:pt>
    <dgm:pt modelId="{4500BD2E-91B6-4862-930B-0215B21D7B87}">
      <dgm:prSet/>
      <dgm:spPr/>
      <dgm:t>
        <a:bodyPr/>
        <a:lstStyle/>
        <a:p>
          <a:r>
            <a:rPr lang="en-IN" dirty="0" err="1" smtClean="0"/>
            <a:t>battingPos</a:t>
          </a:r>
          <a:endParaRPr lang="en-US" dirty="0"/>
        </a:p>
      </dgm:t>
    </dgm:pt>
    <dgm:pt modelId="{FDE82949-BF5E-4762-89C1-7AE79844D95A}" type="parTrans" cxnId="{C9D1CEB7-0CA2-4065-BDAE-C6C9F6F48604}">
      <dgm:prSet/>
      <dgm:spPr/>
      <dgm:t>
        <a:bodyPr/>
        <a:lstStyle/>
        <a:p>
          <a:endParaRPr lang="en-US"/>
        </a:p>
      </dgm:t>
    </dgm:pt>
    <dgm:pt modelId="{1A904D40-FE59-4272-A888-09B586133D97}" type="sibTrans" cxnId="{C9D1CEB7-0CA2-4065-BDAE-C6C9F6F48604}">
      <dgm:prSet/>
      <dgm:spPr/>
      <dgm:t>
        <a:bodyPr/>
        <a:lstStyle/>
        <a:p>
          <a:endParaRPr lang="en-US"/>
        </a:p>
      </dgm:t>
    </dgm:pt>
    <dgm:pt modelId="{C507C711-3794-48A2-B35E-A621A87BCC6A}">
      <dgm:prSet/>
      <dgm:spPr/>
      <dgm:t>
        <a:bodyPr/>
        <a:lstStyle/>
        <a:p>
          <a:r>
            <a:rPr lang="en-IN" dirty="0" err="1" smtClean="0"/>
            <a:t>Match_id</a:t>
          </a:r>
          <a:endParaRPr lang="en-US" dirty="0"/>
        </a:p>
      </dgm:t>
    </dgm:pt>
    <dgm:pt modelId="{6A8EE854-D764-4319-A60D-06B3FF97B191}" type="parTrans" cxnId="{C1C4D06F-7B69-4497-A8DF-51178E8C0B3D}">
      <dgm:prSet/>
      <dgm:spPr/>
      <dgm:t>
        <a:bodyPr/>
        <a:lstStyle/>
        <a:p>
          <a:endParaRPr lang="en-US"/>
        </a:p>
      </dgm:t>
    </dgm:pt>
    <dgm:pt modelId="{2A9818BA-40BB-4807-8C5C-F66EF04160AC}" type="sibTrans" cxnId="{C1C4D06F-7B69-4497-A8DF-51178E8C0B3D}">
      <dgm:prSet/>
      <dgm:spPr/>
      <dgm:t>
        <a:bodyPr/>
        <a:lstStyle/>
        <a:p>
          <a:endParaRPr lang="en-US"/>
        </a:p>
      </dgm:t>
    </dgm:pt>
    <dgm:pt modelId="{61F1D0DE-CF81-4821-A082-94E326CB1E2B}">
      <dgm:prSet/>
      <dgm:spPr/>
      <dgm:t>
        <a:bodyPr/>
        <a:lstStyle/>
        <a:p>
          <a:r>
            <a:rPr lang="en-IN" dirty="0" smtClean="0"/>
            <a:t>Out</a:t>
          </a:r>
          <a:endParaRPr lang="en-US" dirty="0"/>
        </a:p>
      </dgm:t>
    </dgm:pt>
    <dgm:pt modelId="{C169688A-7D8C-4CAB-89E6-2FE2D7771F24}" type="parTrans" cxnId="{BE708B63-4A03-4AE2-A8D9-2613E20E696D}">
      <dgm:prSet/>
      <dgm:spPr/>
      <dgm:t>
        <a:bodyPr/>
        <a:lstStyle/>
        <a:p>
          <a:endParaRPr lang="en-US"/>
        </a:p>
      </dgm:t>
    </dgm:pt>
    <dgm:pt modelId="{D4CDC7A7-D1BF-4655-8909-AE7AABA8D490}" type="sibTrans" cxnId="{BE708B63-4A03-4AE2-A8D9-2613E20E696D}">
      <dgm:prSet/>
      <dgm:spPr/>
      <dgm:t>
        <a:bodyPr/>
        <a:lstStyle/>
        <a:p>
          <a:endParaRPr lang="en-US"/>
        </a:p>
      </dgm:t>
    </dgm:pt>
    <dgm:pt modelId="{9C38F37C-67B5-477C-AB56-C65BCDE39CAF}">
      <dgm:prSet/>
      <dgm:spPr/>
      <dgm:t>
        <a:bodyPr/>
        <a:lstStyle/>
        <a:p>
          <a:r>
            <a:rPr lang="en-IN" dirty="0" smtClean="0"/>
            <a:t>match</a:t>
          </a:r>
          <a:endParaRPr lang="en-US" dirty="0"/>
        </a:p>
      </dgm:t>
    </dgm:pt>
    <dgm:pt modelId="{601ECAC4-062C-4BF1-9986-9287784087F0}" type="parTrans" cxnId="{782ED85A-0EEC-45A2-A328-21A2254DBAE1}">
      <dgm:prSet/>
      <dgm:spPr/>
      <dgm:t>
        <a:bodyPr/>
        <a:lstStyle/>
        <a:p>
          <a:endParaRPr lang="en-US"/>
        </a:p>
      </dgm:t>
    </dgm:pt>
    <dgm:pt modelId="{77A4BE1A-CA1E-4BD4-AED3-2B02D6F473BD}" type="sibTrans" cxnId="{782ED85A-0EEC-45A2-A328-21A2254DBAE1}">
      <dgm:prSet/>
      <dgm:spPr/>
      <dgm:t>
        <a:bodyPr/>
        <a:lstStyle/>
        <a:p>
          <a:endParaRPr lang="en-US"/>
        </a:p>
      </dgm:t>
    </dgm:pt>
    <dgm:pt modelId="{5DFA972B-AB33-4898-85A5-D2007255E389}" type="pres">
      <dgm:prSet presAssocID="{006A7950-5F3D-44C5-9DA1-20597DBCA575}" presName="Name0" presStyleCnt="0">
        <dgm:presLayoutVars>
          <dgm:dir/>
          <dgm:animLvl val="lvl"/>
          <dgm:resizeHandles val="exact"/>
        </dgm:presLayoutVars>
      </dgm:prSet>
      <dgm:spPr/>
      <dgm:t>
        <a:bodyPr/>
        <a:lstStyle/>
        <a:p>
          <a:endParaRPr lang="en-US"/>
        </a:p>
      </dgm:t>
    </dgm:pt>
    <dgm:pt modelId="{E3D9D9FD-8B66-46A7-ACE5-47E31CA0E37D}" type="pres">
      <dgm:prSet presAssocID="{D9B6C68D-569D-442E-B54D-ACAFCF4CF7B7}" presName="composite" presStyleCnt="0"/>
      <dgm:spPr/>
    </dgm:pt>
    <dgm:pt modelId="{47A93E41-CB62-44CC-A10F-2CB4C88B27E4}" type="pres">
      <dgm:prSet presAssocID="{D9B6C68D-569D-442E-B54D-ACAFCF4CF7B7}" presName="parTx" presStyleLbl="alignNode1" presStyleIdx="0" presStyleCnt="1">
        <dgm:presLayoutVars>
          <dgm:chMax val="0"/>
          <dgm:chPref val="0"/>
          <dgm:bulletEnabled val="1"/>
        </dgm:presLayoutVars>
      </dgm:prSet>
      <dgm:spPr/>
      <dgm:t>
        <a:bodyPr/>
        <a:lstStyle/>
        <a:p>
          <a:endParaRPr lang="en-US"/>
        </a:p>
      </dgm:t>
    </dgm:pt>
    <dgm:pt modelId="{6960DC6E-EA5E-4C1D-86E5-D6887A6B0B00}" type="pres">
      <dgm:prSet presAssocID="{D9B6C68D-569D-442E-B54D-ACAFCF4CF7B7}" presName="desTx" presStyleLbl="alignAccFollowNode1" presStyleIdx="0" presStyleCnt="1">
        <dgm:presLayoutVars>
          <dgm:bulletEnabled val="1"/>
        </dgm:presLayoutVars>
      </dgm:prSet>
      <dgm:spPr/>
      <dgm:t>
        <a:bodyPr/>
        <a:lstStyle/>
        <a:p>
          <a:endParaRPr lang="en-US"/>
        </a:p>
      </dgm:t>
    </dgm:pt>
  </dgm:ptLst>
  <dgm:cxnLst>
    <dgm:cxn modelId="{6B57DFA7-50AA-4242-A00D-907B63A206BB}" type="presOf" srcId="{E5CF5EC2-C323-4A0F-92C8-FEECB742D228}" destId="{6960DC6E-EA5E-4C1D-86E5-D6887A6B0B00}" srcOrd="0" destOrd="0" presId="urn:microsoft.com/office/officeart/2005/8/layout/hList1"/>
    <dgm:cxn modelId="{C2158D28-7CE6-4B42-8345-7C40AE828DAF}" type="presOf" srcId="{D9B6C68D-569D-442E-B54D-ACAFCF4CF7B7}" destId="{47A93E41-CB62-44CC-A10F-2CB4C88B27E4}" srcOrd="0" destOrd="0" presId="urn:microsoft.com/office/officeart/2005/8/layout/hList1"/>
    <dgm:cxn modelId="{4CF0F1F3-E400-4198-836E-92C8B30338F1}" srcId="{D9B6C68D-569D-442E-B54D-ACAFCF4CF7B7}" destId="{68C65630-CD1B-40CF-8C2B-0074CB806097}" srcOrd="3" destOrd="0" parTransId="{BD1C804A-F9D5-4265-8CF2-E5F0E1362654}" sibTransId="{2DBE7679-AB93-4328-AD85-579ACDC754E4}"/>
    <dgm:cxn modelId="{C1C4D06F-7B69-4497-A8DF-51178E8C0B3D}" srcId="{D9B6C68D-569D-442E-B54D-ACAFCF4CF7B7}" destId="{C507C711-3794-48A2-B35E-A621A87BCC6A}" srcOrd="5" destOrd="0" parTransId="{6A8EE854-D764-4319-A60D-06B3FF97B191}" sibTransId="{2A9818BA-40BB-4807-8C5C-F66EF04160AC}"/>
    <dgm:cxn modelId="{70DB0143-AE56-4CFE-B061-EE2DDD331E0B}" type="presOf" srcId="{9C38F37C-67B5-477C-AB56-C65BCDE39CAF}" destId="{6960DC6E-EA5E-4C1D-86E5-D6887A6B0B00}" srcOrd="0" destOrd="7" presId="urn:microsoft.com/office/officeart/2005/8/layout/hList1"/>
    <dgm:cxn modelId="{57FAFD63-3DCE-43FB-BEEB-AA2BD7DEA079}" type="presOf" srcId="{054258D5-C1B8-45E7-9F7C-69A7E99C2E36}" destId="{6960DC6E-EA5E-4C1D-86E5-D6887A6B0B00}" srcOrd="0" destOrd="1" presId="urn:microsoft.com/office/officeart/2005/8/layout/hList1"/>
    <dgm:cxn modelId="{CB86C725-B0FB-490B-B4CF-C69805F7C066}" srcId="{D9B6C68D-569D-442E-B54D-ACAFCF4CF7B7}" destId="{054258D5-C1B8-45E7-9F7C-69A7E99C2E36}" srcOrd="1" destOrd="0" parTransId="{CA8B1556-3565-4A4D-86F2-687400D596B3}" sibTransId="{57FABD0A-0F63-4EF7-9017-0BF807592528}"/>
    <dgm:cxn modelId="{BE708B63-4A03-4AE2-A8D9-2613E20E696D}" srcId="{D9B6C68D-569D-442E-B54D-ACAFCF4CF7B7}" destId="{61F1D0DE-CF81-4821-A082-94E326CB1E2B}" srcOrd="6" destOrd="0" parTransId="{C169688A-7D8C-4CAB-89E6-2FE2D7771F24}" sibTransId="{D4CDC7A7-D1BF-4655-8909-AE7AABA8D490}"/>
    <dgm:cxn modelId="{ED05F9CA-92E5-4BDC-BE00-EECC3A2F4615}" type="presOf" srcId="{C507C711-3794-48A2-B35E-A621A87BCC6A}" destId="{6960DC6E-EA5E-4C1D-86E5-D6887A6B0B00}" srcOrd="0" destOrd="5" presId="urn:microsoft.com/office/officeart/2005/8/layout/hList1"/>
    <dgm:cxn modelId="{972A162C-2756-4709-AE49-A748C4373C79}" srcId="{006A7950-5F3D-44C5-9DA1-20597DBCA575}" destId="{D9B6C68D-569D-442E-B54D-ACAFCF4CF7B7}" srcOrd="0" destOrd="0" parTransId="{609C20DE-30DB-468F-B821-2C676B8F6F36}" sibTransId="{9B232A72-1676-428E-8D39-249071B8F527}"/>
    <dgm:cxn modelId="{43F30952-ABD6-4F72-BF8A-4D61BBE81CAD}" srcId="{D9B6C68D-569D-442E-B54D-ACAFCF4CF7B7}" destId="{41D45635-ED39-43FC-9D7B-DDC3DA6B7F98}" srcOrd="2" destOrd="0" parTransId="{46ECC439-1FB8-4997-ABC9-D574129C1AD4}" sibTransId="{5C32F624-D467-490A-81DF-05E17FEFEF89}"/>
    <dgm:cxn modelId="{5059384F-754F-4345-ACFE-057567EB27D0}" type="presOf" srcId="{41D45635-ED39-43FC-9D7B-DDC3DA6B7F98}" destId="{6960DC6E-EA5E-4C1D-86E5-D6887A6B0B00}" srcOrd="0" destOrd="2" presId="urn:microsoft.com/office/officeart/2005/8/layout/hList1"/>
    <dgm:cxn modelId="{EC83F7A0-9ED1-4753-8754-16E2BB08A872}" type="presOf" srcId="{68C65630-CD1B-40CF-8C2B-0074CB806097}" destId="{6960DC6E-EA5E-4C1D-86E5-D6887A6B0B00}" srcOrd="0" destOrd="3" presId="urn:microsoft.com/office/officeart/2005/8/layout/hList1"/>
    <dgm:cxn modelId="{C9D1CEB7-0CA2-4065-BDAE-C6C9F6F48604}" srcId="{D9B6C68D-569D-442E-B54D-ACAFCF4CF7B7}" destId="{4500BD2E-91B6-4862-930B-0215B21D7B87}" srcOrd="4" destOrd="0" parTransId="{FDE82949-BF5E-4762-89C1-7AE79844D95A}" sibTransId="{1A904D40-FE59-4272-A888-09B586133D97}"/>
    <dgm:cxn modelId="{EE5641BA-AAFF-4DAD-B651-E928D70D17AA}" type="presOf" srcId="{4500BD2E-91B6-4862-930B-0215B21D7B87}" destId="{6960DC6E-EA5E-4C1D-86E5-D6887A6B0B00}" srcOrd="0" destOrd="4" presId="urn:microsoft.com/office/officeart/2005/8/layout/hList1"/>
    <dgm:cxn modelId="{D80ADBAE-0CD6-400D-908D-AE929286F705}" srcId="{D9B6C68D-569D-442E-B54D-ACAFCF4CF7B7}" destId="{E5CF5EC2-C323-4A0F-92C8-FEECB742D228}" srcOrd="0" destOrd="0" parTransId="{44216C97-8C4F-4086-A357-4298BD14DA11}" sibTransId="{6B944268-96F4-4B82-B717-25D72432B929}"/>
    <dgm:cxn modelId="{C25B1D3D-E943-4EBF-AC10-7AD89330FA22}" type="presOf" srcId="{006A7950-5F3D-44C5-9DA1-20597DBCA575}" destId="{5DFA972B-AB33-4898-85A5-D2007255E389}" srcOrd="0" destOrd="0" presId="urn:microsoft.com/office/officeart/2005/8/layout/hList1"/>
    <dgm:cxn modelId="{F0B1B590-36B1-4C28-ADB3-5780F85141BE}" type="presOf" srcId="{61F1D0DE-CF81-4821-A082-94E326CB1E2B}" destId="{6960DC6E-EA5E-4C1D-86E5-D6887A6B0B00}" srcOrd="0" destOrd="6" presId="urn:microsoft.com/office/officeart/2005/8/layout/hList1"/>
    <dgm:cxn modelId="{782ED85A-0EEC-45A2-A328-21A2254DBAE1}" srcId="{D9B6C68D-569D-442E-B54D-ACAFCF4CF7B7}" destId="{9C38F37C-67B5-477C-AB56-C65BCDE39CAF}" srcOrd="7" destOrd="0" parTransId="{601ECAC4-062C-4BF1-9986-9287784087F0}" sibTransId="{77A4BE1A-CA1E-4BD4-AED3-2B02D6F473BD}"/>
    <dgm:cxn modelId="{AF15EEB6-C70F-41FB-B6E9-65B3A43FD281}" type="presParOf" srcId="{5DFA972B-AB33-4898-85A5-D2007255E389}" destId="{E3D9D9FD-8B66-46A7-ACE5-47E31CA0E37D}" srcOrd="0" destOrd="0" presId="urn:microsoft.com/office/officeart/2005/8/layout/hList1"/>
    <dgm:cxn modelId="{211E9BCF-CA73-463D-BD07-2A7BE47C43C6}" type="presParOf" srcId="{E3D9D9FD-8B66-46A7-ACE5-47E31CA0E37D}" destId="{47A93E41-CB62-44CC-A10F-2CB4C88B27E4}" srcOrd="0" destOrd="0" presId="urn:microsoft.com/office/officeart/2005/8/layout/hList1"/>
    <dgm:cxn modelId="{31B20FC0-C8C3-42FA-89F9-E7C18FC577AE}" type="presParOf" srcId="{E3D9D9FD-8B66-46A7-ACE5-47E31CA0E37D}" destId="{6960DC6E-EA5E-4C1D-86E5-D6887A6B0B00}" srcOrd="1" destOrd="0" presId="urn:microsoft.com/office/officeart/2005/8/layout/hList1"/>
  </dgm:cxnLst>
  <dgm:bg/>
  <dgm:whole/>
</dgm:dataModel>
</file>

<file path=ppt/diagrams/data6.xml><?xml version="1.0" encoding="utf-8"?>
<dgm:dataModel xmlns:dgm="http://schemas.openxmlformats.org/drawingml/2006/diagram" xmlns:a="http://schemas.openxmlformats.org/drawingml/2006/main">
  <dgm:ptLst>
    <dgm:pt modelId="{C43EE119-5389-4906-9E8C-359172CD9F6D}"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BAAE773B-4746-4B6E-8F12-98E21C9514A3}">
      <dgm:prSet phldrT="[Text]"/>
      <dgm:spPr/>
      <dgm:t>
        <a:bodyPr/>
        <a:lstStyle/>
        <a:p>
          <a:r>
            <a:rPr lang="en-IN" dirty="0" err="1" smtClean="0"/>
            <a:t>bowlingTable</a:t>
          </a:r>
          <a:endParaRPr lang="en-US" dirty="0"/>
        </a:p>
      </dgm:t>
    </dgm:pt>
    <dgm:pt modelId="{AA37E5C6-84ED-4D3B-B768-68CE36321261}" type="parTrans" cxnId="{CA335C67-99C0-4D9A-B62E-6363F4279DBA}">
      <dgm:prSet/>
      <dgm:spPr/>
      <dgm:t>
        <a:bodyPr/>
        <a:lstStyle/>
        <a:p>
          <a:endParaRPr lang="en-US"/>
        </a:p>
      </dgm:t>
    </dgm:pt>
    <dgm:pt modelId="{22EA18D3-1B84-4D02-8CF5-B95BA207CB98}" type="sibTrans" cxnId="{CA335C67-99C0-4D9A-B62E-6363F4279DBA}">
      <dgm:prSet/>
      <dgm:spPr/>
      <dgm:t>
        <a:bodyPr/>
        <a:lstStyle/>
        <a:p>
          <a:endParaRPr lang="en-US"/>
        </a:p>
      </dgm:t>
    </dgm:pt>
    <dgm:pt modelId="{5B8F6A05-079E-47C2-B7F9-F17E16D81872}">
      <dgm:prSet phldrT="[Text]"/>
      <dgm:spPr/>
      <dgm:t>
        <a:bodyPr/>
        <a:lstStyle/>
        <a:p>
          <a:r>
            <a:rPr lang="en-IN" dirty="0" err="1" smtClean="0"/>
            <a:t>bowlerName</a:t>
          </a:r>
          <a:endParaRPr lang="en-US" dirty="0"/>
        </a:p>
      </dgm:t>
    </dgm:pt>
    <dgm:pt modelId="{6498BCF5-A808-431A-92C7-0EA6DDF6430B}" type="parTrans" cxnId="{6F29DF8F-F898-4756-960D-99B47F91813C}">
      <dgm:prSet/>
      <dgm:spPr/>
      <dgm:t>
        <a:bodyPr/>
        <a:lstStyle/>
        <a:p>
          <a:endParaRPr lang="en-US"/>
        </a:p>
      </dgm:t>
    </dgm:pt>
    <dgm:pt modelId="{085A3349-8535-42E7-BE8C-25F1B1E2350B}" type="sibTrans" cxnId="{6F29DF8F-F898-4756-960D-99B47F91813C}">
      <dgm:prSet/>
      <dgm:spPr/>
      <dgm:t>
        <a:bodyPr/>
        <a:lstStyle/>
        <a:p>
          <a:endParaRPr lang="en-US"/>
        </a:p>
      </dgm:t>
    </dgm:pt>
    <dgm:pt modelId="{00D88D64-C8F5-4AFB-AD91-CA8A9FFD74AE}">
      <dgm:prSet phldrT="[Text]"/>
      <dgm:spPr/>
      <dgm:t>
        <a:bodyPr/>
        <a:lstStyle/>
        <a:p>
          <a:r>
            <a:rPr lang="en-IN" dirty="0" err="1" smtClean="0"/>
            <a:t>noBalls</a:t>
          </a:r>
          <a:endParaRPr lang="en-US" dirty="0"/>
        </a:p>
      </dgm:t>
    </dgm:pt>
    <dgm:pt modelId="{EE7F06BD-9265-466A-97C2-E8FA39C57573}" type="parTrans" cxnId="{BAB534E3-A4D3-4EA7-B88E-BB17E142E7B9}">
      <dgm:prSet/>
      <dgm:spPr/>
      <dgm:t>
        <a:bodyPr/>
        <a:lstStyle/>
        <a:p>
          <a:endParaRPr lang="en-US"/>
        </a:p>
      </dgm:t>
    </dgm:pt>
    <dgm:pt modelId="{2F6AD23C-ECDC-414B-9550-2E9324BCD053}" type="sibTrans" cxnId="{BAB534E3-A4D3-4EA7-B88E-BB17E142E7B9}">
      <dgm:prSet/>
      <dgm:spPr/>
      <dgm:t>
        <a:bodyPr/>
        <a:lstStyle/>
        <a:p>
          <a:endParaRPr lang="en-US"/>
        </a:p>
      </dgm:t>
    </dgm:pt>
    <dgm:pt modelId="{4687AA47-91C2-454A-A770-D4407E50D415}">
      <dgm:prSet phldrT="[Text]"/>
      <dgm:spPr/>
      <dgm:t>
        <a:bodyPr/>
        <a:lstStyle/>
        <a:p>
          <a:r>
            <a:rPr lang="en-IN" dirty="0" smtClean="0"/>
            <a:t>runs</a:t>
          </a:r>
          <a:endParaRPr lang="en-US" dirty="0"/>
        </a:p>
      </dgm:t>
    </dgm:pt>
    <dgm:pt modelId="{5F0036A0-0C59-4820-8F97-A1716E8BD046}" type="parTrans" cxnId="{484B2D79-C238-44E4-9BF5-7D8F2E6322DC}">
      <dgm:prSet/>
      <dgm:spPr/>
      <dgm:t>
        <a:bodyPr/>
        <a:lstStyle/>
        <a:p>
          <a:endParaRPr lang="en-US"/>
        </a:p>
      </dgm:t>
    </dgm:pt>
    <dgm:pt modelId="{EAFC6651-2F37-414C-9A38-992460D89549}" type="sibTrans" cxnId="{484B2D79-C238-44E4-9BF5-7D8F2E6322DC}">
      <dgm:prSet/>
      <dgm:spPr/>
      <dgm:t>
        <a:bodyPr/>
        <a:lstStyle/>
        <a:p>
          <a:endParaRPr lang="en-US"/>
        </a:p>
      </dgm:t>
    </dgm:pt>
    <dgm:pt modelId="{2304DA4A-BBE4-458E-9B79-BFFF15A3D25D}">
      <dgm:prSet phldrT="[Text]"/>
      <dgm:spPr/>
      <dgm:t>
        <a:bodyPr/>
        <a:lstStyle/>
        <a:p>
          <a:r>
            <a:rPr lang="en-IN" dirty="0" smtClean="0"/>
            <a:t>Wickets</a:t>
          </a:r>
          <a:endParaRPr lang="en-US" dirty="0"/>
        </a:p>
      </dgm:t>
    </dgm:pt>
    <dgm:pt modelId="{9D8122CE-8C8C-4DA4-8289-49111EE05B98}" type="parTrans" cxnId="{A1F938C6-B771-4BE0-A955-63CFBED5B19A}">
      <dgm:prSet/>
      <dgm:spPr/>
      <dgm:t>
        <a:bodyPr/>
        <a:lstStyle/>
        <a:p>
          <a:endParaRPr lang="en-US"/>
        </a:p>
      </dgm:t>
    </dgm:pt>
    <dgm:pt modelId="{7CCD5F42-9591-4365-A578-996E11F67455}" type="sibTrans" cxnId="{A1F938C6-B771-4BE0-A955-63CFBED5B19A}">
      <dgm:prSet/>
      <dgm:spPr/>
      <dgm:t>
        <a:bodyPr/>
        <a:lstStyle/>
        <a:p>
          <a:endParaRPr lang="en-US"/>
        </a:p>
      </dgm:t>
    </dgm:pt>
    <dgm:pt modelId="{3708166F-FA1E-4160-B638-686A5503DCCA}">
      <dgm:prSet phldrT="[Text]"/>
      <dgm:spPr/>
      <dgm:t>
        <a:bodyPr/>
        <a:lstStyle/>
        <a:p>
          <a:r>
            <a:rPr lang="en-IN" dirty="0" err="1" smtClean="0"/>
            <a:t>Overs</a:t>
          </a:r>
          <a:endParaRPr lang="en-US" dirty="0"/>
        </a:p>
      </dgm:t>
    </dgm:pt>
    <dgm:pt modelId="{D339A177-6FF4-4249-A0A4-4BB279A55CB2}" type="parTrans" cxnId="{E539BABB-E3E2-4AFC-8C1E-E3ABCAF11B17}">
      <dgm:prSet/>
      <dgm:spPr/>
      <dgm:t>
        <a:bodyPr/>
        <a:lstStyle/>
        <a:p>
          <a:endParaRPr lang="en-US"/>
        </a:p>
      </dgm:t>
    </dgm:pt>
    <dgm:pt modelId="{AD43B49C-8010-4740-A645-603F57009757}" type="sibTrans" cxnId="{E539BABB-E3E2-4AFC-8C1E-E3ABCAF11B17}">
      <dgm:prSet/>
      <dgm:spPr/>
      <dgm:t>
        <a:bodyPr/>
        <a:lstStyle/>
        <a:p>
          <a:endParaRPr lang="en-US"/>
        </a:p>
      </dgm:t>
    </dgm:pt>
    <dgm:pt modelId="{3D7EA154-94A2-4DB1-9744-66B7A8E33C79}">
      <dgm:prSet phldrT="[Text]"/>
      <dgm:spPr/>
      <dgm:t>
        <a:bodyPr/>
        <a:lstStyle/>
        <a:p>
          <a:r>
            <a:rPr lang="en-IN" dirty="0" err="1" smtClean="0"/>
            <a:t>Match_id</a:t>
          </a:r>
          <a:endParaRPr lang="en-US" dirty="0"/>
        </a:p>
      </dgm:t>
    </dgm:pt>
    <dgm:pt modelId="{806AC137-A875-4255-8096-9716751E9046}" type="parTrans" cxnId="{94AE07AB-652A-42EB-9E92-0A5C70CAB9F5}">
      <dgm:prSet/>
      <dgm:spPr/>
      <dgm:t>
        <a:bodyPr/>
        <a:lstStyle/>
        <a:p>
          <a:endParaRPr lang="en-US"/>
        </a:p>
      </dgm:t>
    </dgm:pt>
    <dgm:pt modelId="{AE232C52-0F2F-40A5-9F2A-6C1C9AD53115}" type="sibTrans" cxnId="{94AE07AB-652A-42EB-9E92-0A5C70CAB9F5}">
      <dgm:prSet/>
      <dgm:spPr/>
      <dgm:t>
        <a:bodyPr/>
        <a:lstStyle/>
        <a:p>
          <a:endParaRPr lang="en-US"/>
        </a:p>
      </dgm:t>
    </dgm:pt>
    <dgm:pt modelId="{130B961B-61E7-435B-B069-84E9542BFD29}" type="pres">
      <dgm:prSet presAssocID="{C43EE119-5389-4906-9E8C-359172CD9F6D}" presName="Name0" presStyleCnt="0">
        <dgm:presLayoutVars>
          <dgm:dir/>
          <dgm:animLvl val="lvl"/>
          <dgm:resizeHandles val="exact"/>
        </dgm:presLayoutVars>
      </dgm:prSet>
      <dgm:spPr/>
      <dgm:t>
        <a:bodyPr/>
        <a:lstStyle/>
        <a:p>
          <a:endParaRPr lang="en-US"/>
        </a:p>
      </dgm:t>
    </dgm:pt>
    <dgm:pt modelId="{15FAA4CD-2D78-4A37-B7A6-95A340EE2E5A}" type="pres">
      <dgm:prSet presAssocID="{BAAE773B-4746-4B6E-8F12-98E21C9514A3}" presName="composite" presStyleCnt="0"/>
      <dgm:spPr/>
    </dgm:pt>
    <dgm:pt modelId="{1A5F447C-0E85-4B6E-912C-7D05E19DF90A}" type="pres">
      <dgm:prSet presAssocID="{BAAE773B-4746-4B6E-8F12-98E21C9514A3}" presName="parTx" presStyleLbl="alignNode1" presStyleIdx="0" presStyleCnt="1" custLinFactNeighborX="-4749" custLinFactNeighborY="12759">
        <dgm:presLayoutVars>
          <dgm:chMax val="0"/>
          <dgm:chPref val="0"/>
          <dgm:bulletEnabled val="1"/>
        </dgm:presLayoutVars>
      </dgm:prSet>
      <dgm:spPr/>
      <dgm:t>
        <a:bodyPr/>
        <a:lstStyle/>
        <a:p>
          <a:endParaRPr lang="en-US"/>
        </a:p>
      </dgm:t>
    </dgm:pt>
    <dgm:pt modelId="{59BC8785-3512-4A38-9359-C26ACE072F55}" type="pres">
      <dgm:prSet presAssocID="{BAAE773B-4746-4B6E-8F12-98E21C9514A3}" presName="desTx" presStyleLbl="alignAccFollowNode1" presStyleIdx="0" presStyleCnt="1" custLinFactNeighborX="-1887" custLinFactNeighborY="869">
        <dgm:presLayoutVars>
          <dgm:bulletEnabled val="1"/>
        </dgm:presLayoutVars>
      </dgm:prSet>
      <dgm:spPr/>
      <dgm:t>
        <a:bodyPr/>
        <a:lstStyle/>
        <a:p>
          <a:endParaRPr lang="en-US"/>
        </a:p>
      </dgm:t>
    </dgm:pt>
  </dgm:ptLst>
  <dgm:cxnLst>
    <dgm:cxn modelId="{484B2D79-C238-44E4-9BF5-7D8F2E6322DC}" srcId="{BAAE773B-4746-4B6E-8F12-98E21C9514A3}" destId="{4687AA47-91C2-454A-A770-D4407E50D415}" srcOrd="1" destOrd="0" parTransId="{5F0036A0-0C59-4820-8F97-A1716E8BD046}" sibTransId="{EAFC6651-2F37-414C-9A38-992460D89549}"/>
    <dgm:cxn modelId="{94AE07AB-652A-42EB-9E92-0A5C70CAB9F5}" srcId="{BAAE773B-4746-4B6E-8F12-98E21C9514A3}" destId="{3D7EA154-94A2-4DB1-9744-66B7A8E33C79}" srcOrd="5" destOrd="0" parTransId="{806AC137-A875-4255-8096-9716751E9046}" sibTransId="{AE232C52-0F2F-40A5-9F2A-6C1C9AD53115}"/>
    <dgm:cxn modelId="{2F4B2082-3388-48B7-A7DE-909E41E61A05}" type="presOf" srcId="{00D88D64-C8F5-4AFB-AD91-CA8A9FFD74AE}" destId="{59BC8785-3512-4A38-9359-C26ACE072F55}" srcOrd="0" destOrd="2" presId="urn:microsoft.com/office/officeart/2005/8/layout/hList1"/>
    <dgm:cxn modelId="{A1F938C6-B771-4BE0-A955-63CFBED5B19A}" srcId="{BAAE773B-4746-4B6E-8F12-98E21C9514A3}" destId="{2304DA4A-BBE4-458E-9B79-BFFF15A3D25D}" srcOrd="3" destOrd="0" parTransId="{9D8122CE-8C8C-4DA4-8289-49111EE05B98}" sibTransId="{7CCD5F42-9591-4365-A578-996E11F67455}"/>
    <dgm:cxn modelId="{3DD9601F-BB6C-454D-B136-4FB3F0A9CF40}" type="presOf" srcId="{4687AA47-91C2-454A-A770-D4407E50D415}" destId="{59BC8785-3512-4A38-9359-C26ACE072F55}" srcOrd="0" destOrd="1" presId="urn:microsoft.com/office/officeart/2005/8/layout/hList1"/>
    <dgm:cxn modelId="{E539BABB-E3E2-4AFC-8C1E-E3ABCAF11B17}" srcId="{BAAE773B-4746-4B6E-8F12-98E21C9514A3}" destId="{3708166F-FA1E-4160-B638-686A5503DCCA}" srcOrd="4" destOrd="0" parTransId="{D339A177-6FF4-4249-A0A4-4BB279A55CB2}" sibTransId="{AD43B49C-8010-4740-A645-603F57009757}"/>
    <dgm:cxn modelId="{CA335C67-99C0-4D9A-B62E-6363F4279DBA}" srcId="{C43EE119-5389-4906-9E8C-359172CD9F6D}" destId="{BAAE773B-4746-4B6E-8F12-98E21C9514A3}" srcOrd="0" destOrd="0" parTransId="{AA37E5C6-84ED-4D3B-B768-68CE36321261}" sibTransId="{22EA18D3-1B84-4D02-8CF5-B95BA207CB98}"/>
    <dgm:cxn modelId="{6F29DF8F-F898-4756-960D-99B47F91813C}" srcId="{BAAE773B-4746-4B6E-8F12-98E21C9514A3}" destId="{5B8F6A05-079E-47C2-B7F9-F17E16D81872}" srcOrd="0" destOrd="0" parTransId="{6498BCF5-A808-431A-92C7-0EA6DDF6430B}" sibTransId="{085A3349-8535-42E7-BE8C-25F1B1E2350B}"/>
    <dgm:cxn modelId="{4BE67E34-8BB5-47B5-877D-0F375A19964F}" type="presOf" srcId="{2304DA4A-BBE4-458E-9B79-BFFF15A3D25D}" destId="{59BC8785-3512-4A38-9359-C26ACE072F55}" srcOrd="0" destOrd="3" presId="urn:microsoft.com/office/officeart/2005/8/layout/hList1"/>
    <dgm:cxn modelId="{E03B1476-F836-4EF3-B97D-E309E0AB62D6}" type="presOf" srcId="{3708166F-FA1E-4160-B638-686A5503DCCA}" destId="{59BC8785-3512-4A38-9359-C26ACE072F55}" srcOrd="0" destOrd="4" presId="urn:microsoft.com/office/officeart/2005/8/layout/hList1"/>
    <dgm:cxn modelId="{BAB534E3-A4D3-4EA7-B88E-BB17E142E7B9}" srcId="{BAAE773B-4746-4B6E-8F12-98E21C9514A3}" destId="{00D88D64-C8F5-4AFB-AD91-CA8A9FFD74AE}" srcOrd="2" destOrd="0" parTransId="{EE7F06BD-9265-466A-97C2-E8FA39C57573}" sibTransId="{2F6AD23C-ECDC-414B-9550-2E9324BCD053}"/>
    <dgm:cxn modelId="{58E98B78-5088-45D5-B0D9-1C2BC069133E}" type="presOf" srcId="{C43EE119-5389-4906-9E8C-359172CD9F6D}" destId="{130B961B-61E7-435B-B069-84E9542BFD29}" srcOrd="0" destOrd="0" presId="urn:microsoft.com/office/officeart/2005/8/layout/hList1"/>
    <dgm:cxn modelId="{879D9D7D-2CCB-4483-A474-E5BF9BDF203A}" type="presOf" srcId="{BAAE773B-4746-4B6E-8F12-98E21C9514A3}" destId="{1A5F447C-0E85-4B6E-912C-7D05E19DF90A}" srcOrd="0" destOrd="0" presId="urn:microsoft.com/office/officeart/2005/8/layout/hList1"/>
    <dgm:cxn modelId="{F3EE3861-4632-4542-9CED-5DA7BB60932E}" type="presOf" srcId="{5B8F6A05-079E-47C2-B7F9-F17E16D81872}" destId="{59BC8785-3512-4A38-9359-C26ACE072F55}" srcOrd="0" destOrd="0" presId="urn:microsoft.com/office/officeart/2005/8/layout/hList1"/>
    <dgm:cxn modelId="{BE9DC300-3A76-4A21-9465-1287F7794015}" type="presOf" srcId="{3D7EA154-94A2-4DB1-9744-66B7A8E33C79}" destId="{59BC8785-3512-4A38-9359-C26ACE072F55}" srcOrd="0" destOrd="5" presId="urn:microsoft.com/office/officeart/2005/8/layout/hList1"/>
    <dgm:cxn modelId="{355EDAAA-E357-46CC-9BFE-93D214F3113C}" type="presParOf" srcId="{130B961B-61E7-435B-B069-84E9542BFD29}" destId="{15FAA4CD-2D78-4A37-B7A6-95A340EE2E5A}" srcOrd="0" destOrd="0" presId="urn:microsoft.com/office/officeart/2005/8/layout/hList1"/>
    <dgm:cxn modelId="{6B63A1D0-629F-45C9-B70F-FD7AB47618C8}" type="presParOf" srcId="{15FAA4CD-2D78-4A37-B7A6-95A340EE2E5A}" destId="{1A5F447C-0E85-4B6E-912C-7D05E19DF90A}" srcOrd="0" destOrd="0" presId="urn:microsoft.com/office/officeart/2005/8/layout/hList1"/>
    <dgm:cxn modelId="{D85C3EEA-4122-48A0-8455-021703AB850C}" type="presParOf" srcId="{15FAA4CD-2D78-4A37-B7A6-95A340EE2E5A}" destId="{59BC8785-3512-4A38-9359-C26ACE072F55}" srcOrd="1" destOrd="0" presId="urn:microsoft.com/office/officeart/2005/8/layout/hList1"/>
  </dgm:cxnLst>
  <dgm:bg/>
  <dgm:whole/>
</dgm:dataModel>
</file>

<file path=ppt/diagrams/data7.xml><?xml version="1.0" encoding="utf-8"?>
<dgm:dataModel xmlns:dgm="http://schemas.openxmlformats.org/drawingml/2006/diagram" xmlns:a="http://schemas.openxmlformats.org/drawingml/2006/main">
  <dgm:ptLst>
    <dgm:pt modelId="{8ECB4DA1-AB34-44D8-B499-22B1D244E745}"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US"/>
        </a:p>
      </dgm:t>
    </dgm:pt>
    <dgm:pt modelId="{BC9A2461-94B4-4846-96CA-859367C6C0D5}">
      <dgm:prSet/>
      <dgm:spPr/>
      <dgm:t>
        <a:bodyPr/>
        <a:lstStyle/>
        <a:p>
          <a:pPr rtl="0"/>
          <a:r>
            <a:rPr lang="en-US" b="1" dirty="0" smtClean="0"/>
            <a:t>Data Cleaning:</a:t>
          </a:r>
          <a:endParaRPr lang="en-US" b="1" dirty="0"/>
        </a:p>
      </dgm:t>
    </dgm:pt>
    <dgm:pt modelId="{0CE89C6A-A16D-46F1-BDC6-3AC90878FE4F}" type="parTrans" cxnId="{C446B606-EDA0-428F-98BE-4230F0CBC3BE}">
      <dgm:prSet/>
      <dgm:spPr/>
      <dgm:t>
        <a:bodyPr/>
        <a:lstStyle/>
        <a:p>
          <a:endParaRPr lang="en-US"/>
        </a:p>
      </dgm:t>
    </dgm:pt>
    <dgm:pt modelId="{BD20D8FC-2CC9-4982-83BF-299CAA850702}" type="sibTrans" cxnId="{C446B606-EDA0-428F-98BE-4230F0CBC3BE}">
      <dgm:prSet/>
      <dgm:spPr/>
      <dgm:t>
        <a:bodyPr/>
        <a:lstStyle/>
        <a:p>
          <a:endParaRPr lang="en-US"/>
        </a:p>
      </dgm:t>
    </dgm:pt>
    <dgm:pt modelId="{A48C2E93-1166-4AEE-8020-89716BF681A1}" type="pres">
      <dgm:prSet presAssocID="{8ECB4DA1-AB34-44D8-B499-22B1D244E745}" presName="linear" presStyleCnt="0">
        <dgm:presLayoutVars>
          <dgm:animLvl val="lvl"/>
          <dgm:resizeHandles val="exact"/>
        </dgm:presLayoutVars>
      </dgm:prSet>
      <dgm:spPr/>
      <dgm:t>
        <a:bodyPr/>
        <a:lstStyle/>
        <a:p>
          <a:endParaRPr lang="en-US"/>
        </a:p>
      </dgm:t>
    </dgm:pt>
    <dgm:pt modelId="{D8E134EE-54A5-4D07-952C-333055F23724}" type="pres">
      <dgm:prSet presAssocID="{BC9A2461-94B4-4846-96CA-859367C6C0D5}" presName="parentText" presStyleLbl="node1" presStyleIdx="0" presStyleCnt="1" custLinFactNeighborX="-32787" custLinFactNeighborY="359">
        <dgm:presLayoutVars>
          <dgm:chMax val="0"/>
          <dgm:bulletEnabled val="1"/>
        </dgm:presLayoutVars>
      </dgm:prSet>
      <dgm:spPr/>
      <dgm:t>
        <a:bodyPr/>
        <a:lstStyle/>
        <a:p>
          <a:endParaRPr lang="en-US"/>
        </a:p>
      </dgm:t>
    </dgm:pt>
  </dgm:ptLst>
  <dgm:cxnLst>
    <dgm:cxn modelId="{6EF70809-67AB-4466-8C00-47EA475AF03E}" type="presOf" srcId="{8ECB4DA1-AB34-44D8-B499-22B1D244E745}" destId="{A48C2E93-1166-4AEE-8020-89716BF681A1}" srcOrd="0" destOrd="0" presId="urn:microsoft.com/office/officeart/2005/8/layout/vList2"/>
    <dgm:cxn modelId="{C446B606-EDA0-428F-98BE-4230F0CBC3BE}" srcId="{8ECB4DA1-AB34-44D8-B499-22B1D244E745}" destId="{BC9A2461-94B4-4846-96CA-859367C6C0D5}" srcOrd="0" destOrd="0" parTransId="{0CE89C6A-A16D-46F1-BDC6-3AC90878FE4F}" sibTransId="{BD20D8FC-2CC9-4982-83BF-299CAA850702}"/>
    <dgm:cxn modelId="{26A64471-8B46-4900-ADE3-C30433DE0811}" type="presOf" srcId="{BC9A2461-94B4-4846-96CA-859367C6C0D5}" destId="{D8E134EE-54A5-4D07-952C-333055F23724}" srcOrd="0" destOrd="0" presId="urn:microsoft.com/office/officeart/2005/8/layout/vList2"/>
    <dgm:cxn modelId="{698BDF86-D3E3-416A-B8B2-0E82AFE2E522}" type="presParOf" srcId="{A48C2E93-1166-4AEE-8020-89716BF681A1}" destId="{D8E134EE-54A5-4D07-952C-333055F23724}" srcOrd="0" destOrd="0" presId="urn:microsoft.com/office/officeart/2005/8/layout/vList2"/>
  </dgm:cxnLst>
  <dgm:bg/>
  <dgm:whole/>
</dgm:dataModel>
</file>

<file path=ppt/diagrams/data8.xml><?xml version="1.0" encoding="utf-8"?>
<dgm:dataModel xmlns:dgm="http://schemas.openxmlformats.org/drawingml/2006/diagram" xmlns:a="http://schemas.openxmlformats.org/drawingml/2006/main">
  <dgm:ptLst>
    <dgm:pt modelId="{8ECB4DA1-AB34-44D8-B499-22B1D244E745}"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US"/>
        </a:p>
      </dgm:t>
    </dgm:pt>
    <dgm:pt modelId="{BC9A2461-94B4-4846-96CA-859367C6C0D5}">
      <dgm:prSet/>
      <dgm:spPr/>
      <dgm:t>
        <a:bodyPr/>
        <a:lstStyle/>
        <a:p>
          <a:pPr rtl="0"/>
          <a:r>
            <a:rPr lang="en-US" b="1" dirty="0" smtClean="0"/>
            <a:t>Data </a:t>
          </a:r>
          <a:r>
            <a:rPr lang="en-US" b="1" dirty="0" err="1" smtClean="0"/>
            <a:t>Modelling</a:t>
          </a:r>
          <a:r>
            <a:rPr lang="en-US" b="1" dirty="0" smtClean="0"/>
            <a:t>:</a:t>
          </a:r>
          <a:endParaRPr lang="en-US" b="1" dirty="0"/>
        </a:p>
      </dgm:t>
    </dgm:pt>
    <dgm:pt modelId="{0CE89C6A-A16D-46F1-BDC6-3AC90878FE4F}" type="parTrans" cxnId="{C446B606-EDA0-428F-98BE-4230F0CBC3BE}">
      <dgm:prSet/>
      <dgm:spPr/>
      <dgm:t>
        <a:bodyPr/>
        <a:lstStyle/>
        <a:p>
          <a:endParaRPr lang="en-US"/>
        </a:p>
      </dgm:t>
    </dgm:pt>
    <dgm:pt modelId="{BD20D8FC-2CC9-4982-83BF-299CAA850702}" type="sibTrans" cxnId="{C446B606-EDA0-428F-98BE-4230F0CBC3BE}">
      <dgm:prSet/>
      <dgm:spPr/>
      <dgm:t>
        <a:bodyPr/>
        <a:lstStyle/>
        <a:p>
          <a:endParaRPr lang="en-US"/>
        </a:p>
      </dgm:t>
    </dgm:pt>
    <dgm:pt modelId="{A48C2E93-1166-4AEE-8020-89716BF681A1}" type="pres">
      <dgm:prSet presAssocID="{8ECB4DA1-AB34-44D8-B499-22B1D244E745}" presName="linear" presStyleCnt="0">
        <dgm:presLayoutVars>
          <dgm:animLvl val="lvl"/>
          <dgm:resizeHandles val="exact"/>
        </dgm:presLayoutVars>
      </dgm:prSet>
      <dgm:spPr/>
      <dgm:t>
        <a:bodyPr/>
        <a:lstStyle/>
        <a:p>
          <a:endParaRPr lang="en-US"/>
        </a:p>
      </dgm:t>
    </dgm:pt>
    <dgm:pt modelId="{D8E134EE-54A5-4D07-952C-333055F23724}" type="pres">
      <dgm:prSet presAssocID="{BC9A2461-94B4-4846-96CA-859367C6C0D5}" presName="parentText" presStyleLbl="node1" presStyleIdx="0" presStyleCnt="1" custLinFactNeighborX="-32787" custLinFactNeighborY="359">
        <dgm:presLayoutVars>
          <dgm:chMax val="0"/>
          <dgm:bulletEnabled val="1"/>
        </dgm:presLayoutVars>
      </dgm:prSet>
      <dgm:spPr/>
      <dgm:t>
        <a:bodyPr/>
        <a:lstStyle/>
        <a:p>
          <a:endParaRPr lang="en-US"/>
        </a:p>
      </dgm:t>
    </dgm:pt>
  </dgm:ptLst>
  <dgm:cxnLst>
    <dgm:cxn modelId="{0EF8B7E5-7A74-4B95-8EE8-0BE68247241E}" type="presOf" srcId="{8ECB4DA1-AB34-44D8-B499-22B1D244E745}" destId="{A48C2E93-1166-4AEE-8020-89716BF681A1}" srcOrd="0" destOrd="0" presId="urn:microsoft.com/office/officeart/2005/8/layout/vList2"/>
    <dgm:cxn modelId="{B8CF4423-A9E2-4791-8F9D-93E9FF6865A4}" type="presOf" srcId="{BC9A2461-94B4-4846-96CA-859367C6C0D5}" destId="{D8E134EE-54A5-4D07-952C-333055F23724}" srcOrd="0" destOrd="0" presId="urn:microsoft.com/office/officeart/2005/8/layout/vList2"/>
    <dgm:cxn modelId="{C446B606-EDA0-428F-98BE-4230F0CBC3BE}" srcId="{8ECB4DA1-AB34-44D8-B499-22B1D244E745}" destId="{BC9A2461-94B4-4846-96CA-859367C6C0D5}" srcOrd="0" destOrd="0" parTransId="{0CE89C6A-A16D-46F1-BDC6-3AC90878FE4F}" sibTransId="{BD20D8FC-2CC9-4982-83BF-299CAA850702}"/>
    <dgm:cxn modelId="{31FA2316-34AB-46D9-B884-2DF9D6B125F7}" type="presParOf" srcId="{A48C2E93-1166-4AEE-8020-89716BF681A1}" destId="{D8E134EE-54A5-4D07-952C-333055F23724}" srcOrd="0" destOrd="0" presId="urn:microsoft.com/office/officeart/2005/8/layout/vList2"/>
  </dgm:cxnLst>
  <dgm:bg/>
  <dgm:whole/>
</dgm:dataModel>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A14BFFF-4EC6-4C95-8726-7099BE5DCBEE}" type="datetimeFigureOut">
              <a:rPr lang="en-US" smtClean="0"/>
              <a:pPr/>
              <a:t>10/1/2024</a:t>
            </a:fld>
            <a:endParaRPr lang="en-US"/>
          </a:p>
        </p:txBody>
      </p:sp>
      <p:sp>
        <p:nvSpPr>
          <p:cNvPr id="4" name="Slide Image Placeholder 3"/>
          <p:cNvSpPr>
            <a:spLocks noGrp="1" noRot="1" noChangeAspect="1"/>
          </p:cNvSpPr>
          <p:nvPr>
            <p:ph type="sldImg" idx="2"/>
          </p:nvPr>
        </p:nvSpPr>
        <p:spPr>
          <a:xfrm>
            <a:off x="850900" y="685800"/>
            <a:ext cx="51562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53F3E14-9B3A-474E-950F-D1BBD5E4ABC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smtClean="0"/>
          </a:p>
        </p:txBody>
      </p:sp>
      <p:sp>
        <p:nvSpPr>
          <p:cNvPr id="4" name="Slide Number Placeholder 3"/>
          <p:cNvSpPr>
            <a:spLocks noGrp="1"/>
          </p:cNvSpPr>
          <p:nvPr>
            <p:ph type="sldNum" sz="quarter" idx="10"/>
          </p:nvPr>
        </p:nvSpPr>
        <p:spPr/>
        <p:txBody>
          <a:bodyPr/>
          <a:lstStyle/>
          <a:p>
            <a:fld id="{253F3E14-9B3A-474E-950F-D1BBD5E4ABCD}" type="slidenum">
              <a:rPr lang="en-US" smtClean="0"/>
              <a:pPr/>
              <a:t>11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smtClean="0"/>
          </a:p>
        </p:txBody>
      </p:sp>
      <p:sp>
        <p:nvSpPr>
          <p:cNvPr id="4" name="Slide Number Placeholder 3"/>
          <p:cNvSpPr>
            <a:spLocks noGrp="1"/>
          </p:cNvSpPr>
          <p:nvPr>
            <p:ph type="sldNum" sz="quarter" idx="10"/>
          </p:nvPr>
        </p:nvSpPr>
        <p:spPr/>
        <p:txBody>
          <a:bodyPr/>
          <a:lstStyle/>
          <a:p>
            <a:fld id="{253F3E14-9B3A-474E-950F-D1BBD5E4ABCD}" type="slidenum">
              <a:rPr lang="en-US" smtClean="0"/>
              <a:pPr/>
              <a:t>12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smtClean="0"/>
          </a:p>
        </p:txBody>
      </p:sp>
      <p:sp>
        <p:nvSpPr>
          <p:cNvPr id="4" name="Slide Number Placeholder 3"/>
          <p:cNvSpPr>
            <a:spLocks noGrp="1"/>
          </p:cNvSpPr>
          <p:nvPr>
            <p:ph type="sldNum" sz="quarter" idx="10"/>
          </p:nvPr>
        </p:nvSpPr>
        <p:spPr/>
        <p:txBody>
          <a:bodyPr/>
          <a:lstStyle/>
          <a:p>
            <a:fld id="{253F3E14-9B3A-474E-950F-D1BBD5E4ABCD}" type="slidenum">
              <a:rPr lang="en-US" smtClean="0"/>
              <a:pPr/>
              <a:t>13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smtClean="0"/>
          </a:p>
        </p:txBody>
      </p:sp>
      <p:sp>
        <p:nvSpPr>
          <p:cNvPr id="4" name="Slide Number Placeholder 3"/>
          <p:cNvSpPr>
            <a:spLocks noGrp="1"/>
          </p:cNvSpPr>
          <p:nvPr>
            <p:ph type="sldNum" sz="quarter" idx="10"/>
          </p:nvPr>
        </p:nvSpPr>
        <p:spPr/>
        <p:txBody>
          <a:bodyPr/>
          <a:lstStyle/>
          <a:p>
            <a:fld id="{253F3E14-9B3A-474E-950F-D1BBD5E4ABCD}" type="slidenum">
              <a:rPr lang="en-US" smtClean="0"/>
              <a:pPr/>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svg"/><Relationship Id="rId18" Type="http://schemas.openxmlformats.org/officeDocument/2006/relationships/image" Target="../media/image22.svg"/><Relationship Id="rId3" Type="http://schemas.openxmlformats.org/officeDocument/2006/relationships/image" Target="../media/image6.png"/><Relationship Id="rId21" Type="http://schemas.openxmlformats.org/officeDocument/2006/relationships/image" Target="../media/image25.svg"/><Relationship Id="rId7" Type="http://schemas.openxmlformats.org/officeDocument/2006/relationships/image" Target="../media/image9.png"/><Relationship Id="rId12" Type="http://schemas.openxmlformats.org/officeDocument/2006/relationships/image" Target="../media/image10.png"/><Relationship Id="rId17" Type="http://schemas.openxmlformats.org/officeDocument/2006/relationships/image" Target="../media/image21.svg"/><Relationship Id="rId2" Type="http://schemas.openxmlformats.org/officeDocument/2006/relationships/image" Target="../media/image5.jpeg"/><Relationship Id="rId16" Type="http://schemas.openxmlformats.org/officeDocument/2006/relationships/image" Target="../media/image20.svg"/><Relationship Id="rId20"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0.svg"/><Relationship Id="rId11" Type="http://schemas.openxmlformats.org/officeDocument/2006/relationships/image" Target="../media/image15.svg"/><Relationship Id="rId24" Type="http://schemas.openxmlformats.org/officeDocument/2006/relationships/image" Target="../media/image28.svg"/><Relationship Id="rId5" Type="http://schemas.openxmlformats.org/officeDocument/2006/relationships/image" Target="../media/image8.png"/><Relationship Id="rId15" Type="http://schemas.openxmlformats.org/officeDocument/2006/relationships/image" Target="../media/image19.svg"/><Relationship Id="rId23" Type="http://schemas.openxmlformats.org/officeDocument/2006/relationships/image" Target="../media/image27.svg"/><Relationship Id="rId10" Type="http://schemas.openxmlformats.org/officeDocument/2006/relationships/image" Target="../media/image14.svg"/><Relationship Id="rId19" Type="http://schemas.openxmlformats.org/officeDocument/2006/relationships/image" Target="../media/image23.svg"/><Relationship Id="rId4" Type="http://schemas.openxmlformats.org/officeDocument/2006/relationships/image" Target="../media/image7.png"/><Relationship Id="rId9" Type="http://schemas.openxmlformats.org/officeDocument/2006/relationships/image" Target="../media/image13.svg"/><Relationship Id="rId14" Type="http://schemas.openxmlformats.org/officeDocument/2006/relationships/image" Target="../media/image11.png"/><Relationship Id="rId22" Type="http://schemas.openxmlformats.org/officeDocument/2006/relationships/image" Target="../media/image26.svg"/></Relationships>
</file>

<file path=ppt/slides/_rels/slide6.xml.rels><?xml version="1.0" encoding="UTF-8" standalone="yes"?>
<Relationships xmlns="http://schemas.openxmlformats.org/package/2006/relationships"><Relationship Id="rId8" Type="http://schemas.openxmlformats.org/officeDocument/2006/relationships/image" Target="../media/image31.svg"/><Relationship Id="rId13" Type="http://schemas.openxmlformats.org/officeDocument/2006/relationships/image" Target="../media/image17.svg"/><Relationship Id="rId18" Type="http://schemas.openxmlformats.org/officeDocument/2006/relationships/image" Target="../media/image37.svg"/><Relationship Id="rId3" Type="http://schemas.openxmlformats.org/officeDocument/2006/relationships/image" Target="../media/image13.png"/><Relationship Id="rId21" Type="http://schemas.openxmlformats.org/officeDocument/2006/relationships/image" Target="../media/image25.svg"/><Relationship Id="rId7" Type="http://schemas.openxmlformats.org/officeDocument/2006/relationships/image" Target="../media/image30.svg"/><Relationship Id="rId12" Type="http://schemas.openxmlformats.org/officeDocument/2006/relationships/image" Target="../media/image10.png"/><Relationship Id="rId17" Type="http://schemas.openxmlformats.org/officeDocument/2006/relationships/image" Target="../media/image36.svg"/><Relationship Id="rId2" Type="http://schemas.openxmlformats.org/officeDocument/2006/relationships/image" Target="../media/image5.jpeg"/><Relationship Id="rId16" Type="http://schemas.openxmlformats.org/officeDocument/2006/relationships/image" Target="../media/image35.svg"/><Relationship Id="rId20"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2.svg"/><Relationship Id="rId11" Type="http://schemas.openxmlformats.org/officeDocument/2006/relationships/image" Target="../media/image34.svg"/><Relationship Id="rId24" Type="http://schemas.openxmlformats.org/officeDocument/2006/relationships/image" Target="../media/image40.svg"/><Relationship Id="rId5" Type="http://schemas.openxmlformats.org/officeDocument/2006/relationships/image" Target="../media/image9.png"/><Relationship Id="rId15" Type="http://schemas.openxmlformats.org/officeDocument/2006/relationships/image" Target="../media/image19.svg"/><Relationship Id="rId23" Type="http://schemas.openxmlformats.org/officeDocument/2006/relationships/image" Target="../media/image39.svg"/><Relationship Id="rId10" Type="http://schemas.openxmlformats.org/officeDocument/2006/relationships/image" Target="../media/image14.png"/><Relationship Id="rId19" Type="http://schemas.openxmlformats.org/officeDocument/2006/relationships/image" Target="../media/image23.svg"/><Relationship Id="rId4" Type="http://schemas.openxmlformats.org/officeDocument/2006/relationships/image" Target="../media/image7.png"/><Relationship Id="rId9" Type="http://schemas.openxmlformats.org/officeDocument/2006/relationships/image" Target="../media/image32.svg"/><Relationship Id="rId14" Type="http://schemas.openxmlformats.org/officeDocument/2006/relationships/image" Target="../media/image11.png"/><Relationship Id="rId22" Type="http://schemas.openxmlformats.org/officeDocument/2006/relationships/image" Target="../media/image38.svg"/></Relationships>
</file>

<file path=ppt/slides/_rels/slide7.xml.rels><?xml version="1.0" encoding="UTF-8" standalone="yes"?>
<Relationships xmlns="http://schemas.openxmlformats.org/package/2006/relationships"><Relationship Id="rId8" Type="http://schemas.openxmlformats.org/officeDocument/2006/relationships/image" Target="../media/image46.svg"/><Relationship Id="rId13" Type="http://schemas.openxmlformats.org/officeDocument/2006/relationships/image" Target="../media/image19.png"/><Relationship Id="rId18" Type="http://schemas.openxmlformats.org/officeDocument/2006/relationships/image" Target="../media/image56.svg"/><Relationship Id="rId26" Type="http://schemas.openxmlformats.org/officeDocument/2006/relationships/image" Target="../media/image61.svg"/><Relationship Id="rId3" Type="http://schemas.openxmlformats.org/officeDocument/2006/relationships/image" Target="../media/image15.png"/><Relationship Id="rId21" Type="http://schemas.openxmlformats.org/officeDocument/2006/relationships/image" Target="../media/image10.png"/><Relationship Id="rId7" Type="http://schemas.openxmlformats.org/officeDocument/2006/relationships/image" Target="../media/image45.svg"/><Relationship Id="rId12" Type="http://schemas.openxmlformats.org/officeDocument/2006/relationships/image" Target="../media/image50.svg"/><Relationship Id="rId17" Type="http://schemas.openxmlformats.org/officeDocument/2006/relationships/image" Target="../media/image55.svg"/><Relationship Id="rId25" Type="http://schemas.openxmlformats.org/officeDocument/2006/relationships/image" Target="../media/image60.svg"/><Relationship Id="rId2" Type="http://schemas.openxmlformats.org/officeDocument/2006/relationships/image" Target="../media/image5.jpeg"/><Relationship Id="rId16" Type="http://schemas.openxmlformats.org/officeDocument/2006/relationships/image" Target="../media/image54.svg"/><Relationship Id="rId20" Type="http://schemas.openxmlformats.org/officeDocument/2006/relationships/image" Target="../media/image58.svg"/><Relationship Id="rId1" Type="http://schemas.openxmlformats.org/officeDocument/2006/relationships/slideLayout" Target="../slideLayouts/slideLayout7.xml"/><Relationship Id="rId6" Type="http://schemas.openxmlformats.org/officeDocument/2006/relationships/image" Target="../media/image44.svg"/><Relationship Id="rId11" Type="http://schemas.openxmlformats.org/officeDocument/2006/relationships/image" Target="../media/image18.png"/><Relationship Id="rId24" Type="http://schemas.openxmlformats.org/officeDocument/2006/relationships/image" Target="../media/image59.svg"/><Relationship Id="rId5" Type="http://schemas.openxmlformats.org/officeDocument/2006/relationships/image" Target="../media/image17.png"/><Relationship Id="rId15" Type="http://schemas.openxmlformats.org/officeDocument/2006/relationships/image" Target="../media/image20.png"/><Relationship Id="rId23" Type="http://schemas.openxmlformats.org/officeDocument/2006/relationships/image" Target="../media/image12.png"/><Relationship Id="rId28" Type="http://schemas.openxmlformats.org/officeDocument/2006/relationships/image" Target="../media/image63.svg"/><Relationship Id="rId10" Type="http://schemas.openxmlformats.org/officeDocument/2006/relationships/image" Target="../media/image48.svg"/><Relationship Id="rId19" Type="http://schemas.openxmlformats.org/officeDocument/2006/relationships/image" Target="../media/image57.svg"/><Relationship Id="rId4" Type="http://schemas.openxmlformats.org/officeDocument/2006/relationships/image" Target="../media/image16.png"/><Relationship Id="rId9" Type="http://schemas.openxmlformats.org/officeDocument/2006/relationships/image" Target="../media/image47.svg"/><Relationship Id="rId14" Type="http://schemas.openxmlformats.org/officeDocument/2006/relationships/image" Target="../media/image52.svg"/><Relationship Id="rId22" Type="http://schemas.openxmlformats.org/officeDocument/2006/relationships/image" Target="../media/image23.svg"/><Relationship Id="rId27" Type="http://schemas.openxmlformats.org/officeDocument/2006/relationships/image" Target="../media/image62.svg"/></Relationships>
</file>

<file path=ppt/slides/_rels/slide8.xml.rels><?xml version="1.0" encoding="UTF-8" standalone="yes"?>
<Relationships xmlns="http://schemas.openxmlformats.org/package/2006/relationships"><Relationship Id="rId8" Type="http://schemas.openxmlformats.org/officeDocument/2006/relationships/image" Target="../media/image68.svg"/><Relationship Id="rId13" Type="http://schemas.openxmlformats.org/officeDocument/2006/relationships/image" Target="../media/image50.svg"/><Relationship Id="rId18" Type="http://schemas.openxmlformats.org/officeDocument/2006/relationships/image" Target="../media/image75.svg"/><Relationship Id="rId26" Type="http://schemas.openxmlformats.org/officeDocument/2006/relationships/image" Target="../media/image81.svg"/><Relationship Id="rId3" Type="http://schemas.openxmlformats.org/officeDocument/2006/relationships/image" Target="../media/image21.png"/><Relationship Id="rId21" Type="http://schemas.openxmlformats.org/officeDocument/2006/relationships/image" Target="../media/image78.svg"/><Relationship Id="rId7" Type="http://schemas.openxmlformats.org/officeDocument/2006/relationships/image" Target="../media/image67.svg"/><Relationship Id="rId12" Type="http://schemas.openxmlformats.org/officeDocument/2006/relationships/image" Target="../media/image18.png"/><Relationship Id="rId17" Type="http://schemas.openxmlformats.org/officeDocument/2006/relationships/image" Target="../media/image74.svg"/><Relationship Id="rId25" Type="http://schemas.openxmlformats.org/officeDocument/2006/relationships/image" Target="../media/image24.png"/><Relationship Id="rId2" Type="http://schemas.openxmlformats.org/officeDocument/2006/relationships/image" Target="../media/image5.jpeg"/><Relationship Id="rId16" Type="http://schemas.openxmlformats.org/officeDocument/2006/relationships/image" Target="../media/image20.png"/><Relationship Id="rId20" Type="http://schemas.openxmlformats.org/officeDocument/2006/relationships/image" Target="../media/image77.svg"/><Relationship Id="rId29" Type="http://schemas.openxmlformats.org/officeDocument/2006/relationships/image" Target="../media/image84.svg"/><Relationship Id="rId1" Type="http://schemas.openxmlformats.org/officeDocument/2006/relationships/slideLayout" Target="../slideLayouts/slideLayout7.xml"/><Relationship Id="rId6" Type="http://schemas.openxmlformats.org/officeDocument/2006/relationships/image" Target="../media/image66.svg"/><Relationship Id="rId11" Type="http://schemas.openxmlformats.org/officeDocument/2006/relationships/image" Target="../media/image71.svg"/><Relationship Id="rId24" Type="http://schemas.openxmlformats.org/officeDocument/2006/relationships/image" Target="../media/image23.svg"/><Relationship Id="rId5" Type="http://schemas.openxmlformats.org/officeDocument/2006/relationships/image" Target="../media/image22.png"/><Relationship Id="rId15" Type="http://schemas.openxmlformats.org/officeDocument/2006/relationships/image" Target="../media/image73.svg"/><Relationship Id="rId23" Type="http://schemas.openxmlformats.org/officeDocument/2006/relationships/image" Target="../media/image10.png"/><Relationship Id="rId28" Type="http://schemas.openxmlformats.org/officeDocument/2006/relationships/image" Target="../media/image83.svg"/><Relationship Id="rId10" Type="http://schemas.openxmlformats.org/officeDocument/2006/relationships/image" Target="../media/image70.svg"/><Relationship Id="rId19" Type="http://schemas.openxmlformats.org/officeDocument/2006/relationships/image" Target="../media/image76.svg"/><Relationship Id="rId31" Type="http://schemas.openxmlformats.org/officeDocument/2006/relationships/image" Target="../media/image86.svg"/><Relationship Id="rId4" Type="http://schemas.openxmlformats.org/officeDocument/2006/relationships/image" Target="../media/image16.png"/><Relationship Id="rId9" Type="http://schemas.openxmlformats.org/officeDocument/2006/relationships/image" Target="../media/image69.svg"/><Relationship Id="rId14" Type="http://schemas.openxmlformats.org/officeDocument/2006/relationships/image" Target="../media/image23.png"/><Relationship Id="rId22" Type="http://schemas.openxmlformats.org/officeDocument/2006/relationships/image" Target="../media/image79.svg"/><Relationship Id="rId27" Type="http://schemas.openxmlformats.org/officeDocument/2006/relationships/image" Target="../media/image82.svg"/><Relationship Id="rId30" Type="http://schemas.openxmlformats.org/officeDocument/2006/relationships/image" Target="../media/image85.svg"/></Relationships>
</file>

<file path=ppt/slides/_rels/slide9.xml.rels><?xml version="1.0" encoding="UTF-8" standalone="yes"?>
<Relationships xmlns="http://schemas.openxmlformats.org/package/2006/relationships"><Relationship Id="rId8" Type="http://schemas.openxmlformats.org/officeDocument/2006/relationships/image" Target="../media/image46.svg"/><Relationship Id="rId13" Type="http://schemas.openxmlformats.org/officeDocument/2006/relationships/image" Target="../media/image26.png"/><Relationship Id="rId18" Type="http://schemas.openxmlformats.org/officeDocument/2006/relationships/image" Target="../media/image56.svg"/><Relationship Id="rId26" Type="http://schemas.openxmlformats.org/officeDocument/2006/relationships/image" Target="../media/image61.svg"/><Relationship Id="rId3" Type="http://schemas.openxmlformats.org/officeDocument/2006/relationships/image" Target="../media/image25.png"/><Relationship Id="rId21" Type="http://schemas.openxmlformats.org/officeDocument/2006/relationships/image" Target="../media/image10.png"/><Relationship Id="rId7" Type="http://schemas.openxmlformats.org/officeDocument/2006/relationships/image" Target="../media/image45.svg"/><Relationship Id="rId12" Type="http://schemas.openxmlformats.org/officeDocument/2006/relationships/image" Target="../media/image50.svg"/><Relationship Id="rId17" Type="http://schemas.openxmlformats.org/officeDocument/2006/relationships/image" Target="../media/image55.svg"/><Relationship Id="rId25" Type="http://schemas.openxmlformats.org/officeDocument/2006/relationships/image" Target="../media/image60.svg"/><Relationship Id="rId2" Type="http://schemas.openxmlformats.org/officeDocument/2006/relationships/image" Target="../media/image5.jpeg"/><Relationship Id="rId16" Type="http://schemas.openxmlformats.org/officeDocument/2006/relationships/image" Target="../media/image54.svg"/><Relationship Id="rId20" Type="http://schemas.openxmlformats.org/officeDocument/2006/relationships/image" Target="../media/image58.svg"/><Relationship Id="rId1" Type="http://schemas.openxmlformats.org/officeDocument/2006/relationships/slideLayout" Target="../slideLayouts/slideLayout7.xml"/><Relationship Id="rId6" Type="http://schemas.openxmlformats.org/officeDocument/2006/relationships/image" Target="../media/image44.svg"/><Relationship Id="rId11" Type="http://schemas.openxmlformats.org/officeDocument/2006/relationships/image" Target="../media/image18.png"/><Relationship Id="rId24" Type="http://schemas.openxmlformats.org/officeDocument/2006/relationships/image" Target="../media/image59.svg"/><Relationship Id="rId5" Type="http://schemas.openxmlformats.org/officeDocument/2006/relationships/image" Target="../media/image17.png"/><Relationship Id="rId15" Type="http://schemas.openxmlformats.org/officeDocument/2006/relationships/image" Target="../media/image20.png"/><Relationship Id="rId23" Type="http://schemas.openxmlformats.org/officeDocument/2006/relationships/image" Target="../media/image12.png"/><Relationship Id="rId28" Type="http://schemas.openxmlformats.org/officeDocument/2006/relationships/image" Target="../media/image63.svg"/><Relationship Id="rId10" Type="http://schemas.openxmlformats.org/officeDocument/2006/relationships/image" Target="../media/image48.svg"/><Relationship Id="rId19" Type="http://schemas.openxmlformats.org/officeDocument/2006/relationships/image" Target="../media/image57.svg"/><Relationship Id="rId4" Type="http://schemas.openxmlformats.org/officeDocument/2006/relationships/image" Target="../media/image16.png"/><Relationship Id="rId9" Type="http://schemas.openxmlformats.org/officeDocument/2006/relationships/image" Target="../media/image47.svg"/><Relationship Id="rId14" Type="http://schemas.openxmlformats.org/officeDocument/2006/relationships/image" Target="../media/image89.svg"/><Relationship Id="rId22" Type="http://schemas.openxmlformats.org/officeDocument/2006/relationships/image" Target="../media/image23.svg"/><Relationship Id="rId27" Type="http://schemas.openxmlformats.org/officeDocument/2006/relationships/image" Target="../media/image62.svg"/></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openxmlformats.org/officeDocument/2006/relationships/diagramQuickStyle" Target="../diagrams/quickStyle4.xml"/><Relationship Id="rId13" Type="http://schemas.openxmlformats.org/officeDocument/2006/relationships/diagramColors" Target="../diagrams/colors5.xml"/><Relationship Id="rId3" Type="http://schemas.openxmlformats.org/officeDocument/2006/relationships/diagramLayout" Target="../diagrams/layout3.xml"/><Relationship Id="rId7" Type="http://schemas.openxmlformats.org/officeDocument/2006/relationships/diagramLayout" Target="../diagrams/layout4.xml"/><Relationship Id="rId12" Type="http://schemas.openxmlformats.org/officeDocument/2006/relationships/diagramQuickStyle" Target="../diagrams/quickStyle5.xml"/><Relationship Id="rId17" Type="http://schemas.openxmlformats.org/officeDocument/2006/relationships/diagramColors" Target="../diagrams/colors6.xml"/><Relationship Id="rId2" Type="http://schemas.openxmlformats.org/officeDocument/2006/relationships/diagramData" Target="../diagrams/data3.xml"/><Relationship Id="rId16" Type="http://schemas.openxmlformats.org/officeDocument/2006/relationships/diagramQuickStyle" Target="../diagrams/quickStyle6.xml"/><Relationship Id="rId1" Type="http://schemas.openxmlformats.org/officeDocument/2006/relationships/slideLayout" Target="../slideLayouts/slideLayout4.xml"/><Relationship Id="rId6" Type="http://schemas.openxmlformats.org/officeDocument/2006/relationships/diagramData" Target="../diagrams/data4.xml"/><Relationship Id="rId11" Type="http://schemas.openxmlformats.org/officeDocument/2006/relationships/diagramLayout" Target="../diagrams/layout5.xml"/><Relationship Id="rId5" Type="http://schemas.openxmlformats.org/officeDocument/2006/relationships/diagramColors" Target="../diagrams/colors3.xml"/><Relationship Id="rId15" Type="http://schemas.openxmlformats.org/officeDocument/2006/relationships/diagramLayout" Target="../diagrams/layout6.xml"/><Relationship Id="rId10" Type="http://schemas.openxmlformats.org/officeDocument/2006/relationships/diagramData" Target="../diagrams/data5.xml"/><Relationship Id="rId4" Type="http://schemas.openxmlformats.org/officeDocument/2006/relationships/diagramQuickStyle" Target="../diagrams/quickStyle3.xml"/><Relationship Id="rId9" Type="http://schemas.openxmlformats.org/officeDocument/2006/relationships/diagramColors" Target="../diagrams/colors4.xml"/><Relationship Id="rId14" Type="http://schemas.openxmlformats.org/officeDocument/2006/relationships/diagramData" Target="../diagrams/data6.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6.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6.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864D2"/>
        </a:solidFill>
        <a:effectLst/>
      </p:bgPr>
    </p:bg>
    <p:spTree>
      <p:nvGrpSpPr>
        <p:cNvPr id="1" name=""/>
        <p:cNvGrpSpPr/>
        <p:nvPr/>
      </p:nvGrpSpPr>
      <p:grpSpPr>
        <a:xfrm>
          <a:off x="0" y="0"/>
          <a:ext cx="0" cy="0"/>
          <a:chOff x="0" y="0"/>
          <a:chExt cx="0" cy="0"/>
        </a:xfrm>
      </p:grpSpPr>
      <p:sp>
        <p:nvSpPr>
          <p:cNvPr id="2" name="TextBox 2"/>
          <p:cNvSpPr txBox="1"/>
          <p:nvPr/>
        </p:nvSpPr>
        <p:spPr>
          <a:xfrm>
            <a:off x="1824713" y="503364"/>
            <a:ext cx="12296233" cy="2823860"/>
          </a:xfrm>
          <a:prstGeom prst="rect">
            <a:avLst/>
          </a:prstGeom>
        </p:spPr>
        <p:txBody>
          <a:bodyPr lIns="0" tIns="0" rIns="0" bIns="0" rtlCol="0" anchor="t">
            <a:spAutoFit/>
          </a:bodyPr>
          <a:lstStyle/>
          <a:p>
            <a:pPr algn="ctr">
              <a:lnSpc>
                <a:spcPts val="10779"/>
              </a:lnSpc>
            </a:pPr>
            <a:r>
              <a:rPr lang="en-US" sz="7699">
                <a:solidFill>
                  <a:srgbClr val="FFFFFF"/>
                </a:solidFill>
                <a:latin typeface="Chunk Five"/>
                <a:ea typeface="Chunk Five"/>
                <a:cs typeface="Chunk Five"/>
                <a:sym typeface="Chunk Five"/>
              </a:rPr>
              <a:t>T20 World Cup Cricket Data Analytics</a:t>
            </a:r>
          </a:p>
        </p:txBody>
      </p:sp>
      <p:sp>
        <p:nvSpPr>
          <p:cNvPr id="3" name="TextBox 3"/>
          <p:cNvSpPr txBox="1"/>
          <p:nvPr/>
        </p:nvSpPr>
        <p:spPr>
          <a:xfrm>
            <a:off x="5734036" y="4714872"/>
            <a:ext cx="4041939" cy="1013098"/>
          </a:xfrm>
          <a:prstGeom prst="rect">
            <a:avLst/>
          </a:prstGeom>
        </p:spPr>
        <p:txBody>
          <a:bodyPr wrap="square" lIns="0" tIns="0" rIns="0" bIns="0" rtlCol="0" anchor="t">
            <a:spAutoFit/>
          </a:bodyPr>
          <a:lstStyle/>
          <a:p>
            <a:pPr algn="ctr">
              <a:lnSpc>
                <a:spcPts val="7941"/>
              </a:lnSpc>
            </a:pPr>
            <a:r>
              <a:rPr lang="en-US" sz="5672" b="1" dirty="0">
                <a:solidFill>
                  <a:srgbClr val="FFFFFF"/>
                </a:solidFill>
                <a:latin typeface="Canva Sans Bold"/>
                <a:ea typeface="Canva Sans Bold"/>
                <a:cs typeface="Canva Sans Bold"/>
                <a:sym typeface="Canva Sans Bold"/>
              </a:rPr>
              <a:t>Project by:</a:t>
            </a:r>
          </a:p>
        </p:txBody>
      </p:sp>
      <p:sp>
        <p:nvSpPr>
          <p:cNvPr id="4" name="TextBox 4"/>
          <p:cNvSpPr txBox="1"/>
          <p:nvPr/>
        </p:nvSpPr>
        <p:spPr>
          <a:xfrm>
            <a:off x="5091094" y="6000756"/>
            <a:ext cx="5205281" cy="1401530"/>
          </a:xfrm>
          <a:prstGeom prst="rect">
            <a:avLst/>
          </a:prstGeom>
        </p:spPr>
        <p:txBody>
          <a:bodyPr lIns="0" tIns="0" rIns="0" bIns="0" rtlCol="0" anchor="t">
            <a:spAutoFit/>
          </a:bodyPr>
          <a:lstStyle/>
          <a:p>
            <a:pPr algn="ctr">
              <a:lnSpc>
                <a:spcPts val="11484"/>
              </a:lnSpc>
            </a:pPr>
            <a:r>
              <a:rPr lang="en-US" sz="8202" b="1" dirty="0">
                <a:solidFill>
                  <a:srgbClr val="FFFFFF"/>
                </a:solidFill>
                <a:latin typeface="Red Hat Display Bold"/>
                <a:ea typeface="Red Hat Display Bold"/>
                <a:cs typeface="Red Hat Display Bold"/>
                <a:sym typeface="Red Hat Display Bold"/>
              </a:rPr>
              <a:t>Juhi Fitter</a:t>
            </a:r>
          </a:p>
        </p:txBody>
      </p:sp>
      <p:sp>
        <p:nvSpPr>
          <p:cNvPr id="5" name="TextBox 4"/>
          <p:cNvSpPr txBox="1"/>
          <p:nvPr/>
        </p:nvSpPr>
        <p:spPr>
          <a:xfrm>
            <a:off x="5233970" y="7643830"/>
            <a:ext cx="4929222" cy="2062103"/>
          </a:xfrm>
          <a:prstGeom prst="rect">
            <a:avLst/>
          </a:prstGeom>
          <a:noFill/>
        </p:spPr>
        <p:txBody>
          <a:bodyPr wrap="square" rtlCol="0">
            <a:spAutoFit/>
          </a:bodyPr>
          <a:lstStyle/>
          <a:p>
            <a:pPr algn="ctr"/>
            <a:r>
              <a:rPr lang="en-US" sz="3200" b="1" i="1" dirty="0" smtClean="0">
                <a:solidFill>
                  <a:schemeClr val="bg1"/>
                </a:solidFill>
              </a:rPr>
              <a:t>T.Y . IT</a:t>
            </a:r>
          </a:p>
          <a:p>
            <a:pPr algn="ctr"/>
            <a:r>
              <a:rPr lang="en-US" sz="3200" b="1" i="1" dirty="0" smtClean="0">
                <a:solidFill>
                  <a:schemeClr val="bg1"/>
                </a:solidFill>
              </a:rPr>
              <a:t>Div: C</a:t>
            </a:r>
          </a:p>
          <a:p>
            <a:pPr algn="ctr"/>
            <a:r>
              <a:rPr lang="en-US" sz="3200" b="1" i="1" dirty="0" smtClean="0">
                <a:solidFill>
                  <a:schemeClr val="bg1"/>
                </a:solidFill>
              </a:rPr>
              <a:t>Enrolment:  SR22BSIT045</a:t>
            </a:r>
          </a:p>
          <a:p>
            <a:pPr algn="ctr"/>
            <a:r>
              <a:rPr lang="en-US" sz="3200" b="1" i="1" dirty="0" smtClean="0">
                <a:solidFill>
                  <a:schemeClr val="bg1"/>
                </a:solidFill>
              </a:rPr>
              <a:t>Group : 89</a:t>
            </a:r>
            <a:endParaRPr lang="en-US" sz="3200" b="1" i="1" dirty="0">
              <a:solidFill>
                <a:schemeClr val="bg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864D2"/>
        </a:solidFill>
        <a:effectLst/>
      </p:bgPr>
    </p:bg>
    <p:spTree>
      <p:nvGrpSpPr>
        <p:cNvPr id="1" name=""/>
        <p:cNvGrpSpPr/>
        <p:nvPr/>
      </p:nvGrpSpPr>
      <p:grpSpPr>
        <a:xfrm>
          <a:off x="0" y="0"/>
          <a:ext cx="0" cy="0"/>
          <a:chOff x="0" y="0"/>
          <a:chExt cx="0" cy="0"/>
        </a:xfrm>
      </p:grpSpPr>
      <p:sp>
        <p:nvSpPr>
          <p:cNvPr id="2" name="TextBox 2"/>
          <p:cNvSpPr txBox="1"/>
          <p:nvPr/>
        </p:nvSpPr>
        <p:spPr>
          <a:xfrm>
            <a:off x="751358" y="141605"/>
            <a:ext cx="3786981" cy="887095"/>
          </a:xfrm>
          <a:prstGeom prst="rect">
            <a:avLst/>
          </a:prstGeom>
        </p:spPr>
        <p:txBody>
          <a:bodyPr lIns="0" tIns="0" rIns="0" bIns="0" rtlCol="0" anchor="t">
            <a:spAutoFit/>
          </a:bodyPr>
          <a:lstStyle/>
          <a:p>
            <a:pPr algn="ctr">
              <a:lnSpc>
                <a:spcPts val="7279"/>
              </a:lnSpc>
            </a:pPr>
            <a:r>
              <a:rPr lang="en-US" sz="5199" b="1">
                <a:solidFill>
                  <a:srgbClr val="FFFFFF"/>
                </a:solidFill>
                <a:latin typeface="Canva Sans Bold"/>
                <a:ea typeface="Canva Sans Bold"/>
                <a:cs typeface="Canva Sans Bold"/>
                <a:sym typeface="Canva Sans Bold"/>
              </a:rPr>
              <a:t>Objectives:</a:t>
            </a:r>
            <a:r>
              <a:rPr lang="en-US" sz="5199" b="1">
                <a:solidFill>
                  <a:srgbClr val="000000"/>
                </a:solidFill>
                <a:latin typeface="Canva Sans Bold"/>
                <a:ea typeface="Canva Sans Bold"/>
                <a:cs typeface="Canva Sans Bold"/>
                <a:sym typeface="Canva Sans Bold"/>
              </a:rPr>
              <a:t> </a:t>
            </a:r>
          </a:p>
        </p:txBody>
      </p:sp>
      <p:sp>
        <p:nvSpPr>
          <p:cNvPr id="3" name="TextBox 3"/>
          <p:cNvSpPr txBox="1"/>
          <p:nvPr/>
        </p:nvSpPr>
        <p:spPr>
          <a:xfrm>
            <a:off x="1028700" y="1185681"/>
            <a:ext cx="12468015" cy="2718693"/>
          </a:xfrm>
          <a:prstGeom prst="rect">
            <a:avLst/>
          </a:prstGeom>
        </p:spPr>
        <p:txBody>
          <a:bodyPr lIns="0" tIns="0" rIns="0" bIns="0" rtlCol="0" anchor="t">
            <a:spAutoFit/>
          </a:bodyPr>
          <a:lstStyle/>
          <a:p>
            <a:pPr algn="l">
              <a:lnSpc>
                <a:spcPts val="5703"/>
              </a:lnSpc>
            </a:pPr>
            <a:r>
              <a:rPr lang="en-US" sz="4074" dirty="0">
                <a:solidFill>
                  <a:srgbClr val="FFFFFF"/>
                </a:solidFill>
                <a:latin typeface="Canva Sans"/>
                <a:ea typeface="Canva Sans"/>
                <a:cs typeface="Canva Sans"/>
                <a:sym typeface="Canva Sans"/>
              </a:rPr>
              <a:t>Perform data analytics on T20 world cup cricket (2022) data to </a:t>
            </a:r>
            <a:r>
              <a:rPr lang="en-US" sz="4074" dirty="0" smtClean="0">
                <a:solidFill>
                  <a:srgbClr val="FFFFFF"/>
                </a:solidFill>
                <a:latin typeface="Canva Sans"/>
                <a:ea typeface="Canva Sans"/>
                <a:cs typeface="Canva Sans"/>
                <a:sym typeface="Canva Sans"/>
              </a:rPr>
              <a:t>find out the best 11 </a:t>
            </a:r>
            <a:r>
              <a:rPr lang="en-US" sz="4074" dirty="0">
                <a:solidFill>
                  <a:srgbClr val="FFFFFF"/>
                </a:solidFill>
                <a:latin typeface="Canva Sans"/>
                <a:ea typeface="Canva Sans"/>
                <a:cs typeface="Canva Sans"/>
                <a:sym typeface="Canva Sans"/>
              </a:rPr>
              <a:t>players.</a:t>
            </a:r>
          </a:p>
          <a:p>
            <a:pPr algn="l">
              <a:lnSpc>
                <a:spcPts val="4900"/>
              </a:lnSpc>
            </a:pPr>
            <a:endParaRPr/>
          </a:p>
          <a:p>
            <a:pPr algn="l">
              <a:lnSpc>
                <a:spcPts val="4900"/>
              </a:lnSpc>
            </a:pPr>
            <a:endParaRPr/>
          </a:p>
        </p:txBody>
      </p:sp>
      <p:sp>
        <p:nvSpPr>
          <p:cNvPr id="4" name="TextBox 4"/>
          <p:cNvSpPr txBox="1"/>
          <p:nvPr/>
        </p:nvSpPr>
        <p:spPr>
          <a:xfrm>
            <a:off x="876252" y="2786046"/>
            <a:ext cx="2571768" cy="874214"/>
          </a:xfrm>
          <a:prstGeom prst="rect">
            <a:avLst/>
          </a:prstGeom>
        </p:spPr>
        <p:txBody>
          <a:bodyPr wrap="square" lIns="0" tIns="0" rIns="0" bIns="0" rtlCol="0" anchor="t">
            <a:spAutoFit/>
          </a:bodyPr>
          <a:lstStyle/>
          <a:p>
            <a:pPr algn="ctr">
              <a:lnSpc>
                <a:spcPts val="7279"/>
              </a:lnSpc>
            </a:pPr>
            <a:r>
              <a:rPr lang="en-US" sz="5199" b="1" dirty="0" smtClean="0">
                <a:solidFill>
                  <a:srgbClr val="FFFFFF"/>
                </a:solidFill>
                <a:latin typeface="Canva Sans Bold"/>
                <a:ea typeface="Canva Sans Bold"/>
                <a:cs typeface="Canva Sans Bold"/>
                <a:sym typeface="Canva Sans Bold"/>
              </a:rPr>
              <a:t>Steps:</a:t>
            </a:r>
            <a:endParaRPr lang="en-US" sz="5199" b="1" dirty="0">
              <a:solidFill>
                <a:srgbClr val="FFFFFF"/>
              </a:solidFill>
              <a:latin typeface="Canva Sans Bold"/>
              <a:ea typeface="Canva Sans Bold"/>
              <a:cs typeface="Canva Sans Bold"/>
              <a:sym typeface="Canva Sans Bold"/>
            </a:endParaRPr>
          </a:p>
        </p:txBody>
      </p:sp>
      <p:sp>
        <p:nvSpPr>
          <p:cNvPr id="5" name="TextBox 5"/>
          <p:cNvSpPr txBox="1"/>
          <p:nvPr/>
        </p:nvSpPr>
        <p:spPr>
          <a:xfrm>
            <a:off x="304748" y="3939108"/>
            <a:ext cx="14447802" cy="6347892"/>
          </a:xfrm>
          <a:prstGeom prst="rect">
            <a:avLst/>
          </a:prstGeom>
          <a:ln>
            <a:solidFill>
              <a:schemeClr val="bg2"/>
            </a:solidFill>
          </a:ln>
        </p:spPr>
        <p:txBody>
          <a:bodyPr lIns="0" tIns="0" rIns="0" bIns="0" rtlCol="0" anchor="t">
            <a:spAutoFit/>
          </a:bodyPr>
          <a:lstStyle/>
          <a:p>
            <a:pPr marL="847763" lvl="1" indent="-423882" algn="l">
              <a:lnSpc>
                <a:spcPts val="5497"/>
              </a:lnSpc>
            </a:pPr>
            <a:r>
              <a:rPr lang="en-US" sz="3926" dirty="0" smtClean="0">
                <a:solidFill>
                  <a:srgbClr val="FFFFFF"/>
                </a:solidFill>
                <a:latin typeface="Canva Sans"/>
                <a:ea typeface="Canva Sans"/>
                <a:cs typeface="Canva Sans"/>
                <a:sym typeface="Canva Sans"/>
              </a:rPr>
              <a:t>📝    Requirement </a:t>
            </a:r>
            <a:r>
              <a:rPr lang="en-US" sz="3926" dirty="0">
                <a:solidFill>
                  <a:srgbClr val="FFFFFF"/>
                </a:solidFill>
                <a:latin typeface="Canva Sans"/>
                <a:ea typeface="Canva Sans"/>
                <a:cs typeface="Canva Sans"/>
                <a:sym typeface="Canva Sans"/>
              </a:rPr>
              <a:t>Scoping</a:t>
            </a:r>
          </a:p>
          <a:p>
            <a:pPr marL="847763" lvl="1" indent="-423882" algn="l">
              <a:lnSpc>
                <a:spcPts val="5497"/>
              </a:lnSpc>
            </a:pPr>
            <a:r>
              <a:rPr lang="en-US" sz="3926" dirty="0" smtClean="0">
                <a:solidFill>
                  <a:srgbClr val="FFFFFF"/>
                </a:solidFill>
                <a:latin typeface="Canva Sans"/>
                <a:ea typeface="Canva Sans"/>
                <a:cs typeface="Canva Sans"/>
                <a:sym typeface="Canva Sans"/>
              </a:rPr>
              <a:t>🌐    Data </a:t>
            </a:r>
            <a:r>
              <a:rPr lang="en-US" sz="3926" dirty="0">
                <a:solidFill>
                  <a:srgbClr val="FFFFFF"/>
                </a:solidFill>
                <a:latin typeface="Canva Sans"/>
                <a:ea typeface="Canva Sans"/>
                <a:cs typeface="Canva Sans"/>
                <a:sym typeface="Canva Sans"/>
              </a:rPr>
              <a:t>Collection using Web Scraping from </a:t>
            </a:r>
            <a:r>
              <a:rPr lang="en-US" sz="3926" u="sng" dirty="0" smtClean="0">
                <a:solidFill>
                  <a:schemeClr val="bg1"/>
                </a:solidFill>
                <a:latin typeface="Canva Sans"/>
                <a:ea typeface="Canva Sans"/>
                <a:cs typeface="Canva Sans"/>
                <a:sym typeface="Canva Sans"/>
              </a:rPr>
              <a:t>ESPN  		      Cricinfo</a:t>
            </a:r>
            <a:r>
              <a:rPr lang="en-US" sz="3926" dirty="0" smtClean="0">
                <a:solidFill>
                  <a:srgbClr val="FFFFFF"/>
                </a:solidFill>
                <a:latin typeface="Canva Sans"/>
                <a:ea typeface="Canva Sans"/>
                <a:cs typeface="Canva Sans"/>
                <a:sym typeface="Canva Sans"/>
              </a:rPr>
              <a:t> website</a:t>
            </a:r>
            <a:endParaRPr lang="en-US" sz="3926" dirty="0">
              <a:solidFill>
                <a:srgbClr val="FFFFFF"/>
              </a:solidFill>
              <a:latin typeface="Canva Sans"/>
              <a:ea typeface="Canva Sans"/>
              <a:cs typeface="Canva Sans"/>
              <a:sym typeface="Canva Sans"/>
            </a:endParaRPr>
          </a:p>
          <a:p>
            <a:pPr marL="847763" lvl="1" indent="-423882" algn="l">
              <a:lnSpc>
                <a:spcPts val="5497"/>
              </a:lnSpc>
            </a:pPr>
            <a:r>
              <a:rPr lang="en-US" sz="3926" dirty="0" smtClean="0">
                <a:solidFill>
                  <a:srgbClr val="FFFFFF"/>
                </a:solidFill>
                <a:latin typeface="Canva Sans"/>
                <a:ea typeface="Canva Sans"/>
                <a:cs typeface="Canva Sans"/>
                <a:sym typeface="Canva Sans"/>
              </a:rPr>
              <a:t>🧹    Data </a:t>
            </a:r>
            <a:r>
              <a:rPr lang="en-US" sz="3926" dirty="0">
                <a:solidFill>
                  <a:srgbClr val="FFFFFF"/>
                </a:solidFill>
                <a:latin typeface="Canva Sans"/>
                <a:ea typeface="Canva Sans"/>
                <a:cs typeface="Canva Sans"/>
                <a:sym typeface="Canva Sans"/>
              </a:rPr>
              <a:t>Cleaning and Preprocessing in Pandas</a:t>
            </a:r>
          </a:p>
          <a:p>
            <a:pPr marL="847763" lvl="1" indent="-423882" algn="l">
              <a:lnSpc>
                <a:spcPts val="5497"/>
              </a:lnSpc>
            </a:pPr>
            <a:r>
              <a:rPr lang="en-US" sz="3926" dirty="0" smtClean="0">
                <a:solidFill>
                  <a:srgbClr val="FFFFFF"/>
                </a:solidFill>
                <a:latin typeface="Canva Sans"/>
                <a:ea typeface="Canva Sans"/>
                <a:cs typeface="Canva Sans"/>
                <a:sym typeface="Canva Sans"/>
              </a:rPr>
              <a:t>🪄    Data </a:t>
            </a:r>
            <a:r>
              <a:rPr lang="en-US" sz="3926" dirty="0">
                <a:solidFill>
                  <a:srgbClr val="FFFFFF"/>
                </a:solidFill>
                <a:latin typeface="Canva Sans"/>
                <a:ea typeface="Canva Sans"/>
                <a:cs typeface="Canva Sans"/>
                <a:sym typeface="Canva Sans"/>
              </a:rPr>
              <a:t>Transformation and aggregation</a:t>
            </a:r>
          </a:p>
          <a:p>
            <a:pPr marL="847763" lvl="1" indent="-423882" algn="l">
              <a:lnSpc>
                <a:spcPts val="5497"/>
              </a:lnSpc>
            </a:pPr>
            <a:r>
              <a:rPr lang="en-US" sz="3926" dirty="0" smtClean="0">
                <a:solidFill>
                  <a:srgbClr val="FFFFFF"/>
                </a:solidFill>
                <a:latin typeface="Canva Sans"/>
                <a:ea typeface="Canva Sans"/>
                <a:cs typeface="Canva Sans"/>
                <a:sym typeface="Canva Sans"/>
              </a:rPr>
              <a:t>⚒    Data </a:t>
            </a:r>
            <a:r>
              <a:rPr lang="en-US" sz="3926" dirty="0" err="1">
                <a:solidFill>
                  <a:srgbClr val="FFFFFF"/>
                </a:solidFill>
                <a:latin typeface="Canva Sans"/>
                <a:ea typeface="Canva Sans"/>
                <a:cs typeface="Canva Sans"/>
                <a:sym typeface="Canva Sans"/>
              </a:rPr>
              <a:t>Modelling</a:t>
            </a:r>
            <a:r>
              <a:rPr lang="en-US" sz="3926" dirty="0">
                <a:solidFill>
                  <a:srgbClr val="FFFFFF"/>
                </a:solidFill>
                <a:latin typeface="Canva Sans"/>
                <a:ea typeface="Canva Sans"/>
                <a:cs typeface="Canva Sans"/>
                <a:sym typeface="Canva Sans"/>
              </a:rPr>
              <a:t> and Building Parameters in Pandas</a:t>
            </a:r>
          </a:p>
          <a:p>
            <a:pPr marL="847763" lvl="1" indent="-423882" algn="l">
              <a:lnSpc>
                <a:spcPts val="5497"/>
              </a:lnSpc>
            </a:pPr>
            <a:r>
              <a:rPr lang="en-US" sz="3926" dirty="0" smtClean="0">
                <a:solidFill>
                  <a:srgbClr val="FFFFFF"/>
                </a:solidFill>
                <a:latin typeface="Canva Sans"/>
                <a:ea typeface="Canva Sans"/>
                <a:cs typeface="Canva Sans"/>
                <a:sym typeface="Canva Sans"/>
              </a:rPr>
              <a:t>📊    Creating </a:t>
            </a:r>
            <a:r>
              <a:rPr lang="en-US" sz="3926" dirty="0">
                <a:solidFill>
                  <a:srgbClr val="FFFFFF"/>
                </a:solidFill>
                <a:latin typeface="Canva Sans"/>
                <a:ea typeface="Canva Sans"/>
                <a:cs typeface="Canva Sans"/>
                <a:sym typeface="Canva Sans"/>
              </a:rPr>
              <a:t>charts and visualizations using libraries like </a:t>
            </a:r>
            <a:r>
              <a:rPr lang="en-US" sz="3926" dirty="0" smtClean="0">
                <a:solidFill>
                  <a:srgbClr val="FFFFFF"/>
                </a:solidFill>
                <a:latin typeface="Canva Sans"/>
                <a:ea typeface="Canva Sans"/>
                <a:cs typeface="Canva Sans"/>
                <a:sym typeface="Canva Sans"/>
              </a:rPr>
              <a:t>     	      </a:t>
            </a:r>
            <a:r>
              <a:rPr lang="en-US" sz="3926" dirty="0" err="1" smtClean="0">
                <a:solidFill>
                  <a:srgbClr val="FFFFFF"/>
                </a:solidFill>
                <a:latin typeface="Canva Sans"/>
                <a:ea typeface="Canva Sans"/>
                <a:cs typeface="Canva Sans"/>
                <a:sym typeface="Canva Sans"/>
              </a:rPr>
              <a:t>seaborn</a:t>
            </a:r>
            <a:r>
              <a:rPr lang="en-US" sz="3926" dirty="0" smtClean="0">
                <a:solidFill>
                  <a:srgbClr val="FFFFFF"/>
                </a:solidFill>
                <a:latin typeface="Canva Sans"/>
                <a:ea typeface="Canva Sans"/>
                <a:cs typeface="Canva Sans"/>
                <a:sym typeface="Canva Sans"/>
              </a:rPr>
              <a:t> </a:t>
            </a:r>
            <a:r>
              <a:rPr lang="en-US" sz="3926" dirty="0">
                <a:solidFill>
                  <a:srgbClr val="FFFFFF"/>
                </a:solidFill>
                <a:latin typeface="Canva Sans"/>
                <a:ea typeface="Canva Sans"/>
                <a:cs typeface="Canva Sans"/>
                <a:sym typeface="Canva Sans"/>
              </a:rPr>
              <a:t>and </a:t>
            </a:r>
            <a:r>
              <a:rPr lang="en-US" sz="3926" dirty="0" err="1">
                <a:solidFill>
                  <a:srgbClr val="FFFFFF"/>
                </a:solidFill>
                <a:latin typeface="Canva Sans"/>
                <a:ea typeface="Canva Sans"/>
                <a:cs typeface="Canva Sans"/>
                <a:sym typeface="Canva Sans"/>
              </a:rPr>
              <a:t>matplotlib</a:t>
            </a:r>
            <a:endParaRPr lang="en-US" sz="3926" dirty="0">
              <a:solidFill>
                <a:srgbClr val="FFFFFF"/>
              </a:solidFill>
              <a:latin typeface="Canva Sans"/>
              <a:ea typeface="Canva Sans"/>
              <a:cs typeface="Canva Sans"/>
              <a:sym typeface="Canva Sans"/>
            </a:endParaRPr>
          </a:p>
          <a:p>
            <a:pPr algn="l">
              <a:lnSpc>
                <a:spcPts val="5497"/>
              </a:lnSpc>
            </a:pPr>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5481297" cy="10289105"/>
          </a:xfrm>
          <a:custGeom>
            <a:avLst/>
            <a:gdLst/>
            <a:ahLst/>
            <a:cxnLst/>
            <a:rect l="l" t="t" r="r" b="b"/>
            <a:pathLst>
              <a:path w="15481297" h="10289105">
                <a:moveTo>
                  <a:pt x="0" y="0"/>
                </a:moveTo>
                <a:lnTo>
                  <a:pt x="15481297" y="0"/>
                </a:lnTo>
                <a:lnTo>
                  <a:pt x="15481297" y="10289105"/>
                </a:lnTo>
                <a:lnTo>
                  <a:pt x="0" y="10289105"/>
                </a:lnTo>
                <a:lnTo>
                  <a:pt x="0" y="0"/>
                </a:lnTo>
                <a:close/>
              </a:path>
            </a:pathLst>
          </a:custGeom>
          <a:blipFill>
            <a:blip r:embed="rId2"/>
            <a:stretch>
              <a:fillRect/>
            </a:stretch>
          </a:blipFill>
        </p:spPr>
      </p:sp>
      <p:sp>
        <p:nvSpPr>
          <p:cNvPr id="3" name="Freeform 3"/>
          <p:cNvSpPr/>
          <p:nvPr/>
        </p:nvSpPr>
        <p:spPr>
          <a:xfrm>
            <a:off x="0" y="0"/>
            <a:ext cx="15478125" cy="10287000"/>
          </a:xfrm>
          <a:custGeom>
            <a:avLst/>
            <a:gdLst/>
            <a:ahLst/>
            <a:cxnLst/>
            <a:rect l="l" t="t" r="r" b="b"/>
            <a:pathLst>
              <a:path w="15478125" h="10287000">
                <a:moveTo>
                  <a:pt x="0" y="0"/>
                </a:moveTo>
                <a:lnTo>
                  <a:pt x="15478125" y="0"/>
                </a:lnTo>
                <a:lnTo>
                  <a:pt x="15478125" y="10287000"/>
                </a:lnTo>
                <a:lnTo>
                  <a:pt x="0" y="10287000"/>
                </a:lnTo>
                <a:lnTo>
                  <a:pt x="0" y="0"/>
                </a:lnTo>
                <a:close/>
              </a:path>
            </a:pathLst>
          </a:custGeom>
          <a:blipFill>
            <a:blip r:embed="rId3"/>
            <a:stretch>
              <a:fillRect r="-20" b="-20"/>
            </a:stretch>
          </a:blipFill>
        </p:spPr>
      </p:sp>
      <p:sp>
        <p:nvSpPr>
          <p:cNvPr id="4" name="Freeform 4"/>
          <p:cNvSpPr/>
          <p:nvPr/>
        </p:nvSpPr>
        <p:spPr>
          <a:xfrm>
            <a:off x="4144851" y="7381332"/>
            <a:ext cx="7192937" cy="28585"/>
          </a:xfrm>
          <a:custGeom>
            <a:avLst/>
            <a:gdLst/>
            <a:ahLst/>
            <a:cxnLst/>
            <a:rect l="l" t="t" r="r" b="b"/>
            <a:pathLst>
              <a:path w="7192937" h="28585">
                <a:moveTo>
                  <a:pt x="0" y="0"/>
                </a:moveTo>
                <a:lnTo>
                  <a:pt x="7192937" y="0"/>
                </a:lnTo>
                <a:lnTo>
                  <a:pt x="7192937" y="28585"/>
                </a:lnTo>
                <a:lnTo>
                  <a:pt x="0" y="28585"/>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5" name="Freeform 5"/>
          <p:cNvSpPr/>
          <p:nvPr/>
        </p:nvSpPr>
        <p:spPr>
          <a:xfrm>
            <a:off x="0" y="2126494"/>
            <a:ext cx="15478125" cy="514455"/>
          </a:xfrm>
          <a:custGeom>
            <a:avLst/>
            <a:gdLst/>
            <a:ahLst/>
            <a:cxnLst/>
            <a:rect l="l" t="t" r="r" b="b"/>
            <a:pathLst>
              <a:path w="15478125" h="514455">
                <a:moveTo>
                  <a:pt x="0" y="0"/>
                </a:moveTo>
                <a:lnTo>
                  <a:pt x="15478125" y="0"/>
                </a:lnTo>
                <a:lnTo>
                  <a:pt x="15478125" y="514455"/>
                </a:lnTo>
                <a:lnTo>
                  <a:pt x="0" y="514455"/>
                </a:lnTo>
                <a:lnTo>
                  <a:pt x="0" y="0"/>
                </a:lnTo>
                <a:close/>
              </a:path>
            </a:pathLst>
          </a:custGeom>
          <a:blipFill>
            <a:blip r:embed="rId6"/>
            <a:stretch>
              <a:fillRect/>
            </a:stretch>
          </a:blipFill>
        </p:spPr>
      </p:sp>
      <p:sp>
        <p:nvSpPr>
          <p:cNvPr id="6" name="TextBox 6"/>
          <p:cNvSpPr txBox="1"/>
          <p:nvPr/>
        </p:nvSpPr>
        <p:spPr>
          <a:xfrm>
            <a:off x="4150481" y="3435315"/>
            <a:ext cx="7364025" cy="2046082"/>
          </a:xfrm>
          <a:prstGeom prst="rect">
            <a:avLst/>
          </a:prstGeom>
        </p:spPr>
        <p:txBody>
          <a:bodyPr lIns="0" tIns="0" rIns="0" bIns="0" rtlCol="0" anchor="t">
            <a:spAutoFit/>
          </a:bodyPr>
          <a:lstStyle/>
          <a:p>
            <a:pPr algn="ctr">
              <a:lnSpc>
                <a:spcPts val="4049"/>
              </a:lnSpc>
            </a:pPr>
            <a:r>
              <a:rPr lang="en-US" sz="3300" b="1" spc="42">
                <a:solidFill>
                  <a:srgbClr val="FFFFFF"/>
                </a:solidFill>
                <a:latin typeface="Poppins Semi-Bold"/>
                <a:ea typeface="Poppins Semi-Bold"/>
                <a:cs typeface="Poppins Semi-Bold"/>
                <a:sym typeface="Poppins Semi-Bold"/>
              </a:rPr>
              <a:t>“WE DON’T KNOW THE STRENGTHS AND WEAKNESSES OF OUR OPPONENTS BUT WE NEED TO FIND THE BEST 11 FROM THIS PLANET”</a:t>
            </a:r>
          </a:p>
        </p:txBody>
      </p:sp>
      <p:sp>
        <p:nvSpPr>
          <p:cNvPr id="7" name="TextBox 7"/>
          <p:cNvSpPr txBox="1"/>
          <p:nvPr/>
        </p:nvSpPr>
        <p:spPr>
          <a:xfrm>
            <a:off x="6268774" y="1619117"/>
            <a:ext cx="3002632" cy="635051"/>
          </a:xfrm>
          <a:prstGeom prst="rect">
            <a:avLst/>
          </a:prstGeom>
        </p:spPr>
        <p:txBody>
          <a:bodyPr lIns="0" tIns="0" rIns="0" bIns="0" rtlCol="0" anchor="t">
            <a:spAutoFit/>
          </a:bodyPr>
          <a:lstStyle/>
          <a:p>
            <a:pPr algn="l">
              <a:lnSpc>
                <a:spcPts val="4946"/>
              </a:lnSpc>
            </a:pPr>
            <a:r>
              <a:rPr lang="en-US" sz="3532" spc="95">
                <a:solidFill>
                  <a:srgbClr val="FFFFFF"/>
                </a:solidFill>
                <a:latin typeface="Anton"/>
                <a:ea typeface="Anton"/>
                <a:cs typeface="Anton"/>
                <a:sym typeface="Anton"/>
              </a:rPr>
              <a:t>Project Sportan</a:t>
            </a:r>
          </a:p>
        </p:txBody>
      </p:sp>
      <p:sp>
        <p:nvSpPr>
          <p:cNvPr id="8" name="TextBox 8"/>
          <p:cNvSpPr txBox="1"/>
          <p:nvPr/>
        </p:nvSpPr>
        <p:spPr>
          <a:xfrm>
            <a:off x="5256838" y="6489697"/>
            <a:ext cx="5748414" cy="1924583"/>
          </a:xfrm>
          <a:prstGeom prst="rect">
            <a:avLst/>
          </a:prstGeom>
        </p:spPr>
        <p:txBody>
          <a:bodyPr lIns="0" tIns="0" rIns="0" bIns="0" rtlCol="0" anchor="t">
            <a:spAutoFit/>
          </a:bodyPr>
          <a:lstStyle/>
          <a:p>
            <a:pPr algn="l">
              <a:lnSpc>
                <a:spcPts val="2926"/>
              </a:lnSpc>
            </a:pPr>
            <a:r>
              <a:rPr lang="en-US" sz="2400" spc="31">
                <a:solidFill>
                  <a:srgbClr val="FFFFFF"/>
                </a:solidFill>
                <a:latin typeface="Poppins"/>
                <a:ea typeface="Poppins"/>
                <a:cs typeface="Poppins"/>
                <a:sym typeface="Poppins"/>
              </a:rPr>
              <a:t>The team should be able to score at least 180 runs on an average</a:t>
            </a:r>
          </a:p>
          <a:p>
            <a:pPr algn="l">
              <a:lnSpc>
                <a:spcPts val="6001"/>
              </a:lnSpc>
            </a:pPr>
            <a:r>
              <a:rPr lang="en-US" sz="2400" spc="31">
                <a:solidFill>
                  <a:srgbClr val="FFFFFF"/>
                </a:solidFill>
                <a:latin typeface="Poppins"/>
                <a:ea typeface="Poppins"/>
                <a:cs typeface="Poppins"/>
                <a:sym typeface="Poppins"/>
              </a:rPr>
              <a:t>They should be to defend 150 runs</a:t>
            </a:r>
          </a:p>
          <a:p>
            <a:pPr algn="l">
              <a:lnSpc>
                <a:spcPts val="1200"/>
              </a:lnSpc>
            </a:pPr>
            <a:r>
              <a:rPr lang="en-US" sz="2400" spc="31">
                <a:solidFill>
                  <a:srgbClr val="FFFFFF"/>
                </a:solidFill>
                <a:latin typeface="Poppins"/>
                <a:ea typeface="Poppins"/>
                <a:cs typeface="Poppins"/>
                <a:sym typeface="Poppins"/>
              </a:rPr>
              <a:t>on an average</a:t>
            </a:r>
          </a:p>
        </p:txBody>
      </p:sp>
      <p:sp>
        <p:nvSpPr>
          <p:cNvPr id="9" name="TextBox 9"/>
          <p:cNvSpPr txBox="1"/>
          <p:nvPr/>
        </p:nvSpPr>
        <p:spPr>
          <a:xfrm>
            <a:off x="4731654" y="6394447"/>
            <a:ext cx="311605" cy="2143218"/>
          </a:xfrm>
          <a:prstGeom prst="rect">
            <a:avLst/>
          </a:prstGeom>
        </p:spPr>
        <p:txBody>
          <a:bodyPr lIns="0" tIns="0" rIns="0" bIns="0" rtlCol="0" anchor="t">
            <a:spAutoFit/>
          </a:bodyPr>
          <a:lstStyle/>
          <a:p>
            <a:pPr algn="ctr">
              <a:lnSpc>
                <a:spcPts val="6456"/>
              </a:lnSpc>
            </a:pPr>
            <a:r>
              <a:rPr lang="en-US" sz="4611" b="1">
                <a:solidFill>
                  <a:srgbClr val="FFDE59"/>
                </a:solidFill>
                <a:latin typeface="Poppins Ultra-Bold"/>
                <a:ea typeface="Poppins Ultra-Bold"/>
                <a:cs typeface="Poppins Ultra-Bold"/>
                <a:sym typeface="Poppins Ultra-Bold"/>
              </a:rPr>
              <a:t>1</a:t>
            </a:r>
          </a:p>
          <a:p>
            <a:pPr algn="ctr">
              <a:lnSpc>
                <a:spcPts val="5918"/>
              </a:lnSpc>
            </a:pPr>
            <a:r>
              <a:rPr lang="en-US" sz="4227" b="1">
                <a:solidFill>
                  <a:srgbClr val="FFDE59"/>
                </a:solidFill>
                <a:latin typeface="Poppins Ultra-Bold"/>
                <a:ea typeface="Poppins Ultra-Bold"/>
                <a:cs typeface="Poppins Ultra-Bold"/>
                <a:sym typeface="Poppins Ultra-Bold"/>
              </a:rPr>
              <a:t>2</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Diagram 19"/>
          <p:cNvGraphicFramePr/>
          <p:nvPr/>
        </p:nvGraphicFramePr>
        <p:xfrm>
          <a:off x="4591028" y="1142972"/>
          <a:ext cx="5929354" cy="12144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1" name="Title 20"/>
          <p:cNvSpPr>
            <a:spLocks noGrp="1"/>
          </p:cNvSpPr>
          <p:nvPr>
            <p:ph type="title"/>
          </p:nvPr>
        </p:nvSpPr>
        <p:spPr>
          <a:xfrm>
            <a:off x="457200" y="274638"/>
            <a:ext cx="2205002" cy="1011210"/>
          </a:xfrm>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Step : 1</a:t>
            </a:r>
            <a:endParaRPr lang="en-US"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4" name="Content Placeholder 13"/>
          <p:cNvSpPr>
            <a:spLocks noGrp="1"/>
          </p:cNvSpPr>
          <p:nvPr>
            <p:ph idx="4294967295"/>
          </p:nvPr>
        </p:nvSpPr>
        <p:spPr>
          <a:xfrm>
            <a:off x="2662202" y="2714608"/>
            <a:ext cx="9715500" cy="6286500"/>
          </a:xfrm>
        </p:spPr>
        <p:txBody>
          <a:bodyPr>
            <a:noAutofit/>
          </a:bodyPr>
          <a:lstStyle/>
          <a:p>
            <a:pPr algn="ctr">
              <a:buNone/>
            </a:pPr>
            <a:r>
              <a:rPr lang="en-US" sz="115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Selecting the parameters to Victory.</a:t>
            </a:r>
            <a:endParaRPr lang="en-US"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478" y="0"/>
            <a:ext cx="15465647" cy="10287000"/>
          </a:xfrm>
          <a:custGeom>
            <a:avLst/>
            <a:gdLst/>
            <a:ahLst/>
            <a:cxnLst/>
            <a:rect l="l" t="t" r="r" b="b"/>
            <a:pathLst>
              <a:path w="15465647" h="10287000">
                <a:moveTo>
                  <a:pt x="0" y="0"/>
                </a:moveTo>
                <a:lnTo>
                  <a:pt x="15465647" y="0"/>
                </a:lnTo>
                <a:lnTo>
                  <a:pt x="15465647" y="10287000"/>
                </a:lnTo>
                <a:lnTo>
                  <a:pt x="0" y="10287000"/>
                </a:lnTo>
                <a:lnTo>
                  <a:pt x="0" y="0"/>
                </a:lnTo>
                <a:close/>
              </a:path>
            </a:pathLst>
          </a:custGeom>
          <a:blipFill>
            <a:blip r:embed="rId2"/>
            <a:stretch>
              <a:fillRect r="-39" b="-20"/>
            </a:stretch>
          </a:blipFill>
        </p:spPr>
      </p:sp>
      <p:sp>
        <p:nvSpPr>
          <p:cNvPr id="3" name="Freeform 3"/>
          <p:cNvSpPr/>
          <p:nvPr/>
        </p:nvSpPr>
        <p:spPr>
          <a:xfrm>
            <a:off x="3159928" y="230648"/>
            <a:ext cx="9688916" cy="9831819"/>
          </a:xfrm>
          <a:custGeom>
            <a:avLst/>
            <a:gdLst/>
            <a:ahLst/>
            <a:cxnLst/>
            <a:rect l="l" t="t" r="r" b="b"/>
            <a:pathLst>
              <a:path w="9688916" h="9831819">
                <a:moveTo>
                  <a:pt x="0" y="0"/>
                </a:moveTo>
                <a:lnTo>
                  <a:pt x="9688916" y="0"/>
                </a:lnTo>
                <a:lnTo>
                  <a:pt x="9688916" y="9831819"/>
                </a:lnTo>
                <a:lnTo>
                  <a:pt x="0" y="9831819"/>
                </a:lnTo>
                <a:lnTo>
                  <a:pt x="0" y="0"/>
                </a:lnTo>
                <a:close/>
              </a:path>
            </a:pathLst>
          </a:custGeom>
          <a:blipFill>
            <a:blip r:embed="rId3">
              <a:alphaModFix amt="2700"/>
            </a:blip>
            <a:stretch>
              <a:fillRect t="-1483" b="-1423"/>
            </a:stretch>
          </a:blipFill>
        </p:spPr>
      </p:sp>
      <p:sp>
        <p:nvSpPr>
          <p:cNvPr id="4" name="Freeform 4"/>
          <p:cNvSpPr/>
          <p:nvPr/>
        </p:nvSpPr>
        <p:spPr>
          <a:xfrm>
            <a:off x="18298" y="0"/>
            <a:ext cx="15459827" cy="10287000"/>
          </a:xfrm>
          <a:custGeom>
            <a:avLst/>
            <a:gdLst/>
            <a:ahLst/>
            <a:cxnLst/>
            <a:rect l="l" t="t" r="r" b="b"/>
            <a:pathLst>
              <a:path w="15459827" h="10287000">
                <a:moveTo>
                  <a:pt x="0" y="0"/>
                </a:moveTo>
                <a:lnTo>
                  <a:pt x="15459827" y="0"/>
                </a:lnTo>
                <a:lnTo>
                  <a:pt x="15459827" y="10287000"/>
                </a:lnTo>
                <a:lnTo>
                  <a:pt x="0" y="10287000"/>
                </a:lnTo>
                <a:lnTo>
                  <a:pt x="0" y="0"/>
                </a:lnTo>
                <a:close/>
              </a:path>
            </a:pathLst>
          </a:custGeom>
          <a:blipFill>
            <a:blip r:embed="rId4"/>
            <a:stretch>
              <a:fillRect r="-77" b="-20"/>
            </a:stretch>
          </a:blipFill>
        </p:spPr>
      </p:sp>
      <p:sp>
        <p:nvSpPr>
          <p:cNvPr id="5" name="Freeform 5"/>
          <p:cNvSpPr/>
          <p:nvPr/>
        </p:nvSpPr>
        <p:spPr>
          <a:xfrm>
            <a:off x="11545843" y="355606"/>
            <a:ext cx="3496389" cy="3563083"/>
          </a:xfrm>
          <a:custGeom>
            <a:avLst/>
            <a:gdLst/>
            <a:ahLst/>
            <a:cxnLst/>
            <a:rect l="l" t="t" r="r" b="b"/>
            <a:pathLst>
              <a:path w="3496389" h="3563083">
                <a:moveTo>
                  <a:pt x="0" y="0"/>
                </a:moveTo>
                <a:lnTo>
                  <a:pt x="3496389" y="0"/>
                </a:lnTo>
                <a:lnTo>
                  <a:pt x="3496389" y="3563084"/>
                </a:lnTo>
                <a:lnTo>
                  <a:pt x="0" y="3563084"/>
                </a:lnTo>
                <a:lnTo>
                  <a:pt x="0" y="0"/>
                </a:lnTo>
                <a:close/>
              </a:path>
            </a:pathLst>
          </a:custGeom>
          <a:blipFill>
            <a:blip r:embed="rId3"/>
            <a:stretch>
              <a:fillRect b="-2673"/>
            </a:stretch>
          </a:blipFill>
        </p:spPr>
      </p:sp>
      <p:sp>
        <p:nvSpPr>
          <p:cNvPr id="6" name="Freeform 6"/>
          <p:cNvSpPr/>
          <p:nvPr/>
        </p:nvSpPr>
        <p:spPr>
          <a:xfrm>
            <a:off x="0" y="2761117"/>
            <a:ext cx="4749946" cy="38100"/>
          </a:xfrm>
          <a:custGeom>
            <a:avLst/>
            <a:gdLst/>
            <a:ahLst/>
            <a:cxnLst/>
            <a:rect l="l" t="t" r="r" b="b"/>
            <a:pathLst>
              <a:path w="4749946" h="38100">
                <a:moveTo>
                  <a:pt x="0" y="0"/>
                </a:moveTo>
                <a:lnTo>
                  <a:pt x="4749946" y="0"/>
                </a:lnTo>
                <a:lnTo>
                  <a:pt x="4749946" y="38100"/>
                </a:lnTo>
                <a:lnTo>
                  <a:pt x="0" y="3810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7" name="Freeform 7"/>
          <p:cNvSpPr/>
          <p:nvPr/>
        </p:nvSpPr>
        <p:spPr>
          <a:xfrm>
            <a:off x="973255" y="6037783"/>
            <a:ext cx="3782349" cy="9535"/>
          </a:xfrm>
          <a:custGeom>
            <a:avLst/>
            <a:gdLst/>
            <a:ahLst/>
            <a:cxnLst/>
            <a:rect l="l" t="t" r="r" b="b"/>
            <a:pathLst>
              <a:path w="3782349" h="9535">
                <a:moveTo>
                  <a:pt x="0" y="0"/>
                </a:moveTo>
                <a:lnTo>
                  <a:pt x="3782349" y="0"/>
                </a:lnTo>
                <a:lnTo>
                  <a:pt x="3782349" y="9535"/>
                </a:lnTo>
                <a:lnTo>
                  <a:pt x="0" y="9535"/>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8" name="Freeform 8"/>
          <p:cNvSpPr/>
          <p:nvPr/>
        </p:nvSpPr>
        <p:spPr>
          <a:xfrm>
            <a:off x="973255" y="6942315"/>
            <a:ext cx="3782349" cy="9535"/>
          </a:xfrm>
          <a:custGeom>
            <a:avLst/>
            <a:gdLst/>
            <a:ahLst/>
            <a:cxnLst/>
            <a:rect l="l" t="t" r="r" b="b"/>
            <a:pathLst>
              <a:path w="3782349" h="9535">
                <a:moveTo>
                  <a:pt x="0" y="0"/>
                </a:moveTo>
                <a:lnTo>
                  <a:pt x="3782349" y="0"/>
                </a:lnTo>
                <a:lnTo>
                  <a:pt x="3782349" y="9535"/>
                </a:lnTo>
                <a:lnTo>
                  <a:pt x="0" y="9535"/>
                </a:lnTo>
                <a:lnTo>
                  <a:pt x="0" y="0"/>
                </a:lnTo>
                <a:close/>
              </a:path>
            </a:pathLst>
          </a:custGeom>
          <a:blipFill>
            <a:blip r:embed="rId7">
              <a:extLst>
                <a:ext uri="{96DAC541-7B7A-43D3-8B79-37D633B846F1}">
                  <asvg:svgBlip xmlns="" xmlns:asvg="http://schemas.microsoft.com/office/drawing/2016/SVG/main" r:embed="rId9"/>
                </a:ext>
              </a:extLst>
            </a:blip>
            <a:stretch>
              <a:fillRect/>
            </a:stretch>
          </a:blipFill>
        </p:spPr>
      </p:sp>
      <p:sp>
        <p:nvSpPr>
          <p:cNvPr id="9" name="Freeform 9"/>
          <p:cNvSpPr/>
          <p:nvPr/>
        </p:nvSpPr>
        <p:spPr>
          <a:xfrm>
            <a:off x="973255" y="7840304"/>
            <a:ext cx="3782349" cy="9535"/>
          </a:xfrm>
          <a:custGeom>
            <a:avLst/>
            <a:gdLst/>
            <a:ahLst/>
            <a:cxnLst/>
            <a:rect l="l" t="t" r="r" b="b"/>
            <a:pathLst>
              <a:path w="3782349" h="9535">
                <a:moveTo>
                  <a:pt x="0" y="0"/>
                </a:moveTo>
                <a:lnTo>
                  <a:pt x="3782349" y="0"/>
                </a:lnTo>
                <a:lnTo>
                  <a:pt x="3782349" y="9534"/>
                </a:lnTo>
                <a:lnTo>
                  <a:pt x="0" y="9534"/>
                </a:lnTo>
                <a:lnTo>
                  <a:pt x="0" y="0"/>
                </a:lnTo>
                <a:close/>
              </a:path>
            </a:pathLst>
          </a:custGeom>
          <a:blipFill>
            <a:blip r:embed="rId7">
              <a:extLst>
                <a:ext uri="{96DAC541-7B7A-43D3-8B79-37D633B846F1}">
                  <asvg:svgBlip xmlns="" xmlns:asvg="http://schemas.microsoft.com/office/drawing/2016/SVG/main" r:embed="rId10"/>
                </a:ext>
              </a:extLst>
            </a:blip>
            <a:stretch>
              <a:fillRect/>
            </a:stretch>
          </a:blipFill>
        </p:spPr>
      </p:sp>
      <p:sp>
        <p:nvSpPr>
          <p:cNvPr id="10" name="Freeform 10"/>
          <p:cNvSpPr/>
          <p:nvPr/>
        </p:nvSpPr>
        <p:spPr>
          <a:xfrm>
            <a:off x="973255" y="8744836"/>
            <a:ext cx="3782349" cy="9535"/>
          </a:xfrm>
          <a:custGeom>
            <a:avLst/>
            <a:gdLst/>
            <a:ahLst/>
            <a:cxnLst/>
            <a:rect l="l" t="t" r="r" b="b"/>
            <a:pathLst>
              <a:path w="3782349" h="9535">
                <a:moveTo>
                  <a:pt x="0" y="0"/>
                </a:moveTo>
                <a:lnTo>
                  <a:pt x="3782349" y="0"/>
                </a:lnTo>
                <a:lnTo>
                  <a:pt x="3782349" y="9534"/>
                </a:lnTo>
                <a:lnTo>
                  <a:pt x="0" y="9534"/>
                </a:lnTo>
                <a:lnTo>
                  <a:pt x="0" y="0"/>
                </a:lnTo>
                <a:close/>
              </a:path>
            </a:pathLst>
          </a:custGeom>
          <a:blipFill>
            <a:blip r:embed="rId7">
              <a:extLst>
                <a:ext uri="{96DAC541-7B7A-43D3-8B79-37D633B846F1}">
                  <asvg:svgBlip xmlns="" xmlns:asvg="http://schemas.microsoft.com/office/drawing/2016/SVG/main" r:embed="rId11"/>
                </a:ext>
              </a:extLst>
            </a:blip>
            <a:stretch>
              <a:fillRect/>
            </a:stretch>
          </a:blipFill>
        </p:spPr>
      </p:sp>
      <p:grpSp>
        <p:nvGrpSpPr>
          <p:cNvPr id="11" name="Group 11"/>
          <p:cNvGrpSpPr>
            <a:grpSpLocks noChangeAspect="1"/>
          </p:cNvGrpSpPr>
          <p:nvPr/>
        </p:nvGrpSpPr>
        <p:grpSpPr>
          <a:xfrm>
            <a:off x="973484" y="4451661"/>
            <a:ext cx="3838899" cy="695468"/>
            <a:chOff x="0" y="0"/>
            <a:chExt cx="3838905" cy="695465"/>
          </a:xfrm>
        </p:grpSpPr>
        <p:sp>
          <p:nvSpPr>
            <p:cNvPr id="12" name="Freeform 12"/>
            <p:cNvSpPr/>
            <p:nvPr/>
          </p:nvSpPr>
          <p:spPr>
            <a:xfrm>
              <a:off x="0" y="0"/>
              <a:ext cx="3838829" cy="695579"/>
            </a:xfrm>
            <a:custGeom>
              <a:avLst/>
              <a:gdLst/>
              <a:ahLst/>
              <a:cxnLst/>
              <a:rect l="l" t="t" r="r" b="b"/>
              <a:pathLst>
                <a:path w="3838829" h="695579">
                  <a:moveTo>
                    <a:pt x="143002" y="0"/>
                  </a:moveTo>
                  <a:cubicBezTo>
                    <a:pt x="105156" y="0"/>
                    <a:pt x="68707" y="15113"/>
                    <a:pt x="41910" y="42037"/>
                  </a:cubicBezTo>
                  <a:cubicBezTo>
                    <a:pt x="15113" y="68961"/>
                    <a:pt x="0" y="105410"/>
                    <a:pt x="0" y="143383"/>
                  </a:cubicBezTo>
                  <a:lnTo>
                    <a:pt x="0" y="552069"/>
                  </a:lnTo>
                  <a:cubicBezTo>
                    <a:pt x="0" y="590169"/>
                    <a:pt x="15113" y="626618"/>
                    <a:pt x="41910" y="653542"/>
                  </a:cubicBezTo>
                  <a:cubicBezTo>
                    <a:pt x="68707" y="680466"/>
                    <a:pt x="105156" y="695579"/>
                    <a:pt x="143002" y="695579"/>
                  </a:cubicBezTo>
                  <a:lnTo>
                    <a:pt x="3695827" y="695579"/>
                  </a:lnTo>
                  <a:cubicBezTo>
                    <a:pt x="3733800" y="695579"/>
                    <a:pt x="3770122" y="680466"/>
                    <a:pt x="3796919" y="653542"/>
                  </a:cubicBezTo>
                  <a:cubicBezTo>
                    <a:pt x="3823716" y="626618"/>
                    <a:pt x="3838829" y="590169"/>
                    <a:pt x="3838829" y="552069"/>
                  </a:cubicBezTo>
                  <a:lnTo>
                    <a:pt x="3838829" y="143383"/>
                  </a:lnTo>
                  <a:cubicBezTo>
                    <a:pt x="3838829" y="105283"/>
                    <a:pt x="3823716" y="68834"/>
                    <a:pt x="3796919" y="41910"/>
                  </a:cubicBezTo>
                  <a:cubicBezTo>
                    <a:pt x="3770122" y="14986"/>
                    <a:pt x="3733800" y="0"/>
                    <a:pt x="3695827" y="0"/>
                  </a:cubicBezTo>
                  <a:close/>
                </a:path>
              </a:pathLst>
            </a:custGeom>
            <a:solidFill>
              <a:srgbClr val="5600C4"/>
            </a:solidFill>
          </p:spPr>
        </p:sp>
      </p:grpSp>
      <p:sp>
        <p:nvSpPr>
          <p:cNvPr id="13" name="Freeform 13"/>
          <p:cNvSpPr/>
          <p:nvPr/>
        </p:nvSpPr>
        <p:spPr>
          <a:xfrm>
            <a:off x="4959267" y="4450613"/>
            <a:ext cx="9525" cy="5106457"/>
          </a:xfrm>
          <a:custGeom>
            <a:avLst/>
            <a:gdLst/>
            <a:ahLst/>
            <a:cxnLst/>
            <a:rect l="l" t="t" r="r" b="b"/>
            <a:pathLst>
              <a:path w="9525" h="5106457">
                <a:moveTo>
                  <a:pt x="0" y="0"/>
                </a:moveTo>
                <a:lnTo>
                  <a:pt x="9525" y="0"/>
                </a:lnTo>
                <a:lnTo>
                  <a:pt x="9525" y="5106458"/>
                </a:lnTo>
                <a:lnTo>
                  <a:pt x="0" y="5106458"/>
                </a:lnTo>
                <a:lnTo>
                  <a:pt x="0" y="0"/>
                </a:lnTo>
                <a:close/>
              </a:path>
            </a:pathLst>
          </a:custGeom>
          <a:blipFill>
            <a:blip r:embed="rId12">
              <a:extLst>
                <a:ext uri="{96DAC541-7B7A-43D3-8B79-37D633B846F1}">
                  <asvg:svgBlip xmlns="" xmlns:asvg="http://schemas.microsoft.com/office/drawing/2016/SVG/main" r:embed="rId13"/>
                </a:ext>
              </a:extLst>
            </a:blip>
            <a:stretch>
              <a:fillRect/>
            </a:stretch>
          </a:blipFill>
        </p:spPr>
      </p:sp>
      <p:sp>
        <p:nvSpPr>
          <p:cNvPr id="14" name="Freeform 14"/>
          <p:cNvSpPr/>
          <p:nvPr/>
        </p:nvSpPr>
        <p:spPr>
          <a:xfrm>
            <a:off x="5123288" y="6037783"/>
            <a:ext cx="6649898" cy="9525"/>
          </a:xfrm>
          <a:custGeom>
            <a:avLst/>
            <a:gdLst/>
            <a:ahLst/>
            <a:cxnLst/>
            <a:rect l="l" t="t" r="r" b="b"/>
            <a:pathLst>
              <a:path w="6649898" h="9525">
                <a:moveTo>
                  <a:pt x="0" y="0"/>
                </a:moveTo>
                <a:lnTo>
                  <a:pt x="6649898" y="0"/>
                </a:lnTo>
                <a:lnTo>
                  <a:pt x="6649898" y="9525"/>
                </a:lnTo>
                <a:lnTo>
                  <a:pt x="0" y="9525"/>
                </a:lnTo>
                <a:lnTo>
                  <a:pt x="0" y="0"/>
                </a:lnTo>
                <a:close/>
              </a:path>
            </a:pathLst>
          </a:custGeom>
          <a:blipFill>
            <a:blip r:embed="rId14">
              <a:extLst>
                <a:ext uri="{96DAC541-7B7A-43D3-8B79-37D633B846F1}">
                  <asvg:svgBlip xmlns="" xmlns:asvg="http://schemas.microsoft.com/office/drawing/2016/SVG/main" r:embed="rId15"/>
                </a:ext>
              </a:extLst>
            </a:blip>
            <a:stretch>
              <a:fillRect/>
            </a:stretch>
          </a:blipFill>
        </p:spPr>
      </p:sp>
      <p:sp>
        <p:nvSpPr>
          <p:cNvPr id="15" name="Freeform 15"/>
          <p:cNvSpPr/>
          <p:nvPr/>
        </p:nvSpPr>
        <p:spPr>
          <a:xfrm>
            <a:off x="5123288" y="6942325"/>
            <a:ext cx="6649898" cy="9525"/>
          </a:xfrm>
          <a:custGeom>
            <a:avLst/>
            <a:gdLst/>
            <a:ahLst/>
            <a:cxnLst/>
            <a:rect l="l" t="t" r="r" b="b"/>
            <a:pathLst>
              <a:path w="6649898" h="9525">
                <a:moveTo>
                  <a:pt x="0" y="0"/>
                </a:moveTo>
                <a:lnTo>
                  <a:pt x="6649898" y="0"/>
                </a:lnTo>
                <a:lnTo>
                  <a:pt x="6649898" y="9525"/>
                </a:lnTo>
                <a:lnTo>
                  <a:pt x="0" y="9525"/>
                </a:lnTo>
                <a:lnTo>
                  <a:pt x="0" y="0"/>
                </a:lnTo>
                <a:close/>
              </a:path>
            </a:pathLst>
          </a:custGeom>
          <a:blipFill>
            <a:blip r:embed="rId14">
              <a:extLst>
                <a:ext uri="{96DAC541-7B7A-43D3-8B79-37D633B846F1}">
                  <asvg:svgBlip xmlns="" xmlns:asvg="http://schemas.microsoft.com/office/drawing/2016/SVG/main" r:embed="rId16"/>
                </a:ext>
              </a:extLst>
            </a:blip>
            <a:stretch>
              <a:fillRect/>
            </a:stretch>
          </a:blipFill>
        </p:spPr>
      </p:sp>
      <p:sp>
        <p:nvSpPr>
          <p:cNvPr id="16" name="Freeform 16"/>
          <p:cNvSpPr/>
          <p:nvPr/>
        </p:nvSpPr>
        <p:spPr>
          <a:xfrm>
            <a:off x="5123288" y="7845066"/>
            <a:ext cx="6649898" cy="9525"/>
          </a:xfrm>
          <a:custGeom>
            <a:avLst/>
            <a:gdLst/>
            <a:ahLst/>
            <a:cxnLst/>
            <a:rect l="l" t="t" r="r" b="b"/>
            <a:pathLst>
              <a:path w="6649898" h="9525">
                <a:moveTo>
                  <a:pt x="0" y="0"/>
                </a:moveTo>
                <a:lnTo>
                  <a:pt x="6649898" y="0"/>
                </a:lnTo>
                <a:lnTo>
                  <a:pt x="6649898" y="9525"/>
                </a:lnTo>
                <a:lnTo>
                  <a:pt x="0" y="9525"/>
                </a:lnTo>
                <a:lnTo>
                  <a:pt x="0" y="0"/>
                </a:lnTo>
                <a:close/>
              </a:path>
            </a:pathLst>
          </a:custGeom>
          <a:blipFill>
            <a:blip r:embed="rId14">
              <a:extLst>
                <a:ext uri="{96DAC541-7B7A-43D3-8B79-37D633B846F1}">
                  <asvg:svgBlip xmlns="" xmlns:asvg="http://schemas.microsoft.com/office/drawing/2016/SVG/main" r:embed="rId17"/>
                </a:ext>
              </a:extLst>
            </a:blip>
            <a:stretch>
              <a:fillRect/>
            </a:stretch>
          </a:blipFill>
        </p:spPr>
      </p:sp>
      <p:sp>
        <p:nvSpPr>
          <p:cNvPr id="17" name="Freeform 17"/>
          <p:cNvSpPr/>
          <p:nvPr/>
        </p:nvSpPr>
        <p:spPr>
          <a:xfrm>
            <a:off x="5123288" y="8744836"/>
            <a:ext cx="6649898" cy="9525"/>
          </a:xfrm>
          <a:custGeom>
            <a:avLst/>
            <a:gdLst/>
            <a:ahLst/>
            <a:cxnLst/>
            <a:rect l="l" t="t" r="r" b="b"/>
            <a:pathLst>
              <a:path w="6649898" h="9525">
                <a:moveTo>
                  <a:pt x="0" y="0"/>
                </a:moveTo>
                <a:lnTo>
                  <a:pt x="6649898" y="0"/>
                </a:lnTo>
                <a:lnTo>
                  <a:pt x="6649898" y="9525"/>
                </a:lnTo>
                <a:lnTo>
                  <a:pt x="0" y="9525"/>
                </a:lnTo>
                <a:lnTo>
                  <a:pt x="0" y="0"/>
                </a:lnTo>
                <a:close/>
              </a:path>
            </a:pathLst>
          </a:custGeom>
          <a:blipFill>
            <a:blip r:embed="rId14">
              <a:extLst>
                <a:ext uri="{96DAC541-7B7A-43D3-8B79-37D633B846F1}">
                  <asvg:svgBlip xmlns="" xmlns:asvg="http://schemas.microsoft.com/office/drawing/2016/SVG/main" r:embed="rId18"/>
                </a:ext>
              </a:extLst>
            </a:blip>
            <a:stretch>
              <a:fillRect/>
            </a:stretch>
          </a:blipFill>
        </p:spPr>
      </p:sp>
      <p:grpSp>
        <p:nvGrpSpPr>
          <p:cNvPr id="18" name="Group 18"/>
          <p:cNvGrpSpPr>
            <a:grpSpLocks noChangeAspect="1"/>
          </p:cNvGrpSpPr>
          <p:nvPr/>
        </p:nvGrpSpPr>
        <p:grpSpPr>
          <a:xfrm>
            <a:off x="5129584" y="4451661"/>
            <a:ext cx="6648860" cy="695468"/>
            <a:chOff x="0" y="0"/>
            <a:chExt cx="6648869" cy="695465"/>
          </a:xfrm>
        </p:grpSpPr>
        <p:sp>
          <p:nvSpPr>
            <p:cNvPr id="19" name="Freeform 19"/>
            <p:cNvSpPr/>
            <p:nvPr/>
          </p:nvSpPr>
          <p:spPr>
            <a:xfrm>
              <a:off x="0" y="0"/>
              <a:ext cx="6648958" cy="695579"/>
            </a:xfrm>
            <a:custGeom>
              <a:avLst/>
              <a:gdLst/>
              <a:ahLst/>
              <a:cxnLst/>
              <a:rect l="l" t="t" r="r" b="b"/>
              <a:pathLst>
                <a:path w="6648958" h="695579">
                  <a:moveTo>
                    <a:pt x="143002" y="0"/>
                  </a:moveTo>
                  <a:cubicBezTo>
                    <a:pt x="105029" y="0"/>
                    <a:pt x="68707" y="15113"/>
                    <a:pt x="41910" y="42037"/>
                  </a:cubicBezTo>
                  <a:cubicBezTo>
                    <a:pt x="15113" y="68961"/>
                    <a:pt x="0" y="105410"/>
                    <a:pt x="0" y="143383"/>
                  </a:cubicBezTo>
                  <a:lnTo>
                    <a:pt x="0" y="552069"/>
                  </a:lnTo>
                  <a:cubicBezTo>
                    <a:pt x="0" y="590169"/>
                    <a:pt x="15113" y="626618"/>
                    <a:pt x="41910" y="653542"/>
                  </a:cubicBezTo>
                  <a:cubicBezTo>
                    <a:pt x="68707" y="680466"/>
                    <a:pt x="105029" y="695579"/>
                    <a:pt x="143002" y="695579"/>
                  </a:cubicBezTo>
                  <a:lnTo>
                    <a:pt x="6505956" y="695579"/>
                  </a:lnTo>
                  <a:cubicBezTo>
                    <a:pt x="6543929" y="695579"/>
                    <a:pt x="6580251" y="680466"/>
                    <a:pt x="6607049" y="653542"/>
                  </a:cubicBezTo>
                  <a:cubicBezTo>
                    <a:pt x="6633846" y="626618"/>
                    <a:pt x="6648958" y="590169"/>
                    <a:pt x="6648958" y="552069"/>
                  </a:cubicBezTo>
                  <a:lnTo>
                    <a:pt x="6648958" y="143383"/>
                  </a:lnTo>
                  <a:cubicBezTo>
                    <a:pt x="6648958" y="105283"/>
                    <a:pt x="6633845" y="68834"/>
                    <a:pt x="6607049" y="41910"/>
                  </a:cubicBezTo>
                  <a:cubicBezTo>
                    <a:pt x="6580252" y="14986"/>
                    <a:pt x="6543802" y="0"/>
                    <a:pt x="6505956" y="0"/>
                  </a:cubicBezTo>
                  <a:close/>
                </a:path>
              </a:pathLst>
            </a:custGeom>
            <a:solidFill>
              <a:srgbClr val="5600C4"/>
            </a:solidFill>
          </p:spPr>
        </p:sp>
      </p:grpSp>
      <p:sp>
        <p:nvSpPr>
          <p:cNvPr id="20" name="Freeform 20"/>
          <p:cNvSpPr/>
          <p:nvPr/>
        </p:nvSpPr>
        <p:spPr>
          <a:xfrm>
            <a:off x="11938625" y="4450613"/>
            <a:ext cx="9525" cy="5106457"/>
          </a:xfrm>
          <a:custGeom>
            <a:avLst/>
            <a:gdLst/>
            <a:ahLst/>
            <a:cxnLst/>
            <a:rect l="l" t="t" r="r" b="b"/>
            <a:pathLst>
              <a:path w="9525" h="5106457">
                <a:moveTo>
                  <a:pt x="0" y="0"/>
                </a:moveTo>
                <a:lnTo>
                  <a:pt x="9525" y="0"/>
                </a:lnTo>
                <a:lnTo>
                  <a:pt x="9525" y="5106458"/>
                </a:lnTo>
                <a:lnTo>
                  <a:pt x="0" y="5106458"/>
                </a:lnTo>
                <a:lnTo>
                  <a:pt x="0" y="0"/>
                </a:lnTo>
                <a:close/>
              </a:path>
            </a:pathLst>
          </a:custGeom>
          <a:blipFill>
            <a:blip r:embed="rId12">
              <a:extLst>
                <a:ext uri="{96DAC541-7B7A-43D3-8B79-37D633B846F1}">
                  <asvg:svgBlip xmlns="" xmlns:asvg="http://schemas.microsoft.com/office/drawing/2016/SVG/main" r:embed="rId19"/>
                </a:ext>
              </a:extLst>
            </a:blip>
            <a:stretch>
              <a:fillRect/>
            </a:stretch>
          </a:blipFill>
        </p:spPr>
      </p:sp>
      <p:sp>
        <p:nvSpPr>
          <p:cNvPr id="21" name="Freeform 21"/>
          <p:cNvSpPr/>
          <p:nvPr/>
        </p:nvSpPr>
        <p:spPr>
          <a:xfrm>
            <a:off x="12099493" y="6037774"/>
            <a:ext cx="2410330" cy="9535"/>
          </a:xfrm>
          <a:custGeom>
            <a:avLst/>
            <a:gdLst/>
            <a:ahLst/>
            <a:cxnLst/>
            <a:rect l="l" t="t" r="r" b="b"/>
            <a:pathLst>
              <a:path w="2410330" h="9535">
                <a:moveTo>
                  <a:pt x="0" y="0"/>
                </a:moveTo>
                <a:lnTo>
                  <a:pt x="2410330" y="0"/>
                </a:lnTo>
                <a:lnTo>
                  <a:pt x="2410330" y="9534"/>
                </a:lnTo>
                <a:lnTo>
                  <a:pt x="0" y="9534"/>
                </a:lnTo>
                <a:lnTo>
                  <a:pt x="0" y="0"/>
                </a:lnTo>
                <a:close/>
              </a:path>
            </a:pathLst>
          </a:custGeom>
          <a:blipFill>
            <a:blip r:embed="rId20">
              <a:extLst>
                <a:ext uri="{96DAC541-7B7A-43D3-8B79-37D633B846F1}">
                  <asvg:svgBlip xmlns="" xmlns:asvg="http://schemas.microsoft.com/office/drawing/2016/SVG/main" r:embed="rId21"/>
                </a:ext>
              </a:extLst>
            </a:blip>
            <a:stretch>
              <a:fillRect/>
            </a:stretch>
          </a:blipFill>
        </p:spPr>
      </p:sp>
      <p:sp>
        <p:nvSpPr>
          <p:cNvPr id="22" name="Freeform 22"/>
          <p:cNvSpPr/>
          <p:nvPr/>
        </p:nvSpPr>
        <p:spPr>
          <a:xfrm>
            <a:off x="12099493" y="6947078"/>
            <a:ext cx="2410330" cy="9535"/>
          </a:xfrm>
          <a:custGeom>
            <a:avLst/>
            <a:gdLst/>
            <a:ahLst/>
            <a:cxnLst/>
            <a:rect l="l" t="t" r="r" b="b"/>
            <a:pathLst>
              <a:path w="2410330" h="9535">
                <a:moveTo>
                  <a:pt x="0" y="0"/>
                </a:moveTo>
                <a:lnTo>
                  <a:pt x="2410330" y="0"/>
                </a:lnTo>
                <a:lnTo>
                  <a:pt x="2410330" y="9534"/>
                </a:lnTo>
                <a:lnTo>
                  <a:pt x="0" y="9534"/>
                </a:lnTo>
                <a:lnTo>
                  <a:pt x="0" y="0"/>
                </a:lnTo>
                <a:close/>
              </a:path>
            </a:pathLst>
          </a:custGeom>
          <a:blipFill>
            <a:blip r:embed="rId20">
              <a:extLst>
                <a:ext uri="{96DAC541-7B7A-43D3-8B79-37D633B846F1}">
                  <asvg:svgBlip xmlns="" xmlns:asvg="http://schemas.microsoft.com/office/drawing/2016/SVG/main" r:embed="rId22"/>
                </a:ext>
              </a:extLst>
            </a:blip>
            <a:stretch>
              <a:fillRect/>
            </a:stretch>
          </a:blipFill>
        </p:spPr>
      </p:sp>
      <p:sp>
        <p:nvSpPr>
          <p:cNvPr id="23" name="Freeform 23"/>
          <p:cNvSpPr/>
          <p:nvPr/>
        </p:nvSpPr>
        <p:spPr>
          <a:xfrm>
            <a:off x="12099493" y="7840294"/>
            <a:ext cx="2410330" cy="9535"/>
          </a:xfrm>
          <a:custGeom>
            <a:avLst/>
            <a:gdLst/>
            <a:ahLst/>
            <a:cxnLst/>
            <a:rect l="l" t="t" r="r" b="b"/>
            <a:pathLst>
              <a:path w="2410330" h="9535">
                <a:moveTo>
                  <a:pt x="0" y="0"/>
                </a:moveTo>
                <a:lnTo>
                  <a:pt x="2410330" y="0"/>
                </a:lnTo>
                <a:lnTo>
                  <a:pt x="2410330" y="9535"/>
                </a:lnTo>
                <a:lnTo>
                  <a:pt x="0" y="9535"/>
                </a:lnTo>
                <a:lnTo>
                  <a:pt x="0" y="0"/>
                </a:lnTo>
                <a:close/>
              </a:path>
            </a:pathLst>
          </a:custGeom>
          <a:blipFill>
            <a:blip r:embed="rId20">
              <a:extLst>
                <a:ext uri="{96DAC541-7B7A-43D3-8B79-37D633B846F1}">
                  <asvg:svgBlip xmlns="" xmlns:asvg="http://schemas.microsoft.com/office/drawing/2016/SVG/main" r:embed="rId23"/>
                </a:ext>
              </a:extLst>
            </a:blip>
            <a:stretch>
              <a:fillRect/>
            </a:stretch>
          </a:blipFill>
        </p:spPr>
      </p:sp>
      <p:sp>
        <p:nvSpPr>
          <p:cNvPr id="24" name="Freeform 24"/>
          <p:cNvSpPr/>
          <p:nvPr/>
        </p:nvSpPr>
        <p:spPr>
          <a:xfrm>
            <a:off x="12099493" y="8740073"/>
            <a:ext cx="2410330" cy="9535"/>
          </a:xfrm>
          <a:custGeom>
            <a:avLst/>
            <a:gdLst/>
            <a:ahLst/>
            <a:cxnLst/>
            <a:rect l="l" t="t" r="r" b="b"/>
            <a:pathLst>
              <a:path w="2410330" h="9535">
                <a:moveTo>
                  <a:pt x="0" y="0"/>
                </a:moveTo>
                <a:lnTo>
                  <a:pt x="2410330" y="0"/>
                </a:lnTo>
                <a:lnTo>
                  <a:pt x="2410330" y="9535"/>
                </a:lnTo>
                <a:lnTo>
                  <a:pt x="0" y="9535"/>
                </a:lnTo>
                <a:lnTo>
                  <a:pt x="0" y="0"/>
                </a:lnTo>
                <a:close/>
              </a:path>
            </a:pathLst>
          </a:custGeom>
          <a:blipFill>
            <a:blip r:embed="rId20">
              <a:extLst>
                <a:ext uri="{96DAC541-7B7A-43D3-8B79-37D633B846F1}">
                  <asvg:svgBlip xmlns="" xmlns:asvg="http://schemas.microsoft.com/office/drawing/2016/SVG/main" r:embed="rId24"/>
                </a:ext>
              </a:extLst>
            </a:blip>
            <a:stretch>
              <a:fillRect/>
            </a:stretch>
          </a:blipFill>
        </p:spPr>
      </p:sp>
      <p:grpSp>
        <p:nvGrpSpPr>
          <p:cNvPr id="25" name="Group 25"/>
          <p:cNvGrpSpPr>
            <a:grpSpLocks noChangeAspect="1"/>
          </p:cNvGrpSpPr>
          <p:nvPr/>
        </p:nvGrpSpPr>
        <p:grpSpPr>
          <a:xfrm>
            <a:off x="12099665" y="4451661"/>
            <a:ext cx="2409958" cy="695468"/>
            <a:chOff x="0" y="0"/>
            <a:chExt cx="2409952" cy="695465"/>
          </a:xfrm>
        </p:grpSpPr>
        <p:sp>
          <p:nvSpPr>
            <p:cNvPr id="26" name="Freeform 26"/>
            <p:cNvSpPr/>
            <p:nvPr/>
          </p:nvSpPr>
          <p:spPr>
            <a:xfrm>
              <a:off x="0" y="0"/>
              <a:ext cx="2409952" cy="695579"/>
            </a:xfrm>
            <a:custGeom>
              <a:avLst/>
              <a:gdLst/>
              <a:ahLst/>
              <a:cxnLst/>
              <a:rect l="l" t="t" r="r" b="b"/>
              <a:pathLst>
                <a:path w="2409952" h="695579">
                  <a:moveTo>
                    <a:pt x="143129" y="0"/>
                  </a:moveTo>
                  <a:cubicBezTo>
                    <a:pt x="105156" y="0"/>
                    <a:pt x="68707" y="15113"/>
                    <a:pt x="41910" y="42037"/>
                  </a:cubicBezTo>
                  <a:cubicBezTo>
                    <a:pt x="15113" y="68961"/>
                    <a:pt x="0" y="105410"/>
                    <a:pt x="0" y="143383"/>
                  </a:cubicBezTo>
                  <a:lnTo>
                    <a:pt x="0" y="552069"/>
                  </a:lnTo>
                  <a:cubicBezTo>
                    <a:pt x="0" y="590169"/>
                    <a:pt x="15113" y="626618"/>
                    <a:pt x="41910" y="653542"/>
                  </a:cubicBezTo>
                  <a:cubicBezTo>
                    <a:pt x="68707" y="680466"/>
                    <a:pt x="105156" y="695579"/>
                    <a:pt x="143129" y="695579"/>
                  </a:cubicBezTo>
                  <a:lnTo>
                    <a:pt x="2266823" y="695579"/>
                  </a:lnTo>
                  <a:cubicBezTo>
                    <a:pt x="2304796" y="695579"/>
                    <a:pt x="2341245" y="680466"/>
                    <a:pt x="2368042" y="653542"/>
                  </a:cubicBezTo>
                  <a:cubicBezTo>
                    <a:pt x="2394839" y="626618"/>
                    <a:pt x="2409952" y="590169"/>
                    <a:pt x="2409952" y="552069"/>
                  </a:cubicBezTo>
                  <a:lnTo>
                    <a:pt x="2409952" y="143383"/>
                  </a:lnTo>
                  <a:cubicBezTo>
                    <a:pt x="2409952" y="105283"/>
                    <a:pt x="2394839" y="68834"/>
                    <a:pt x="2368042" y="41910"/>
                  </a:cubicBezTo>
                  <a:cubicBezTo>
                    <a:pt x="2341245" y="14986"/>
                    <a:pt x="2304796" y="0"/>
                    <a:pt x="2266823" y="0"/>
                  </a:cubicBezTo>
                  <a:close/>
                </a:path>
              </a:pathLst>
            </a:custGeom>
            <a:solidFill>
              <a:srgbClr val="5600C4"/>
            </a:solidFill>
          </p:spPr>
        </p:sp>
      </p:grpSp>
      <p:sp>
        <p:nvSpPr>
          <p:cNvPr id="27" name="TextBox 27"/>
          <p:cNvSpPr txBox="1"/>
          <p:nvPr/>
        </p:nvSpPr>
        <p:spPr>
          <a:xfrm>
            <a:off x="749856" y="1012955"/>
            <a:ext cx="2817371" cy="857050"/>
          </a:xfrm>
          <a:prstGeom prst="rect">
            <a:avLst/>
          </a:prstGeom>
        </p:spPr>
        <p:txBody>
          <a:bodyPr lIns="0" tIns="0" rIns="0" bIns="0" rtlCol="0" anchor="t">
            <a:spAutoFit/>
          </a:bodyPr>
          <a:lstStyle/>
          <a:p>
            <a:pPr algn="l">
              <a:lnSpc>
                <a:spcPts val="6382"/>
              </a:lnSpc>
            </a:pPr>
            <a:r>
              <a:rPr lang="en-US" sz="4558" b="1" spc="59">
                <a:solidFill>
                  <a:srgbClr val="FAE013"/>
                </a:solidFill>
                <a:latin typeface="Poppins Semi-Bold"/>
                <a:ea typeface="Poppins Semi-Bold"/>
                <a:cs typeface="Poppins Semi-Bold"/>
                <a:sym typeface="Poppins Semi-Bold"/>
              </a:rPr>
              <a:t> OPENERS</a:t>
            </a:r>
          </a:p>
        </p:txBody>
      </p:sp>
      <p:sp>
        <p:nvSpPr>
          <p:cNvPr id="28" name="TextBox 28"/>
          <p:cNvSpPr txBox="1"/>
          <p:nvPr/>
        </p:nvSpPr>
        <p:spPr>
          <a:xfrm>
            <a:off x="1754191" y="4592136"/>
            <a:ext cx="2262464" cy="504682"/>
          </a:xfrm>
          <a:prstGeom prst="rect">
            <a:avLst/>
          </a:prstGeom>
        </p:spPr>
        <p:txBody>
          <a:bodyPr lIns="0" tIns="0" rIns="0" bIns="0" rtlCol="0" anchor="t">
            <a:spAutoFit/>
          </a:bodyPr>
          <a:lstStyle/>
          <a:p>
            <a:pPr algn="l">
              <a:lnSpc>
                <a:spcPts val="3778"/>
              </a:lnSpc>
            </a:pPr>
            <a:r>
              <a:rPr lang="en-US" sz="2699" b="1">
                <a:solidFill>
                  <a:srgbClr val="FAE013"/>
                </a:solidFill>
                <a:latin typeface="Poppins Semi-Bold"/>
                <a:ea typeface="Poppins Semi-Bold"/>
                <a:cs typeface="Poppins Semi-Bold"/>
                <a:sym typeface="Poppins Semi-Bold"/>
              </a:rPr>
              <a:t>PARAMETERS</a:t>
            </a:r>
          </a:p>
        </p:txBody>
      </p:sp>
      <p:sp>
        <p:nvSpPr>
          <p:cNvPr id="29" name="TextBox 29"/>
          <p:cNvSpPr txBox="1"/>
          <p:nvPr/>
        </p:nvSpPr>
        <p:spPr>
          <a:xfrm>
            <a:off x="7335345" y="4592136"/>
            <a:ext cx="2282390" cy="504682"/>
          </a:xfrm>
          <a:prstGeom prst="rect">
            <a:avLst/>
          </a:prstGeom>
        </p:spPr>
        <p:txBody>
          <a:bodyPr lIns="0" tIns="0" rIns="0" bIns="0" rtlCol="0" anchor="t">
            <a:spAutoFit/>
          </a:bodyPr>
          <a:lstStyle/>
          <a:p>
            <a:pPr algn="l">
              <a:lnSpc>
                <a:spcPts val="3778"/>
              </a:lnSpc>
            </a:pPr>
            <a:r>
              <a:rPr lang="en-US" sz="2699" b="1">
                <a:solidFill>
                  <a:srgbClr val="FAE013"/>
                </a:solidFill>
                <a:latin typeface="Poppins Semi-Bold"/>
                <a:ea typeface="Poppins Semi-Bold"/>
                <a:cs typeface="Poppins Semi-Bold"/>
                <a:sym typeface="Poppins Semi-Bold"/>
              </a:rPr>
              <a:t>DESCRIPTION</a:t>
            </a:r>
          </a:p>
        </p:txBody>
      </p:sp>
      <p:sp>
        <p:nvSpPr>
          <p:cNvPr id="30" name="TextBox 30"/>
          <p:cNvSpPr txBox="1"/>
          <p:nvPr/>
        </p:nvSpPr>
        <p:spPr>
          <a:xfrm>
            <a:off x="12543282" y="4592136"/>
            <a:ext cx="1549213" cy="1291066"/>
          </a:xfrm>
          <a:prstGeom prst="rect">
            <a:avLst/>
          </a:prstGeom>
        </p:spPr>
        <p:txBody>
          <a:bodyPr lIns="0" tIns="0" rIns="0" bIns="0" rtlCol="0" anchor="t">
            <a:spAutoFit/>
          </a:bodyPr>
          <a:lstStyle/>
          <a:p>
            <a:pPr algn="ctr">
              <a:lnSpc>
                <a:spcPts val="3778"/>
              </a:lnSpc>
            </a:pPr>
            <a:r>
              <a:rPr lang="en-US" sz="2699" b="1">
                <a:solidFill>
                  <a:srgbClr val="FAE013"/>
                </a:solidFill>
                <a:latin typeface="Poppins Semi-Bold"/>
                <a:ea typeface="Poppins Semi-Bold"/>
                <a:cs typeface="Poppins Semi-Bold"/>
                <a:sym typeface="Poppins Semi-Bold"/>
              </a:rPr>
              <a:t>CRITERIA</a:t>
            </a:r>
          </a:p>
          <a:p>
            <a:pPr algn="ctr">
              <a:lnSpc>
                <a:spcPts val="6250"/>
              </a:lnSpc>
            </a:pPr>
            <a:r>
              <a:rPr lang="en-US" sz="2500" b="1">
                <a:solidFill>
                  <a:srgbClr val="FFFFFF"/>
                </a:solidFill>
                <a:latin typeface="Poppins Semi-Bold"/>
                <a:ea typeface="Poppins Semi-Bold"/>
                <a:cs typeface="Poppins Semi-Bold"/>
                <a:sym typeface="Poppins Semi-Bold"/>
              </a:rPr>
              <a:t>&gt; 30</a:t>
            </a:r>
          </a:p>
        </p:txBody>
      </p:sp>
      <p:sp>
        <p:nvSpPr>
          <p:cNvPr id="31" name="TextBox 31"/>
          <p:cNvSpPr txBox="1"/>
          <p:nvPr/>
        </p:nvSpPr>
        <p:spPr>
          <a:xfrm>
            <a:off x="1102928" y="9067838"/>
            <a:ext cx="2544623" cy="473116"/>
          </a:xfrm>
          <a:prstGeom prst="rect">
            <a:avLst/>
          </a:prstGeom>
        </p:spPr>
        <p:txBody>
          <a:bodyPr lIns="0" tIns="0" rIns="0" bIns="0" rtlCol="0" anchor="t">
            <a:spAutoFit/>
          </a:bodyPr>
          <a:lstStyle/>
          <a:p>
            <a:pPr algn="l">
              <a:lnSpc>
                <a:spcPts val="3500"/>
              </a:lnSpc>
            </a:pPr>
            <a:r>
              <a:rPr lang="en-US" sz="2500" b="1">
                <a:solidFill>
                  <a:srgbClr val="FFFFFF"/>
                </a:solidFill>
                <a:latin typeface="Poppins Medium"/>
                <a:ea typeface="Poppins Medium"/>
                <a:cs typeface="Poppins Medium"/>
                <a:sym typeface="Poppins Medium"/>
              </a:rPr>
              <a:t>Batting Position</a:t>
            </a:r>
          </a:p>
        </p:txBody>
      </p:sp>
      <p:sp>
        <p:nvSpPr>
          <p:cNvPr id="32" name="TextBox 32"/>
          <p:cNvSpPr txBox="1"/>
          <p:nvPr/>
        </p:nvSpPr>
        <p:spPr>
          <a:xfrm>
            <a:off x="1102928" y="5151301"/>
            <a:ext cx="2639511" cy="730291"/>
          </a:xfrm>
          <a:prstGeom prst="rect">
            <a:avLst/>
          </a:prstGeom>
        </p:spPr>
        <p:txBody>
          <a:bodyPr lIns="0" tIns="0" rIns="0" bIns="0" rtlCol="0" anchor="t">
            <a:spAutoFit/>
          </a:bodyPr>
          <a:lstStyle/>
          <a:p>
            <a:pPr algn="l">
              <a:lnSpc>
                <a:spcPts val="6250"/>
              </a:lnSpc>
            </a:pPr>
            <a:r>
              <a:rPr lang="en-US" sz="2500" b="1">
                <a:solidFill>
                  <a:srgbClr val="FFFFFF"/>
                </a:solidFill>
                <a:latin typeface="Poppins Medium"/>
                <a:ea typeface="Poppins Medium"/>
                <a:cs typeface="Poppins Medium"/>
                <a:sym typeface="Poppins Medium"/>
              </a:rPr>
              <a:t>Batting Average</a:t>
            </a:r>
          </a:p>
        </p:txBody>
      </p:sp>
      <p:sp>
        <p:nvSpPr>
          <p:cNvPr id="33" name="TextBox 33"/>
          <p:cNvSpPr txBox="1"/>
          <p:nvPr/>
        </p:nvSpPr>
        <p:spPr>
          <a:xfrm>
            <a:off x="1102928" y="6055976"/>
            <a:ext cx="1733988" cy="730291"/>
          </a:xfrm>
          <a:prstGeom prst="rect">
            <a:avLst/>
          </a:prstGeom>
        </p:spPr>
        <p:txBody>
          <a:bodyPr lIns="0" tIns="0" rIns="0" bIns="0" rtlCol="0" anchor="t">
            <a:spAutoFit/>
          </a:bodyPr>
          <a:lstStyle/>
          <a:p>
            <a:pPr algn="l">
              <a:lnSpc>
                <a:spcPts val="6250"/>
              </a:lnSpc>
            </a:pPr>
            <a:r>
              <a:rPr lang="en-US" sz="2500" b="1">
                <a:solidFill>
                  <a:srgbClr val="FFFFFF"/>
                </a:solidFill>
                <a:latin typeface="Poppins Medium"/>
                <a:ea typeface="Poppins Medium"/>
                <a:cs typeface="Poppins Medium"/>
                <a:sym typeface="Poppins Medium"/>
              </a:rPr>
              <a:t>Strike Rate</a:t>
            </a:r>
          </a:p>
        </p:txBody>
      </p:sp>
      <p:sp>
        <p:nvSpPr>
          <p:cNvPr id="34" name="TextBox 34"/>
          <p:cNvSpPr txBox="1"/>
          <p:nvPr/>
        </p:nvSpPr>
        <p:spPr>
          <a:xfrm>
            <a:off x="1102928" y="6950983"/>
            <a:ext cx="2362286" cy="730291"/>
          </a:xfrm>
          <a:prstGeom prst="rect">
            <a:avLst/>
          </a:prstGeom>
        </p:spPr>
        <p:txBody>
          <a:bodyPr lIns="0" tIns="0" rIns="0" bIns="0" rtlCol="0" anchor="t">
            <a:spAutoFit/>
          </a:bodyPr>
          <a:lstStyle/>
          <a:p>
            <a:pPr algn="l">
              <a:lnSpc>
                <a:spcPts val="6250"/>
              </a:lnSpc>
            </a:pPr>
            <a:r>
              <a:rPr lang="en-US" sz="2500" b="1">
                <a:solidFill>
                  <a:srgbClr val="FFFFFF"/>
                </a:solidFill>
                <a:latin typeface="Poppins Medium"/>
                <a:ea typeface="Poppins Medium"/>
                <a:cs typeface="Poppins Medium"/>
                <a:sym typeface="Poppins Medium"/>
              </a:rPr>
              <a:t>Innings Batted</a:t>
            </a:r>
          </a:p>
        </p:txBody>
      </p:sp>
      <p:sp>
        <p:nvSpPr>
          <p:cNvPr id="35" name="TextBox 35"/>
          <p:cNvSpPr txBox="1"/>
          <p:nvPr/>
        </p:nvSpPr>
        <p:spPr>
          <a:xfrm>
            <a:off x="1102928" y="7858496"/>
            <a:ext cx="1924421" cy="730291"/>
          </a:xfrm>
          <a:prstGeom prst="rect">
            <a:avLst/>
          </a:prstGeom>
        </p:spPr>
        <p:txBody>
          <a:bodyPr lIns="0" tIns="0" rIns="0" bIns="0" rtlCol="0" anchor="t">
            <a:spAutoFit/>
          </a:bodyPr>
          <a:lstStyle/>
          <a:p>
            <a:pPr algn="l">
              <a:lnSpc>
                <a:spcPts val="6250"/>
              </a:lnSpc>
            </a:pPr>
            <a:r>
              <a:rPr lang="en-US" sz="2500" b="1">
                <a:solidFill>
                  <a:srgbClr val="FFFFFF"/>
                </a:solidFill>
                <a:latin typeface="Poppins Medium"/>
                <a:ea typeface="Poppins Medium"/>
                <a:cs typeface="Poppins Medium"/>
                <a:sym typeface="Poppins Medium"/>
              </a:rPr>
              <a:t>Boundary %</a:t>
            </a:r>
          </a:p>
        </p:txBody>
      </p:sp>
      <p:sp>
        <p:nvSpPr>
          <p:cNvPr id="36" name="TextBox 36"/>
          <p:cNvSpPr txBox="1"/>
          <p:nvPr/>
        </p:nvSpPr>
        <p:spPr>
          <a:xfrm>
            <a:off x="5324923" y="9067838"/>
            <a:ext cx="5273507" cy="473116"/>
          </a:xfrm>
          <a:prstGeom prst="rect">
            <a:avLst/>
          </a:prstGeom>
        </p:spPr>
        <p:txBody>
          <a:bodyPr lIns="0" tIns="0" rIns="0" bIns="0" rtlCol="0" anchor="t">
            <a:spAutoFit/>
          </a:bodyPr>
          <a:lstStyle/>
          <a:p>
            <a:pPr algn="l">
              <a:lnSpc>
                <a:spcPts val="3500"/>
              </a:lnSpc>
            </a:pPr>
            <a:r>
              <a:rPr lang="en-US" sz="2500" b="1">
                <a:solidFill>
                  <a:srgbClr val="FFFFFF"/>
                </a:solidFill>
                <a:latin typeface="Poppins Medium"/>
                <a:ea typeface="Poppins Medium"/>
                <a:cs typeface="Poppins Medium"/>
                <a:sym typeface="Poppins Medium"/>
              </a:rPr>
              <a:t>Order in which the batter played</a:t>
            </a:r>
          </a:p>
        </p:txBody>
      </p:sp>
      <p:sp>
        <p:nvSpPr>
          <p:cNvPr id="37" name="TextBox 37"/>
          <p:cNvSpPr txBox="1"/>
          <p:nvPr/>
        </p:nvSpPr>
        <p:spPr>
          <a:xfrm>
            <a:off x="5324923" y="5151301"/>
            <a:ext cx="5551380" cy="730291"/>
          </a:xfrm>
          <a:prstGeom prst="rect">
            <a:avLst/>
          </a:prstGeom>
        </p:spPr>
        <p:txBody>
          <a:bodyPr lIns="0" tIns="0" rIns="0" bIns="0" rtlCol="0" anchor="t">
            <a:spAutoFit/>
          </a:bodyPr>
          <a:lstStyle/>
          <a:p>
            <a:pPr algn="l">
              <a:lnSpc>
                <a:spcPts val="6250"/>
              </a:lnSpc>
            </a:pPr>
            <a:r>
              <a:rPr lang="en-US" sz="2500" b="1">
                <a:solidFill>
                  <a:srgbClr val="FFFFFF"/>
                </a:solidFill>
                <a:latin typeface="Poppins Medium"/>
                <a:ea typeface="Poppins Medium"/>
                <a:cs typeface="Poppins Medium"/>
                <a:sym typeface="Poppins Medium"/>
              </a:rPr>
              <a:t>Average runs scored in an innings</a:t>
            </a:r>
          </a:p>
        </p:txBody>
      </p:sp>
      <p:sp>
        <p:nvSpPr>
          <p:cNvPr id="38" name="TextBox 38"/>
          <p:cNvSpPr txBox="1"/>
          <p:nvPr/>
        </p:nvSpPr>
        <p:spPr>
          <a:xfrm>
            <a:off x="5324923" y="6055976"/>
            <a:ext cx="4950285" cy="730291"/>
          </a:xfrm>
          <a:prstGeom prst="rect">
            <a:avLst/>
          </a:prstGeom>
        </p:spPr>
        <p:txBody>
          <a:bodyPr lIns="0" tIns="0" rIns="0" bIns="0" rtlCol="0" anchor="t">
            <a:spAutoFit/>
          </a:bodyPr>
          <a:lstStyle/>
          <a:p>
            <a:pPr algn="l">
              <a:lnSpc>
                <a:spcPts val="6250"/>
              </a:lnSpc>
            </a:pPr>
            <a:r>
              <a:rPr lang="en-US" sz="2500" b="1">
                <a:solidFill>
                  <a:srgbClr val="FFFFFF"/>
                </a:solidFill>
                <a:latin typeface="Poppins Medium"/>
                <a:ea typeface="Poppins Medium"/>
                <a:cs typeface="Poppins Medium"/>
                <a:sym typeface="Poppins Medium"/>
              </a:rPr>
              <a:t>No of runs scored per 100 balls</a:t>
            </a:r>
          </a:p>
        </p:txBody>
      </p:sp>
      <p:sp>
        <p:nvSpPr>
          <p:cNvPr id="39" name="TextBox 39"/>
          <p:cNvSpPr txBox="1"/>
          <p:nvPr/>
        </p:nvSpPr>
        <p:spPr>
          <a:xfrm>
            <a:off x="5324923" y="6950983"/>
            <a:ext cx="3276876" cy="730291"/>
          </a:xfrm>
          <a:prstGeom prst="rect">
            <a:avLst/>
          </a:prstGeom>
        </p:spPr>
        <p:txBody>
          <a:bodyPr lIns="0" tIns="0" rIns="0" bIns="0" rtlCol="0" anchor="t">
            <a:spAutoFit/>
          </a:bodyPr>
          <a:lstStyle/>
          <a:p>
            <a:pPr algn="l">
              <a:lnSpc>
                <a:spcPts val="6250"/>
              </a:lnSpc>
            </a:pPr>
            <a:r>
              <a:rPr lang="en-US" sz="2500" b="1">
                <a:solidFill>
                  <a:srgbClr val="FFFFFF"/>
                </a:solidFill>
                <a:latin typeface="Poppins Medium"/>
                <a:ea typeface="Poppins Medium"/>
                <a:cs typeface="Poppins Medium"/>
                <a:sym typeface="Poppins Medium"/>
              </a:rPr>
              <a:t>Total Innings batted</a:t>
            </a:r>
          </a:p>
        </p:txBody>
      </p:sp>
      <p:sp>
        <p:nvSpPr>
          <p:cNvPr id="40" name="TextBox 40"/>
          <p:cNvSpPr txBox="1"/>
          <p:nvPr/>
        </p:nvSpPr>
        <p:spPr>
          <a:xfrm>
            <a:off x="5324923" y="7858496"/>
            <a:ext cx="4991748" cy="730291"/>
          </a:xfrm>
          <a:prstGeom prst="rect">
            <a:avLst/>
          </a:prstGeom>
        </p:spPr>
        <p:txBody>
          <a:bodyPr lIns="0" tIns="0" rIns="0" bIns="0" rtlCol="0" anchor="t">
            <a:spAutoFit/>
          </a:bodyPr>
          <a:lstStyle/>
          <a:p>
            <a:pPr algn="l">
              <a:lnSpc>
                <a:spcPts val="6250"/>
              </a:lnSpc>
            </a:pPr>
            <a:r>
              <a:rPr lang="en-US" sz="2500" b="1">
                <a:solidFill>
                  <a:srgbClr val="FFFFFF"/>
                </a:solidFill>
                <a:latin typeface="Poppins Medium"/>
                <a:ea typeface="Poppins Medium"/>
                <a:cs typeface="Poppins Medium"/>
                <a:sym typeface="Poppins Medium"/>
              </a:rPr>
              <a:t>% of runs scored in boundaries</a:t>
            </a:r>
          </a:p>
        </p:txBody>
      </p:sp>
      <p:sp>
        <p:nvSpPr>
          <p:cNvPr id="41" name="TextBox 41"/>
          <p:cNvSpPr txBox="1"/>
          <p:nvPr/>
        </p:nvSpPr>
        <p:spPr>
          <a:xfrm>
            <a:off x="12907670" y="6059472"/>
            <a:ext cx="801253" cy="730291"/>
          </a:xfrm>
          <a:prstGeom prst="rect">
            <a:avLst/>
          </a:prstGeom>
        </p:spPr>
        <p:txBody>
          <a:bodyPr lIns="0" tIns="0" rIns="0" bIns="0" rtlCol="0" anchor="t">
            <a:spAutoFit/>
          </a:bodyPr>
          <a:lstStyle/>
          <a:p>
            <a:pPr algn="l">
              <a:lnSpc>
                <a:spcPts val="6250"/>
              </a:lnSpc>
            </a:pPr>
            <a:r>
              <a:rPr lang="en-US" sz="2500" b="1">
                <a:solidFill>
                  <a:srgbClr val="FFFFFF"/>
                </a:solidFill>
                <a:latin typeface="Poppins Semi-Bold"/>
                <a:ea typeface="Poppins Semi-Bold"/>
                <a:cs typeface="Poppins Semi-Bold"/>
                <a:sym typeface="Poppins Semi-Bold"/>
              </a:rPr>
              <a:t>&gt; 140</a:t>
            </a:r>
          </a:p>
        </p:txBody>
      </p:sp>
      <p:sp>
        <p:nvSpPr>
          <p:cNvPr id="42" name="TextBox 42"/>
          <p:cNvSpPr txBox="1"/>
          <p:nvPr/>
        </p:nvSpPr>
        <p:spPr>
          <a:xfrm>
            <a:off x="13073405" y="6954479"/>
            <a:ext cx="454714" cy="730291"/>
          </a:xfrm>
          <a:prstGeom prst="rect">
            <a:avLst/>
          </a:prstGeom>
        </p:spPr>
        <p:txBody>
          <a:bodyPr lIns="0" tIns="0" rIns="0" bIns="0" rtlCol="0" anchor="t">
            <a:spAutoFit/>
          </a:bodyPr>
          <a:lstStyle/>
          <a:p>
            <a:pPr algn="l">
              <a:lnSpc>
                <a:spcPts val="6250"/>
              </a:lnSpc>
            </a:pPr>
            <a:r>
              <a:rPr lang="en-US" sz="2500" b="1">
                <a:solidFill>
                  <a:srgbClr val="FFFFFF"/>
                </a:solidFill>
                <a:latin typeface="Poppins Semi-Bold"/>
                <a:ea typeface="Poppins Semi-Bold"/>
                <a:cs typeface="Poppins Semi-Bold"/>
                <a:sym typeface="Poppins Semi-Bold"/>
              </a:rPr>
              <a:t>&gt; 3</a:t>
            </a:r>
          </a:p>
        </p:txBody>
      </p:sp>
      <p:sp>
        <p:nvSpPr>
          <p:cNvPr id="43" name="TextBox 43"/>
          <p:cNvSpPr txBox="1"/>
          <p:nvPr/>
        </p:nvSpPr>
        <p:spPr>
          <a:xfrm>
            <a:off x="12964487" y="7861983"/>
            <a:ext cx="678513" cy="730291"/>
          </a:xfrm>
          <a:prstGeom prst="rect">
            <a:avLst/>
          </a:prstGeom>
        </p:spPr>
        <p:txBody>
          <a:bodyPr lIns="0" tIns="0" rIns="0" bIns="0" rtlCol="0" anchor="t">
            <a:spAutoFit/>
          </a:bodyPr>
          <a:lstStyle/>
          <a:p>
            <a:pPr algn="l">
              <a:lnSpc>
                <a:spcPts val="6250"/>
              </a:lnSpc>
            </a:pPr>
            <a:r>
              <a:rPr lang="en-US" sz="2500" b="1">
                <a:solidFill>
                  <a:srgbClr val="FFFFFF"/>
                </a:solidFill>
                <a:latin typeface="Poppins Semi-Bold"/>
                <a:ea typeface="Poppins Semi-Bold"/>
                <a:cs typeface="Poppins Semi-Bold"/>
                <a:sym typeface="Poppins Semi-Bold"/>
              </a:rPr>
              <a:t>&gt; 50</a:t>
            </a:r>
          </a:p>
        </p:txBody>
      </p:sp>
      <p:sp>
        <p:nvSpPr>
          <p:cNvPr id="44" name="TextBox 44"/>
          <p:cNvSpPr txBox="1"/>
          <p:nvPr/>
        </p:nvSpPr>
        <p:spPr>
          <a:xfrm>
            <a:off x="13061490" y="8814159"/>
            <a:ext cx="480308" cy="730291"/>
          </a:xfrm>
          <a:prstGeom prst="rect">
            <a:avLst/>
          </a:prstGeom>
        </p:spPr>
        <p:txBody>
          <a:bodyPr lIns="0" tIns="0" rIns="0" bIns="0" rtlCol="0" anchor="t">
            <a:spAutoFit/>
          </a:bodyPr>
          <a:lstStyle/>
          <a:p>
            <a:pPr algn="l">
              <a:lnSpc>
                <a:spcPts val="6250"/>
              </a:lnSpc>
            </a:pPr>
            <a:r>
              <a:rPr lang="en-US" sz="2500" b="1">
                <a:solidFill>
                  <a:srgbClr val="FFFFFF"/>
                </a:solidFill>
                <a:latin typeface="Poppins Semi-Bold"/>
                <a:ea typeface="Poppins Semi-Bold"/>
                <a:cs typeface="Poppins Semi-Bold"/>
                <a:sym typeface="Poppins Semi-Bold"/>
              </a:rPr>
              <a:t>&lt; 4</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478" y="0"/>
            <a:ext cx="15465647" cy="10287000"/>
          </a:xfrm>
          <a:custGeom>
            <a:avLst/>
            <a:gdLst/>
            <a:ahLst/>
            <a:cxnLst/>
            <a:rect l="l" t="t" r="r" b="b"/>
            <a:pathLst>
              <a:path w="15465647" h="10287000">
                <a:moveTo>
                  <a:pt x="0" y="0"/>
                </a:moveTo>
                <a:lnTo>
                  <a:pt x="15465647" y="0"/>
                </a:lnTo>
                <a:lnTo>
                  <a:pt x="15465647" y="10287000"/>
                </a:lnTo>
                <a:lnTo>
                  <a:pt x="0" y="10287000"/>
                </a:lnTo>
                <a:lnTo>
                  <a:pt x="0" y="0"/>
                </a:lnTo>
                <a:close/>
              </a:path>
            </a:pathLst>
          </a:custGeom>
          <a:blipFill>
            <a:blip r:embed="rId2"/>
            <a:stretch>
              <a:fillRect r="-39" b="-20"/>
            </a:stretch>
          </a:blipFill>
        </p:spPr>
      </p:sp>
      <p:sp>
        <p:nvSpPr>
          <p:cNvPr id="3" name="Freeform 3"/>
          <p:cNvSpPr/>
          <p:nvPr/>
        </p:nvSpPr>
        <p:spPr>
          <a:xfrm>
            <a:off x="3851891" y="0"/>
            <a:ext cx="9117292" cy="9696221"/>
          </a:xfrm>
          <a:custGeom>
            <a:avLst/>
            <a:gdLst/>
            <a:ahLst/>
            <a:cxnLst/>
            <a:rect l="l" t="t" r="r" b="b"/>
            <a:pathLst>
              <a:path w="9117292" h="9696221">
                <a:moveTo>
                  <a:pt x="0" y="0"/>
                </a:moveTo>
                <a:lnTo>
                  <a:pt x="9117292" y="0"/>
                </a:lnTo>
                <a:lnTo>
                  <a:pt x="9117292" y="9696221"/>
                </a:lnTo>
                <a:lnTo>
                  <a:pt x="0" y="9696221"/>
                </a:lnTo>
                <a:lnTo>
                  <a:pt x="0" y="0"/>
                </a:lnTo>
                <a:close/>
              </a:path>
            </a:pathLst>
          </a:custGeom>
          <a:blipFill>
            <a:blip r:embed="rId3">
              <a:alphaModFix amt="2700"/>
            </a:blip>
            <a:stretch>
              <a:fillRect t="-10437" r="-12434"/>
            </a:stretch>
          </a:blipFill>
        </p:spPr>
      </p:sp>
      <p:sp>
        <p:nvSpPr>
          <p:cNvPr id="4" name="Freeform 4"/>
          <p:cNvSpPr/>
          <p:nvPr/>
        </p:nvSpPr>
        <p:spPr>
          <a:xfrm>
            <a:off x="18298" y="0"/>
            <a:ext cx="15459827" cy="10287000"/>
          </a:xfrm>
          <a:custGeom>
            <a:avLst/>
            <a:gdLst/>
            <a:ahLst/>
            <a:cxnLst/>
            <a:rect l="l" t="t" r="r" b="b"/>
            <a:pathLst>
              <a:path w="15459827" h="10287000">
                <a:moveTo>
                  <a:pt x="0" y="0"/>
                </a:moveTo>
                <a:lnTo>
                  <a:pt x="15459827" y="0"/>
                </a:lnTo>
                <a:lnTo>
                  <a:pt x="15459827" y="10287000"/>
                </a:lnTo>
                <a:lnTo>
                  <a:pt x="0" y="10287000"/>
                </a:lnTo>
                <a:lnTo>
                  <a:pt x="0" y="0"/>
                </a:lnTo>
                <a:close/>
              </a:path>
            </a:pathLst>
          </a:custGeom>
          <a:blipFill>
            <a:blip r:embed="rId4"/>
            <a:stretch>
              <a:fillRect t="-19" r="-77" b="-1"/>
            </a:stretch>
          </a:blipFill>
        </p:spPr>
      </p:sp>
      <p:sp>
        <p:nvSpPr>
          <p:cNvPr id="5" name="Freeform 5"/>
          <p:cNvSpPr/>
          <p:nvPr/>
        </p:nvSpPr>
        <p:spPr>
          <a:xfrm>
            <a:off x="973255" y="6037783"/>
            <a:ext cx="3782349" cy="9535"/>
          </a:xfrm>
          <a:custGeom>
            <a:avLst/>
            <a:gdLst/>
            <a:ahLst/>
            <a:cxnLst/>
            <a:rect l="l" t="t" r="r" b="b"/>
            <a:pathLst>
              <a:path w="3782349" h="9535">
                <a:moveTo>
                  <a:pt x="0" y="0"/>
                </a:moveTo>
                <a:lnTo>
                  <a:pt x="3782349" y="0"/>
                </a:lnTo>
                <a:lnTo>
                  <a:pt x="3782349" y="9535"/>
                </a:lnTo>
                <a:lnTo>
                  <a:pt x="0" y="9535"/>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6" name="Freeform 6"/>
          <p:cNvSpPr/>
          <p:nvPr/>
        </p:nvSpPr>
        <p:spPr>
          <a:xfrm>
            <a:off x="973255" y="6847046"/>
            <a:ext cx="3782349" cy="9535"/>
          </a:xfrm>
          <a:custGeom>
            <a:avLst/>
            <a:gdLst/>
            <a:ahLst/>
            <a:cxnLst/>
            <a:rect l="l" t="t" r="r" b="b"/>
            <a:pathLst>
              <a:path w="3782349" h="9535">
                <a:moveTo>
                  <a:pt x="0" y="0"/>
                </a:moveTo>
                <a:lnTo>
                  <a:pt x="3782349" y="0"/>
                </a:lnTo>
                <a:lnTo>
                  <a:pt x="3782349" y="9535"/>
                </a:lnTo>
                <a:lnTo>
                  <a:pt x="0" y="9535"/>
                </a:lnTo>
                <a:lnTo>
                  <a:pt x="0" y="0"/>
                </a:lnTo>
                <a:close/>
              </a:path>
            </a:pathLst>
          </a:custGeom>
          <a:blipFill>
            <a:blip r:embed="rId5">
              <a:extLst>
                <a:ext uri="{96DAC541-7B7A-43D3-8B79-37D633B846F1}">
                  <asvg:svgBlip xmlns="" xmlns:asvg="http://schemas.microsoft.com/office/drawing/2016/SVG/main" r:embed="rId7"/>
                </a:ext>
              </a:extLst>
            </a:blip>
            <a:stretch>
              <a:fillRect/>
            </a:stretch>
          </a:blipFill>
        </p:spPr>
      </p:sp>
      <p:sp>
        <p:nvSpPr>
          <p:cNvPr id="7" name="Freeform 7"/>
          <p:cNvSpPr/>
          <p:nvPr/>
        </p:nvSpPr>
        <p:spPr>
          <a:xfrm>
            <a:off x="973255" y="7669444"/>
            <a:ext cx="3782349" cy="9535"/>
          </a:xfrm>
          <a:custGeom>
            <a:avLst/>
            <a:gdLst/>
            <a:ahLst/>
            <a:cxnLst/>
            <a:rect l="l" t="t" r="r" b="b"/>
            <a:pathLst>
              <a:path w="3782349" h="9535">
                <a:moveTo>
                  <a:pt x="0" y="0"/>
                </a:moveTo>
                <a:lnTo>
                  <a:pt x="3782349" y="0"/>
                </a:lnTo>
                <a:lnTo>
                  <a:pt x="3782349" y="9535"/>
                </a:lnTo>
                <a:lnTo>
                  <a:pt x="0" y="9535"/>
                </a:lnTo>
                <a:lnTo>
                  <a:pt x="0" y="0"/>
                </a:lnTo>
                <a:close/>
              </a:path>
            </a:pathLst>
          </a:custGeom>
          <a:blipFill>
            <a:blip r:embed="rId5">
              <a:extLst>
                <a:ext uri="{96DAC541-7B7A-43D3-8B79-37D633B846F1}">
                  <asvg:svgBlip xmlns="" xmlns:asvg="http://schemas.microsoft.com/office/drawing/2016/SVG/main" r:embed="rId8"/>
                </a:ext>
              </a:extLst>
            </a:blip>
            <a:stretch>
              <a:fillRect/>
            </a:stretch>
          </a:blipFill>
        </p:spPr>
      </p:sp>
      <p:sp>
        <p:nvSpPr>
          <p:cNvPr id="8" name="Freeform 8"/>
          <p:cNvSpPr/>
          <p:nvPr/>
        </p:nvSpPr>
        <p:spPr>
          <a:xfrm>
            <a:off x="973255" y="8877052"/>
            <a:ext cx="3782349" cy="9535"/>
          </a:xfrm>
          <a:custGeom>
            <a:avLst/>
            <a:gdLst/>
            <a:ahLst/>
            <a:cxnLst/>
            <a:rect l="l" t="t" r="r" b="b"/>
            <a:pathLst>
              <a:path w="3782349" h="9535">
                <a:moveTo>
                  <a:pt x="0" y="0"/>
                </a:moveTo>
                <a:lnTo>
                  <a:pt x="3782349" y="0"/>
                </a:lnTo>
                <a:lnTo>
                  <a:pt x="3782349" y="9535"/>
                </a:lnTo>
                <a:lnTo>
                  <a:pt x="0" y="9535"/>
                </a:lnTo>
                <a:lnTo>
                  <a:pt x="0" y="0"/>
                </a:lnTo>
                <a:close/>
              </a:path>
            </a:pathLst>
          </a:custGeom>
          <a:blipFill>
            <a:blip r:embed="rId5">
              <a:extLst>
                <a:ext uri="{96DAC541-7B7A-43D3-8B79-37D633B846F1}">
                  <asvg:svgBlip xmlns="" xmlns:asvg="http://schemas.microsoft.com/office/drawing/2016/SVG/main" r:embed="rId9"/>
                </a:ext>
              </a:extLst>
            </a:blip>
            <a:stretch>
              <a:fillRect/>
            </a:stretch>
          </a:blipFill>
        </p:spPr>
      </p:sp>
      <p:grpSp>
        <p:nvGrpSpPr>
          <p:cNvPr id="9" name="Group 9"/>
          <p:cNvGrpSpPr>
            <a:grpSpLocks noChangeAspect="1"/>
          </p:cNvGrpSpPr>
          <p:nvPr/>
        </p:nvGrpSpPr>
        <p:grpSpPr>
          <a:xfrm>
            <a:off x="973484" y="4451661"/>
            <a:ext cx="3838899" cy="695468"/>
            <a:chOff x="0" y="0"/>
            <a:chExt cx="3838905" cy="695465"/>
          </a:xfrm>
        </p:grpSpPr>
        <p:sp>
          <p:nvSpPr>
            <p:cNvPr id="10" name="Freeform 10"/>
            <p:cNvSpPr/>
            <p:nvPr/>
          </p:nvSpPr>
          <p:spPr>
            <a:xfrm>
              <a:off x="0" y="0"/>
              <a:ext cx="3838829" cy="695579"/>
            </a:xfrm>
            <a:custGeom>
              <a:avLst/>
              <a:gdLst/>
              <a:ahLst/>
              <a:cxnLst/>
              <a:rect l="l" t="t" r="r" b="b"/>
              <a:pathLst>
                <a:path w="3838829" h="695579">
                  <a:moveTo>
                    <a:pt x="143002" y="0"/>
                  </a:moveTo>
                  <a:lnTo>
                    <a:pt x="3695827" y="0"/>
                  </a:lnTo>
                  <a:cubicBezTo>
                    <a:pt x="3733800" y="0"/>
                    <a:pt x="3770122" y="15113"/>
                    <a:pt x="3796919" y="42037"/>
                  </a:cubicBezTo>
                  <a:cubicBezTo>
                    <a:pt x="3823716" y="68961"/>
                    <a:pt x="3838829" y="105410"/>
                    <a:pt x="3838829" y="143510"/>
                  </a:cubicBezTo>
                  <a:lnTo>
                    <a:pt x="3838829" y="552069"/>
                  </a:lnTo>
                  <a:cubicBezTo>
                    <a:pt x="3838829" y="590169"/>
                    <a:pt x="3823716" y="626618"/>
                    <a:pt x="3796919" y="653542"/>
                  </a:cubicBezTo>
                  <a:cubicBezTo>
                    <a:pt x="3770122" y="680466"/>
                    <a:pt x="3733673" y="695579"/>
                    <a:pt x="3695827" y="695579"/>
                  </a:cubicBezTo>
                  <a:lnTo>
                    <a:pt x="143002" y="695579"/>
                  </a:lnTo>
                  <a:cubicBezTo>
                    <a:pt x="105029" y="695579"/>
                    <a:pt x="68707" y="680466"/>
                    <a:pt x="41910" y="653542"/>
                  </a:cubicBezTo>
                  <a:cubicBezTo>
                    <a:pt x="15113" y="626618"/>
                    <a:pt x="0" y="590042"/>
                    <a:pt x="0" y="552069"/>
                  </a:cubicBezTo>
                  <a:lnTo>
                    <a:pt x="0" y="143383"/>
                  </a:lnTo>
                  <a:cubicBezTo>
                    <a:pt x="0" y="105283"/>
                    <a:pt x="15113" y="68834"/>
                    <a:pt x="41910" y="41910"/>
                  </a:cubicBezTo>
                  <a:cubicBezTo>
                    <a:pt x="68707" y="14986"/>
                    <a:pt x="105156" y="0"/>
                    <a:pt x="143002" y="0"/>
                  </a:cubicBezTo>
                </a:path>
              </a:pathLst>
            </a:custGeom>
            <a:solidFill>
              <a:srgbClr val="5600C4"/>
            </a:solidFill>
          </p:spPr>
        </p:sp>
      </p:grpSp>
      <p:sp>
        <p:nvSpPr>
          <p:cNvPr id="11" name="Freeform 11"/>
          <p:cNvSpPr/>
          <p:nvPr/>
        </p:nvSpPr>
        <p:spPr>
          <a:xfrm>
            <a:off x="0" y="2761107"/>
            <a:ext cx="4973564" cy="38129"/>
          </a:xfrm>
          <a:custGeom>
            <a:avLst/>
            <a:gdLst/>
            <a:ahLst/>
            <a:cxnLst/>
            <a:rect l="l" t="t" r="r" b="b"/>
            <a:pathLst>
              <a:path w="4973564" h="38129">
                <a:moveTo>
                  <a:pt x="0" y="0"/>
                </a:moveTo>
                <a:lnTo>
                  <a:pt x="4973564" y="0"/>
                </a:lnTo>
                <a:lnTo>
                  <a:pt x="4973564" y="38129"/>
                </a:lnTo>
                <a:lnTo>
                  <a:pt x="0" y="38129"/>
                </a:lnTo>
                <a:lnTo>
                  <a:pt x="0" y="0"/>
                </a:lnTo>
                <a:close/>
              </a:path>
            </a:pathLst>
          </a:custGeom>
          <a:blipFill>
            <a:blip r:embed="rId10">
              <a:extLst>
                <a:ext uri="{96DAC541-7B7A-43D3-8B79-37D633B846F1}">
                  <asvg:svgBlip xmlns="" xmlns:asvg="http://schemas.microsoft.com/office/drawing/2016/SVG/main" r:embed="rId11"/>
                </a:ext>
              </a:extLst>
            </a:blip>
            <a:stretch>
              <a:fillRect/>
            </a:stretch>
          </a:blipFill>
        </p:spPr>
      </p:sp>
      <p:sp>
        <p:nvSpPr>
          <p:cNvPr id="12" name="Freeform 12"/>
          <p:cNvSpPr/>
          <p:nvPr/>
        </p:nvSpPr>
        <p:spPr>
          <a:xfrm>
            <a:off x="4959267" y="4450613"/>
            <a:ext cx="9525" cy="5106457"/>
          </a:xfrm>
          <a:custGeom>
            <a:avLst/>
            <a:gdLst/>
            <a:ahLst/>
            <a:cxnLst/>
            <a:rect l="l" t="t" r="r" b="b"/>
            <a:pathLst>
              <a:path w="9525" h="5106457">
                <a:moveTo>
                  <a:pt x="0" y="0"/>
                </a:moveTo>
                <a:lnTo>
                  <a:pt x="9525" y="0"/>
                </a:lnTo>
                <a:lnTo>
                  <a:pt x="9525" y="5106458"/>
                </a:lnTo>
                <a:lnTo>
                  <a:pt x="0" y="5106458"/>
                </a:lnTo>
                <a:lnTo>
                  <a:pt x="0" y="0"/>
                </a:lnTo>
                <a:close/>
              </a:path>
            </a:pathLst>
          </a:custGeom>
          <a:blipFill>
            <a:blip r:embed="rId12">
              <a:extLst>
                <a:ext uri="{96DAC541-7B7A-43D3-8B79-37D633B846F1}">
                  <asvg:svgBlip xmlns="" xmlns:asvg="http://schemas.microsoft.com/office/drawing/2016/SVG/main" r:embed="rId13"/>
                </a:ext>
              </a:extLst>
            </a:blip>
            <a:stretch>
              <a:fillRect/>
            </a:stretch>
          </a:blipFill>
        </p:spPr>
      </p:sp>
      <p:sp>
        <p:nvSpPr>
          <p:cNvPr id="13" name="Freeform 13"/>
          <p:cNvSpPr/>
          <p:nvPr/>
        </p:nvSpPr>
        <p:spPr>
          <a:xfrm>
            <a:off x="5123288" y="6037783"/>
            <a:ext cx="6649898" cy="9525"/>
          </a:xfrm>
          <a:custGeom>
            <a:avLst/>
            <a:gdLst/>
            <a:ahLst/>
            <a:cxnLst/>
            <a:rect l="l" t="t" r="r" b="b"/>
            <a:pathLst>
              <a:path w="6649898" h="9525">
                <a:moveTo>
                  <a:pt x="0" y="0"/>
                </a:moveTo>
                <a:lnTo>
                  <a:pt x="6649898" y="0"/>
                </a:lnTo>
                <a:lnTo>
                  <a:pt x="6649898" y="9525"/>
                </a:lnTo>
                <a:lnTo>
                  <a:pt x="0" y="9525"/>
                </a:lnTo>
                <a:lnTo>
                  <a:pt x="0" y="0"/>
                </a:lnTo>
                <a:close/>
              </a:path>
            </a:pathLst>
          </a:custGeom>
          <a:blipFill>
            <a:blip r:embed="rId14">
              <a:extLst>
                <a:ext uri="{96DAC541-7B7A-43D3-8B79-37D633B846F1}">
                  <asvg:svgBlip xmlns="" xmlns:asvg="http://schemas.microsoft.com/office/drawing/2016/SVG/main" r:embed="rId15"/>
                </a:ext>
              </a:extLst>
            </a:blip>
            <a:stretch>
              <a:fillRect/>
            </a:stretch>
          </a:blipFill>
        </p:spPr>
      </p:sp>
      <p:sp>
        <p:nvSpPr>
          <p:cNvPr id="14" name="Freeform 14"/>
          <p:cNvSpPr/>
          <p:nvPr/>
        </p:nvSpPr>
        <p:spPr>
          <a:xfrm>
            <a:off x="5123288" y="6847056"/>
            <a:ext cx="6649898" cy="9525"/>
          </a:xfrm>
          <a:custGeom>
            <a:avLst/>
            <a:gdLst/>
            <a:ahLst/>
            <a:cxnLst/>
            <a:rect l="l" t="t" r="r" b="b"/>
            <a:pathLst>
              <a:path w="6649898" h="9525">
                <a:moveTo>
                  <a:pt x="0" y="0"/>
                </a:moveTo>
                <a:lnTo>
                  <a:pt x="6649898" y="0"/>
                </a:lnTo>
                <a:lnTo>
                  <a:pt x="6649898" y="9525"/>
                </a:lnTo>
                <a:lnTo>
                  <a:pt x="0" y="9525"/>
                </a:lnTo>
                <a:lnTo>
                  <a:pt x="0" y="0"/>
                </a:lnTo>
                <a:close/>
              </a:path>
            </a:pathLst>
          </a:custGeom>
          <a:blipFill>
            <a:blip r:embed="rId14">
              <a:extLst>
                <a:ext uri="{96DAC541-7B7A-43D3-8B79-37D633B846F1}">
                  <asvg:svgBlip xmlns="" xmlns:asvg="http://schemas.microsoft.com/office/drawing/2016/SVG/main" r:embed="rId16"/>
                </a:ext>
              </a:extLst>
            </a:blip>
            <a:stretch>
              <a:fillRect/>
            </a:stretch>
          </a:blipFill>
        </p:spPr>
      </p:sp>
      <p:sp>
        <p:nvSpPr>
          <p:cNvPr id="15" name="Freeform 15"/>
          <p:cNvSpPr/>
          <p:nvPr/>
        </p:nvSpPr>
        <p:spPr>
          <a:xfrm>
            <a:off x="5123288" y="7674207"/>
            <a:ext cx="6649898" cy="9525"/>
          </a:xfrm>
          <a:custGeom>
            <a:avLst/>
            <a:gdLst/>
            <a:ahLst/>
            <a:cxnLst/>
            <a:rect l="l" t="t" r="r" b="b"/>
            <a:pathLst>
              <a:path w="6649898" h="9525">
                <a:moveTo>
                  <a:pt x="0" y="0"/>
                </a:moveTo>
                <a:lnTo>
                  <a:pt x="6649898" y="0"/>
                </a:lnTo>
                <a:lnTo>
                  <a:pt x="6649898" y="9525"/>
                </a:lnTo>
                <a:lnTo>
                  <a:pt x="0" y="9525"/>
                </a:lnTo>
                <a:lnTo>
                  <a:pt x="0" y="0"/>
                </a:lnTo>
                <a:close/>
              </a:path>
            </a:pathLst>
          </a:custGeom>
          <a:blipFill>
            <a:blip r:embed="rId14">
              <a:extLst>
                <a:ext uri="{96DAC541-7B7A-43D3-8B79-37D633B846F1}">
                  <asvg:svgBlip xmlns="" xmlns:asvg="http://schemas.microsoft.com/office/drawing/2016/SVG/main" r:embed="rId17"/>
                </a:ext>
              </a:extLst>
            </a:blip>
            <a:stretch>
              <a:fillRect/>
            </a:stretch>
          </a:blipFill>
        </p:spPr>
      </p:sp>
      <p:sp>
        <p:nvSpPr>
          <p:cNvPr id="16" name="Freeform 16"/>
          <p:cNvSpPr/>
          <p:nvPr/>
        </p:nvSpPr>
        <p:spPr>
          <a:xfrm>
            <a:off x="5123288" y="8877052"/>
            <a:ext cx="6649898" cy="9525"/>
          </a:xfrm>
          <a:custGeom>
            <a:avLst/>
            <a:gdLst/>
            <a:ahLst/>
            <a:cxnLst/>
            <a:rect l="l" t="t" r="r" b="b"/>
            <a:pathLst>
              <a:path w="6649898" h="9525">
                <a:moveTo>
                  <a:pt x="0" y="0"/>
                </a:moveTo>
                <a:lnTo>
                  <a:pt x="6649898" y="0"/>
                </a:lnTo>
                <a:lnTo>
                  <a:pt x="6649898" y="9525"/>
                </a:lnTo>
                <a:lnTo>
                  <a:pt x="0" y="9525"/>
                </a:lnTo>
                <a:lnTo>
                  <a:pt x="0" y="0"/>
                </a:lnTo>
                <a:close/>
              </a:path>
            </a:pathLst>
          </a:custGeom>
          <a:blipFill>
            <a:blip r:embed="rId14">
              <a:extLst>
                <a:ext uri="{96DAC541-7B7A-43D3-8B79-37D633B846F1}">
                  <asvg:svgBlip xmlns="" xmlns:asvg="http://schemas.microsoft.com/office/drawing/2016/SVG/main" r:embed="rId18"/>
                </a:ext>
              </a:extLst>
            </a:blip>
            <a:stretch>
              <a:fillRect/>
            </a:stretch>
          </a:blipFill>
        </p:spPr>
      </p:sp>
      <p:grpSp>
        <p:nvGrpSpPr>
          <p:cNvPr id="17" name="Group 17"/>
          <p:cNvGrpSpPr>
            <a:grpSpLocks noChangeAspect="1"/>
          </p:cNvGrpSpPr>
          <p:nvPr/>
        </p:nvGrpSpPr>
        <p:grpSpPr>
          <a:xfrm>
            <a:off x="5129584" y="4451661"/>
            <a:ext cx="6648860" cy="695468"/>
            <a:chOff x="0" y="0"/>
            <a:chExt cx="6648869" cy="695465"/>
          </a:xfrm>
        </p:grpSpPr>
        <p:sp>
          <p:nvSpPr>
            <p:cNvPr id="18" name="Freeform 18"/>
            <p:cNvSpPr/>
            <p:nvPr/>
          </p:nvSpPr>
          <p:spPr>
            <a:xfrm>
              <a:off x="0" y="0"/>
              <a:ext cx="6648958" cy="695579"/>
            </a:xfrm>
            <a:custGeom>
              <a:avLst/>
              <a:gdLst/>
              <a:ahLst/>
              <a:cxnLst/>
              <a:rect l="l" t="t" r="r" b="b"/>
              <a:pathLst>
                <a:path w="6648958" h="695579">
                  <a:moveTo>
                    <a:pt x="143002" y="0"/>
                  </a:moveTo>
                  <a:lnTo>
                    <a:pt x="6505956" y="0"/>
                  </a:lnTo>
                  <a:cubicBezTo>
                    <a:pt x="6543929" y="0"/>
                    <a:pt x="6580251" y="15113"/>
                    <a:pt x="6607049" y="42037"/>
                  </a:cubicBezTo>
                  <a:cubicBezTo>
                    <a:pt x="6633846" y="68961"/>
                    <a:pt x="6648958" y="105410"/>
                    <a:pt x="6648958" y="143510"/>
                  </a:cubicBezTo>
                  <a:lnTo>
                    <a:pt x="6648958" y="552069"/>
                  </a:lnTo>
                  <a:cubicBezTo>
                    <a:pt x="6648958" y="590169"/>
                    <a:pt x="6633845" y="626618"/>
                    <a:pt x="6607049" y="653542"/>
                  </a:cubicBezTo>
                  <a:cubicBezTo>
                    <a:pt x="6580252" y="680466"/>
                    <a:pt x="6543930" y="695579"/>
                    <a:pt x="6505956" y="695579"/>
                  </a:cubicBezTo>
                  <a:lnTo>
                    <a:pt x="143002" y="695579"/>
                  </a:lnTo>
                  <a:cubicBezTo>
                    <a:pt x="105029" y="695579"/>
                    <a:pt x="68707" y="680466"/>
                    <a:pt x="41910" y="653542"/>
                  </a:cubicBezTo>
                  <a:cubicBezTo>
                    <a:pt x="15113" y="626618"/>
                    <a:pt x="0" y="590042"/>
                    <a:pt x="0" y="552069"/>
                  </a:cubicBezTo>
                  <a:lnTo>
                    <a:pt x="0" y="143383"/>
                  </a:lnTo>
                  <a:cubicBezTo>
                    <a:pt x="0" y="105283"/>
                    <a:pt x="15113" y="68834"/>
                    <a:pt x="41910" y="41910"/>
                  </a:cubicBezTo>
                  <a:cubicBezTo>
                    <a:pt x="68707" y="14986"/>
                    <a:pt x="105029" y="0"/>
                    <a:pt x="143002" y="0"/>
                  </a:cubicBezTo>
                </a:path>
              </a:pathLst>
            </a:custGeom>
            <a:solidFill>
              <a:srgbClr val="5600C4"/>
            </a:solidFill>
          </p:spPr>
        </p:sp>
      </p:grpSp>
      <p:sp>
        <p:nvSpPr>
          <p:cNvPr id="19" name="Freeform 19"/>
          <p:cNvSpPr/>
          <p:nvPr/>
        </p:nvSpPr>
        <p:spPr>
          <a:xfrm>
            <a:off x="11938625" y="4450613"/>
            <a:ext cx="9525" cy="5106457"/>
          </a:xfrm>
          <a:custGeom>
            <a:avLst/>
            <a:gdLst/>
            <a:ahLst/>
            <a:cxnLst/>
            <a:rect l="l" t="t" r="r" b="b"/>
            <a:pathLst>
              <a:path w="9525" h="5106457">
                <a:moveTo>
                  <a:pt x="0" y="0"/>
                </a:moveTo>
                <a:lnTo>
                  <a:pt x="9525" y="0"/>
                </a:lnTo>
                <a:lnTo>
                  <a:pt x="9525" y="5106458"/>
                </a:lnTo>
                <a:lnTo>
                  <a:pt x="0" y="5106458"/>
                </a:lnTo>
                <a:lnTo>
                  <a:pt x="0" y="0"/>
                </a:lnTo>
                <a:close/>
              </a:path>
            </a:pathLst>
          </a:custGeom>
          <a:blipFill>
            <a:blip r:embed="rId12">
              <a:extLst>
                <a:ext uri="{96DAC541-7B7A-43D3-8B79-37D633B846F1}">
                  <asvg:svgBlip xmlns="" xmlns:asvg="http://schemas.microsoft.com/office/drawing/2016/SVG/main" r:embed="rId19"/>
                </a:ext>
              </a:extLst>
            </a:blip>
            <a:stretch>
              <a:fillRect/>
            </a:stretch>
          </a:blipFill>
        </p:spPr>
      </p:sp>
      <p:sp>
        <p:nvSpPr>
          <p:cNvPr id="20" name="Freeform 20"/>
          <p:cNvSpPr/>
          <p:nvPr/>
        </p:nvSpPr>
        <p:spPr>
          <a:xfrm>
            <a:off x="12099493" y="6037783"/>
            <a:ext cx="2410330" cy="9535"/>
          </a:xfrm>
          <a:custGeom>
            <a:avLst/>
            <a:gdLst/>
            <a:ahLst/>
            <a:cxnLst/>
            <a:rect l="l" t="t" r="r" b="b"/>
            <a:pathLst>
              <a:path w="2410330" h="9535">
                <a:moveTo>
                  <a:pt x="0" y="0"/>
                </a:moveTo>
                <a:lnTo>
                  <a:pt x="2410330" y="0"/>
                </a:lnTo>
                <a:lnTo>
                  <a:pt x="2410330" y="9535"/>
                </a:lnTo>
                <a:lnTo>
                  <a:pt x="0" y="9535"/>
                </a:lnTo>
                <a:lnTo>
                  <a:pt x="0" y="0"/>
                </a:lnTo>
                <a:close/>
              </a:path>
            </a:pathLst>
          </a:custGeom>
          <a:blipFill>
            <a:blip r:embed="rId20">
              <a:extLst>
                <a:ext uri="{96DAC541-7B7A-43D3-8B79-37D633B846F1}">
                  <asvg:svgBlip xmlns="" xmlns:asvg="http://schemas.microsoft.com/office/drawing/2016/SVG/main" r:embed="rId21"/>
                </a:ext>
              </a:extLst>
            </a:blip>
            <a:stretch>
              <a:fillRect/>
            </a:stretch>
          </a:blipFill>
        </p:spPr>
      </p:sp>
      <p:sp>
        <p:nvSpPr>
          <p:cNvPr id="21" name="Freeform 21"/>
          <p:cNvSpPr/>
          <p:nvPr/>
        </p:nvSpPr>
        <p:spPr>
          <a:xfrm>
            <a:off x="12099493" y="6851809"/>
            <a:ext cx="2410330" cy="9535"/>
          </a:xfrm>
          <a:custGeom>
            <a:avLst/>
            <a:gdLst/>
            <a:ahLst/>
            <a:cxnLst/>
            <a:rect l="l" t="t" r="r" b="b"/>
            <a:pathLst>
              <a:path w="2410330" h="9535">
                <a:moveTo>
                  <a:pt x="0" y="0"/>
                </a:moveTo>
                <a:lnTo>
                  <a:pt x="2410330" y="0"/>
                </a:lnTo>
                <a:lnTo>
                  <a:pt x="2410330" y="9534"/>
                </a:lnTo>
                <a:lnTo>
                  <a:pt x="0" y="9534"/>
                </a:lnTo>
                <a:lnTo>
                  <a:pt x="0" y="0"/>
                </a:lnTo>
                <a:close/>
              </a:path>
            </a:pathLst>
          </a:custGeom>
          <a:blipFill>
            <a:blip r:embed="rId20">
              <a:extLst>
                <a:ext uri="{96DAC541-7B7A-43D3-8B79-37D633B846F1}">
                  <asvg:svgBlip xmlns="" xmlns:asvg="http://schemas.microsoft.com/office/drawing/2016/SVG/main" r:embed="rId22"/>
                </a:ext>
              </a:extLst>
            </a:blip>
            <a:stretch>
              <a:fillRect/>
            </a:stretch>
          </a:blipFill>
        </p:spPr>
      </p:sp>
      <p:sp>
        <p:nvSpPr>
          <p:cNvPr id="22" name="Freeform 22"/>
          <p:cNvSpPr/>
          <p:nvPr/>
        </p:nvSpPr>
        <p:spPr>
          <a:xfrm>
            <a:off x="12099493" y="7669444"/>
            <a:ext cx="2410330" cy="9535"/>
          </a:xfrm>
          <a:custGeom>
            <a:avLst/>
            <a:gdLst/>
            <a:ahLst/>
            <a:cxnLst/>
            <a:rect l="l" t="t" r="r" b="b"/>
            <a:pathLst>
              <a:path w="2410330" h="9535">
                <a:moveTo>
                  <a:pt x="0" y="0"/>
                </a:moveTo>
                <a:lnTo>
                  <a:pt x="2410330" y="0"/>
                </a:lnTo>
                <a:lnTo>
                  <a:pt x="2410330" y="9535"/>
                </a:lnTo>
                <a:lnTo>
                  <a:pt x="0" y="9535"/>
                </a:lnTo>
                <a:lnTo>
                  <a:pt x="0" y="0"/>
                </a:lnTo>
                <a:close/>
              </a:path>
            </a:pathLst>
          </a:custGeom>
          <a:blipFill>
            <a:blip r:embed="rId20">
              <a:extLst>
                <a:ext uri="{96DAC541-7B7A-43D3-8B79-37D633B846F1}">
                  <asvg:svgBlip xmlns="" xmlns:asvg="http://schemas.microsoft.com/office/drawing/2016/SVG/main" r:embed="rId23"/>
                </a:ext>
              </a:extLst>
            </a:blip>
            <a:stretch>
              <a:fillRect/>
            </a:stretch>
          </a:blipFill>
        </p:spPr>
      </p:sp>
      <p:sp>
        <p:nvSpPr>
          <p:cNvPr id="23" name="Freeform 23"/>
          <p:cNvSpPr/>
          <p:nvPr/>
        </p:nvSpPr>
        <p:spPr>
          <a:xfrm>
            <a:off x="12099493" y="8872280"/>
            <a:ext cx="2410330" cy="9535"/>
          </a:xfrm>
          <a:custGeom>
            <a:avLst/>
            <a:gdLst/>
            <a:ahLst/>
            <a:cxnLst/>
            <a:rect l="l" t="t" r="r" b="b"/>
            <a:pathLst>
              <a:path w="2410330" h="9535">
                <a:moveTo>
                  <a:pt x="0" y="0"/>
                </a:moveTo>
                <a:lnTo>
                  <a:pt x="2410330" y="0"/>
                </a:lnTo>
                <a:lnTo>
                  <a:pt x="2410330" y="9535"/>
                </a:lnTo>
                <a:lnTo>
                  <a:pt x="0" y="9535"/>
                </a:lnTo>
                <a:lnTo>
                  <a:pt x="0" y="0"/>
                </a:lnTo>
                <a:close/>
              </a:path>
            </a:pathLst>
          </a:custGeom>
          <a:blipFill>
            <a:blip r:embed="rId20">
              <a:extLst>
                <a:ext uri="{96DAC541-7B7A-43D3-8B79-37D633B846F1}">
                  <asvg:svgBlip xmlns="" xmlns:asvg="http://schemas.microsoft.com/office/drawing/2016/SVG/main" r:embed="rId24"/>
                </a:ext>
              </a:extLst>
            </a:blip>
            <a:stretch>
              <a:fillRect/>
            </a:stretch>
          </a:blipFill>
        </p:spPr>
      </p:sp>
      <p:grpSp>
        <p:nvGrpSpPr>
          <p:cNvPr id="24" name="Group 24"/>
          <p:cNvGrpSpPr>
            <a:grpSpLocks noChangeAspect="1"/>
          </p:cNvGrpSpPr>
          <p:nvPr/>
        </p:nvGrpSpPr>
        <p:grpSpPr>
          <a:xfrm>
            <a:off x="12099665" y="4451661"/>
            <a:ext cx="2409958" cy="695468"/>
            <a:chOff x="0" y="0"/>
            <a:chExt cx="2409952" cy="695465"/>
          </a:xfrm>
        </p:grpSpPr>
        <p:sp>
          <p:nvSpPr>
            <p:cNvPr id="25" name="Freeform 25"/>
            <p:cNvSpPr/>
            <p:nvPr/>
          </p:nvSpPr>
          <p:spPr>
            <a:xfrm>
              <a:off x="0" y="0"/>
              <a:ext cx="2409952" cy="695579"/>
            </a:xfrm>
            <a:custGeom>
              <a:avLst/>
              <a:gdLst/>
              <a:ahLst/>
              <a:cxnLst/>
              <a:rect l="l" t="t" r="r" b="b"/>
              <a:pathLst>
                <a:path w="2409952" h="695579">
                  <a:moveTo>
                    <a:pt x="143129" y="0"/>
                  </a:moveTo>
                  <a:lnTo>
                    <a:pt x="2266823" y="0"/>
                  </a:lnTo>
                  <a:cubicBezTo>
                    <a:pt x="2304796" y="0"/>
                    <a:pt x="2341245" y="15113"/>
                    <a:pt x="2368042" y="42037"/>
                  </a:cubicBezTo>
                  <a:cubicBezTo>
                    <a:pt x="2394839" y="68961"/>
                    <a:pt x="2409952" y="105410"/>
                    <a:pt x="2409952" y="143510"/>
                  </a:cubicBezTo>
                  <a:lnTo>
                    <a:pt x="2409952" y="552069"/>
                  </a:lnTo>
                  <a:cubicBezTo>
                    <a:pt x="2409952" y="590169"/>
                    <a:pt x="2394839" y="626618"/>
                    <a:pt x="2368042" y="653542"/>
                  </a:cubicBezTo>
                  <a:cubicBezTo>
                    <a:pt x="2341245" y="680466"/>
                    <a:pt x="2304796" y="695579"/>
                    <a:pt x="2266823" y="695579"/>
                  </a:cubicBezTo>
                  <a:lnTo>
                    <a:pt x="143129" y="695579"/>
                  </a:lnTo>
                  <a:cubicBezTo>
                    <a:pt x="105156" y="695579"/>
                    <a:pt x="68707" y="680466"/>
                    <a:pt x="41910" y="653542"/>
                  </a:cubicBezTo>
                  <a:cubicBezTo>
                    <a:pt x="15113" y="626618"/>
                    <a:pt x="0" y="590042"/>
                    <a:pt x="0" y="552069"/>
                  </a:cubicBezTo>
                  <a:lnTo>
                    <a:pt x="0" y="143383"/>
                  </a:lnTo>
                  <a:cubicBezTo>
                    <a:pt x="0" y="105283"/>
                    <a:pt x="15113" y="68834"/>
                    <a:pt x="41910" y="41910"/>
                  </a:cubicBezTo>
                  <a:cubicBezTo>
                    <a:pt x="68707" y="14986"/>
                    <a:pt x="105156" y="0"/>
                    <a:pt x="143129" y="0"/>
                  </a:cubicBezTo>
                </a:path>
              </a:pathLst>
            </a:custGeom>
            <a:solidFill>
              <a:srgbClr val="5600C4"/>
            </a:solidFill>
          </p:spPr>
        </p:sp>
      </p:grpSp>
      <p:sp>
        <p:nvSpPr>
          <p:cNvPr id="26" name="Freeform 26"/>
          <p:cNvSpPr/>
          <p:nvPr/>
        </p:nvSpPr>
        <p:spPr>
          <a:xfrm>
            <a:off x="11440963" y="148076"/>
            <a:ext cx="3705987" cy="3877466"/>
          </a:xfrm>
          <a:custGeom>
            <a:avLst/>
            <a:gdLst/>
            <a:ahLst/>
            <a:cxnLst/>
            <a:rect l="l" t="t" r="r" b="b"/>
            <a:pathLst>
              <a:path w="3705987" h="3877466">
                <a:moveTo>
                  <a:pt x="0" y="0"/>
                </a:moveTo>
                <a:lnTo>
                  <a:pt x="3705987" y="0"/>
                </a:lnTo>
                <a:lnTo>
                  <a:pt x="3705987" y="3877465"/>
                </a:lnTo>
                <a:lnTo>
                  <a:pt x="0" y="3877465"/>
                </a:lnTo>
                <a:lnTo>
                  <a:pt x="0" y="0"/>
                </a:lnTo>
                <a:close/>
              </a:path>
            </a:pathLst>
          </a:custGeom>
          <a:blipFill>
            <a:blip r:embed="rId3"/>
            <a:stretch>
              <a:fillRect/>
            </a:stretch>
          </a:blipFill>
        </p:spPr>
      </p:sp>
      <p:sp>
        <p:nvSpPr>
          <p:cNvPr id="27" name="TextBox 27"/>
          <p:cNvSpPr txBox="1"/>
          <p:nvPr/>
        </p:nvSpPr>
        <p:spPr>
          <a:xfrm>
            <a:off x="749856" y="1091841"/>
            <a:ext cx="4310024" cy="1485833"/>
          </a:xfrm>
          <a:prstGeom prst="rect">
            <a:avLst/>
          </a:prstGeom>
        </p:spPr>
        <p:txBody>
          <a:bodyPr lIns="0" tIns="0" rIns="0" bIns="0" rtlCol="0" anchor="t">
            <a:spAutoFit/>
          </a:bodyPr>
          <a:lstStyle/>
          <a:p>
            <a:pPr algn="l">
              <a:lnSpc>
                <a:spcPts val="5552"/>
              </a:lnSpc>
            </a:pPr>
            <a:r>
              <a:rPr lang="en-US" sz="4558" b="1" spc="59">
                <a:solidFill>
                  <a:srgbClr val="FAE013"/>
                </a:solidFill>
                <a:latin typeface="Poppins Semi-Bold"/>
                <a:ea typeface="Poppins Semi-Bold"/>
                <a:cs typeface="Poppins Semi-Bold"/>
                <a:sym typeface="Poppins Semi-Bold"/>
              </a:rPr>
              <a:t>ANCHORS / MIDDLE ORDER</a:t>
            </a:r>
          </a:p>
        </p:txBody>
      </p:sp>
      <p:sp>
        <p:nvSpPr>
          <p:cNvPr id="28" name="TextBox 28"/>
          <p:cNvSpPr txBox="1"/>
          <p:nvPr/>
        </p:nvSpPr>
        <p:spPr>
          <a:xfrm>
            <a:off x="1754191" y="4592136"/>
            <a:ext cx="2262464" cy="504682"/>
          </a:xfrm>
          <a:prstGeom prst="rect">
            <a:avLst/>
          </a:prstGeom>
        </p:spPr>
        <p:txBody>
          <a:bodyPr lIns="0" tIns="0" rIns="0" bIns="0" rtlCol="0" anchor="t">
            <a:spAutoFit/>
          </a:bodyPr>
          <a:lstStyle/>
          <a:p>
            <a:pPr algn="l">
              <a:lnSpc>
                <a:spcPts val="3778"/>
              </a:lnSpc>
            </a:pPr>
            <a:r>
              <a:rPr lang="en-US" sz="2699" b="1">
                <a:solidFill>
                  <a:srgbClr val="FAE013"/>
                </a:solidFill>
                <a:latin typeface="Poppins Semi-Bold"/>
                <a:ea typeface="Poppins Semi-Bold"/>
                <a:cs typeface="Poppins Semi-Bold"/>
                <a:sym typeface="Poppins Semi-Bold"/>
              </a:rPr>
              <a:t>PARAMETERS</a:t>
            </a:r>
          </a:p>
        </p:txBody>
      </p:sp>
      <p:sp>
        <p:nvSpPr>
          <p:cNvPr id="29" name="TextBox 29"/>
          <p:cNvSpPr txBox="1"/>
          <p:nvPr/>
        </p:nvSpPr>
        <p:spPr>
          <a:xfrm>
            <a:off x="7335345" y="4592136"/>
            <a:ext cx="2282390" cy="504682"/>
          </a:xfrm>
          <a:prstGeom prst="rect">
            <a:avLst/>
          </a:prstGeom>
        </p:spPr>
        <p:txBody>
          <a:bodyPr lIns="0" tIns="0" rIns="0" bIns="0" rtlCol="0" anchor="t">
            <a:spAutoFit/>
          </a:bodyPr>
          <a:lstStyle/>
          <a:p>
            <a:pPr algn="l">
              <a:lnSpc>
                <a:spcPts val="3778"/>
              </a:lnSpc>
            </a:pPr>
            <a:r>
              <a:rPr lang="en-US" sz="2699" b="1">
                <a:solidFill>
                  <a:srgbClr val="FAE013"/>
                </a:solidFill>
                <a:latin typeface="Poppins Semi-Bold"/>
                <a:ea typeface="Poppins Semi-Bold"/>
                <a:cs typeface="Poppins Semi-Bold"/>
                <a:sym typeface="Poppins Semi-Bold"/>
              </a:rPr>
              <a:t>DESCRIPTION</a:t>
            </a:r>
          </a:p>
        </p:txBody>
      </p:sp>
      <p:sp>
        <p:nvSpPr>
          <p:cNvPr id="30" name="TextBox 30"/>
          <p:cNvSpPr txBox="1"/>
          <p:nvPr/>
        </p:nvSpPr>
        <p:spPr>
          <a:xfrm>
            <a:off x="12543282" y="4592136"/>
            <a:ext cx="1549213" cy="2952607"/>
          </a:xfrm>
          <a:prstGeom prst="rect">
            <a:avLst/>
          </a:prstGeom>
        </p:spPr>
        <p:txBody>
          <a:bodyPr lIns="0" tIns="0" rIns="0" bIns="0" rtlCol="0" anchor="t">
            <a:spAutoFit/>
          </a:bodyPr>
          <a:lstStyle/>
          <a:p>
            <a:pPr algn="ctr">
              <a:lnSpc>
                <a:spcPts val="3778"/>
              </a:lnSpc>
            </a:pPr>
            <a:r>
              <a:rPr lang="en-US" sz="2699" b="1">
                <a:solidFill>
                  <a:srgbClr val="FAE013"/>
                </a:solidFill>
                <a:latin typeface="Poppins Semi-Bold"/>
                <a:ea typeface="Poppins Semi-Bold"/>
                <a:cs typeface="Poppins Semi-Bold"/>
                <a:sym typeface="Poppins Semi-Bold"/>
              </a:rPr>
              <a:t>CRITERIA</a:t>
            </a:r>
          </a:p>
          <a:p>
            <a:pPr algn="ctr">
              <a:lnSpc>
                <a:spcPts val="6250"/>
              </a:lnSpc>
            </a:pPr>
            <a:r>
              <a:rPr lang="en-US" sz="2500" b="1">
                <a:solidFill>
                  <a:srgbClr val="FFFFFF"/>
                </a:solidFill>
                <a:latin typeface="Poppins Semi-Bold"/>
                <a:ea typeface="Poppins Semi-Bold"/>
                <a:cs typeface="Poppins Semi-Bold"/>
                <a:sym typeface="Poppins Semi-Bold"/>
              </a:rPr>
              <a:t>&gt; 40 &gt; 125 &gt; 3</a:t>
            </a:r>
          </a:p>
        </p:txBody>
      </p:sp>
      <p:sp>
        <p:nvSpPr>
          <p:cNvPr id="31" name="TextBox 31"/>
          <p:cNvSpPr txBox="1"/>
          <p:nvPr/>
        </p:nvSpPr>
        <p:spPr>
          <a:xfrm>
            <a:off x="1102928" y="9123836"/>
            <a:ext cx="2544623" cy="473116"/>
          </a:xfrm>
          <a:prstGeom prst="rect">
            <a:avLst/>
          </a:prstGeom>
        </p:spPr>
        <p:txBody>
          <a:bodyPr lIns="0" tIns="0" rIns="0" bIns="0" rtlCol="0" anchor="t">
            <a:spAutoFit/>
          </a:bodyPr>
          <a:lstStyle/>
          <a:p>
            <a:pPr algn="l">
              <a:lnSpc>
                <a:spcPts val="3500"/>
              </a:lnSpc>
            </a:pPr>
            <a:r>
              <a:rPr lang="en-US" sz="2500" b="1">
                <a:solidFill>
                  <a:srgbClr val="FFFFFF"/>
                </a:solidFill>
                <a:latin typeface="Poppins Medium"/>
                <a:ea typeface="Poppins Medium"/>
                <a:cs typeface="Poppins Medium"/>
                <a:sym typeface="Poppins Medium"/>
              </a:rPr>
              <a:t>Batting Position</a:t>
            </a:r>
          </a:p>
        </p:txBody>
      </p:sp>
      <p:sp>
        <p:nvSpPr>
          <p:cNvPr id="32" name="TextBox 32"/>
          <p:cNvSpPr txBox="1"/>
          <p:nvPr/>
        </p:nvSpPr>
        <p:spPr>
          <a:xfrm>
            <a:off x="1102928" y="8082905"/>
            <a:ext cx="2645988" cy="473116"/>
          </a:xfrm>
          <a:prstGeom prst="rect">
            <a:avLst/>
          </a:prstGeom>
        </p:spPr>
        <p:txBody>
          <a:bodyPr lIns="0" tIns="0" rIns="0" bIns="0" rtlCol="0" anchor="t">
            <a:spAutoFit/>
          </a:bodyPr>
          <a:lstStyle/>
          <a:p>
            <a:pPr algn="l">
              <a:lnSpc>
                <a:spcPts val="3500"/>
              </a:lnSpc>
            </a:pPr>
            <a:r>
              <a:rPr lang="en-US" sz="2500" b="1">
                <a:solidFill>
                  <a:srgbClr val="FFFFFF"/>
                </a:solidFill>
                <a:latin typeface="Poppins Medium"/>
                <a:ea typeface="Poppins Medium"/>
                <a:cs typeface="Poppins Medium"/>
                <a:sym typeface="Poppins Medium"/>
              </a:rPr>
              <a:t>Avg. Balls Faced</a:t>
            </a:r>
          </a:p>
        </p:txBody>
      </p:sp>
      <p:sp>
        <p:nvSpPr>
          <p:cNvPr id="33" name="TextBox 33"/>
          <p:cNvSpPr txBox="1"/>
          <p:nvPr/>
        </p:nvSpPr>
        <p:spPr>
          <a:xfrm>
            <a:off x="1102928" y="5151301"/>
            <a:ext cx="2639511" cy="2391832"/>
          </a:xfrm>
          <a:prstGeom prst="rect">
            <a:avLst/>
          </a:prstGeom>
        </p:spPr>
        <p:txBody>
          <a:bodyPr lIns="0" tIns="0" rIns="0" bIns="0" rtlCol="0" anchor="t">
            <a:spAutoFit/>
          </a:bodyPr>
          <a:lstStyle/>
          <a:p>
            <a:pPr algn="l">
              <a:lnSpc>
                <a:spcPts val="6250"/>
              </a:lnSpc>
            </a:pPr>
            <a:r>
              <a:rPr lang="en-US" sz="2500" b="1">
                <a:solidFill>
                  <a:srgbClr val="FFFFFF"/>
                </a:solidFill>
                <a:latin typeface="Poppins Medium"/>
                <a:ea typeface="Poppins Medium"/>
                <a:cs typeface="Poppins Medium"/>
                <a:sym typeface="Poppins Medium"/>
              </a:rPr>
              <a:t>Batting Average Strike Rate Innings Batted</a:t>
            </a:r>
          </a:p>
        </p:txBody>
      </p:sp>
      <p:sp>
        <p:nvSpPr>
          <p:cNvPr id="34" name="TextBox 34"/>
          <p:cNvSpPr txBox="1"/>
          <p:nvPr/>
        </p:nvSpPr>
        <p:spPr>
          <a:xfrm>
            <a:off x="5324923" y="5151301"/>
            <a:ext cx="5843187" cy="4445651"/>
          </a:xfrm>
          <a:prstGeom prst="rect">
            <a:avLst/>
          </a:prstGeom>
        </p:spPr>
        <p:txBody>
          <a:bodyPr lIns="0" tIns="0" rIns="0" bIns="0" rtlCol="0" anchor="t">
            <a:spAutoFit/>
          </a:bodyPr>
          <a:lstStyle/>
          <a:p>
            <a:pPr algn="l">
              <a:lnSpc>
                <a:spcPts val="6250"/>
              </a:lnSpc>
            </a:pPr>
            <a:r>
              <a:rPr lang="en-US" sz="2500" b="1">
                <a:solidFill>
                  <a:srgbClr val="FFFFFF"/>
                </a:solidFill>
                <a:latin typeface="Poppins Medium"/>
                <a:ea typeface="Poppins Medium"/>
                <a:cs typeface="Poppins Medium"/>
                <a:sym typeface="Poppins Medium"/>
              </a:rPr>
              <a:t>Average runs scored in an innings No of runs scored per 100 balls Total Innings batted Average balls faced by the batter in</a:t>
            </a:r>
          </a:p>
          <a:p>
            <a:pPr algn="l">
              <a:lnSpc>
                <a:spcPts val="1250"/>
              </a:lnSpc>
            </a:pPr>
            <a:r>
              <a:rPr lang="en-US" sz="2500" b="1">
                <a:solidFill>
                  <a:srgbClr val="FFFFFF"/>
                </a:solidFill>
                <a:latin typeface="Poppins Medium"/>
                <a:ea typeface="Poppins Medium"/>
                <a:cs typeface="Poppins Medium"/>
                <a:sym typeface="Poppins Medium"/>
              </a:rPr>
              <a:t>an innings</a:t>
            </a:r>
          </a:p>
          <a:p>
            <a:pPr algn="l">
              <a:lnSpc>
                <a:spcPts val="6250"/>
              </a:lnSpc>
            </a:pPr>
            <a:r>
              <a:rPr lang="en-US" sz="2500" b="1">
                <a:solidFill>
                  <a:srgbClr val="FFFFFF"/>
                </a:solidFill>
                <a:latin typeface="Poppins Medium"/>
                <a:ea typeface="Poppins Medium"/>
                <a:cs typeface="Poppins Medium"/>
                <a:sym typeface="Poppins Medium"/>
              </a:rPr>
              <a:t>Order in which the batter played</a:t>
            </a:r>
          </a:p>
        </p:txBody>
      </p:sp>
      <p:sp>
        <p:nvSpPr>
          <p:cNvPr id="35" name="TextBox 35"/>
          <p:cNvSpPr txBox="1"/>
          <p:nvPr/>
        </p:nvSpPr>
        <p:spPr>
          <a:xfrm>
            <a:off x="13061490" y="9127331"/>
            <a:ext cx="446618" cy="473116"/>
          </a:xfrm>
          <a:prstGeom prst="rect">
            <a:avLst/>
          </a:prstGeom>
        </p:spPr>
        <p:txBody>
          <a:bodyPr lIns="0" tIns="0" rIns="0" bIns="0" rtlCol="0" anchor="t">
            <a:spAutoFit/>
          </a:bodyPr>
          <a:lstStyle/>
          <a:p>
            <a:pPr algn="l">
              <a:lnSpc>
                <a:spcPts val="3500"/>
              </a:lnSpc>
            </a:pPr>
            <a:r>
              <a:rPr lang="en-US" sz="2500" b="1">
                <a:solidFill>
                  <a:srgbClr val="FFFFFF"/>
                </a:solidFill>
                <a:latin typeface="Poppins Semi-Bold"/>
                <a:ea typeface="Poppins Semi-Bold"/>
                <a:cs typeface="Poppins Semi-Bold"/>
                <a:sym typeface="Poppins Semi-Bold"/>
              </a:rPr>
              <a:t>&gt; 2</a:t>
            </a:r>
          </a:p>
        </p:txBody>
      </p:sp>
      <p:sp>
        <p:nvSpPr>
          <p:cNvPr id="36" name="TextBox 36"/>
          <p:cNvSpPr txBox="1"/>
          <p:nvPr/>
        </p:nvSpPr>
        <p:spPr>
          <a:xfrm>
            <a:off x="12964487" y="8062627"/>
            <a:ext cx="655834" cy="473116"/>
          </a:xfrm>
          <a:prstGeom prst="rect">
            <a:avLst/>
          </a:prstGeom>
        </p:spPr>
        <p:txBody>
          <a:bodyPr lIns="0" tIns="0" rIns="0" bIns="0" rtlCol="0" anchor="t">
            <a:spAutoFit/>
          </a:bodyPr>
          <a:lstStyle/>
          <a:p>
            <a:pPr algn="l">
              <a:lnSpc>
                <a:spcPts val="3500"/>
              </a:lnSpc>
            </a:pPr>
            <a:r>
              <a:rPr lang="en-US" sz="2500" b="1">
                <a:solidFill>
                  <a:srgbClr val="FFFFFF"/>
                </a:solidFill>
                <a:latin typeface="Poppins Semi-Bold"/>
                <a:ea typeface="Poppins Semi-Bold"/>
                <a:cs typeface="Poppins Semi-Bold"/>
                <a:sym typeface="Poppins Semi-Bold"/>
              </a:rPr>
              <a:t>&gt; 20</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478" y="0"/>
            <a:ext cx="15465647" cy="10287000"/>
          </a:xfrm>
          <a:custGeom>
            <a:avLst/>
            <a:gdLst/>
            <a:ahLst/>
            <a:cxnLst/>
            <a:rect l="l" t="t" r="r" b="b"/>
            <a:pathLst>
              <a:path w="15465647" h="10287000">
                <a:moveTo>
                  <a:pt x="0" y="0"/>
                </a:moveTo>
                <a:lnTo>
                  <a:pt x="15465647" y="0"/>
                </a:lnTo>
                <a:lnTo>
                  <a:pt x="15465647" y="10287000"/>
                </a:lnTo>
                <a:lnTo>
                  <a:pt x="0" y="10287000"/>
                </a:lnTo>
                <a:lnTo>
                  <a:pt x="0" y="0"/>
                </a:lnTo>
                <a:close/>
              </a:path>
            </a:pathLst>
          </a:custGeom>
          <a:blipFill>
            <a:blip r:embed="rId2"/>
            <a:stretch>
              <a:fillRect r="-39" b="-20"/>
            </a:stretch>
          </a:blipFill>
        </p:spPr>
      </p:sp>
      <p:sp>
        <p:nvSpPr>
          <p:cNvPr id="3" name="Freeform 3"/>
          <p:cNvSpPr/>
          <p:nvPr/>
        </p:nvSpPr>
        <p:spPr>
          <a:xfrm>
            <a:off x="4624445" y="0"/>
            <a:ext cx="8393249" cy="9263853"/>
          </a:xfrm>
          <a:custGeom>
            <a:avLst/>
            <a:gdLst/>
            <a:ahLst/>
            <a:cxnLst/>
            <a:rect l="l" t="t" r="r" b="b"/>
            <a:pathLst>
              <a:path w="8393249" h="9263853">
                <a:moveTo>
                  <a:pt x="0" y="0"/>
                </a:moveTo>
                <a:lnTo>
                  <a:pt x="8393249" y="0"/>
                </a:lnTo>
                <a:lnTo>
                  <a:pt x="8393249" y="9263853"/>
                </a:lnTo>
                <a:lnTo>
                  <a:pt x="0" y="9263853"/>
                </a:lnTo>
                <a:lnTo>
                  <a:pt x="0" y="0"/>
                </a:lnTo>
                <a:close/>
              </a:path>
            </a:pathLst>
          </a:custGeom>
          <a:blipFill>
            <a:blip r:embed="rId3">
              <a:alphaModFix amt="3900"/>
            </a:blip>
            <a:stretch>
              <a:fillRect l="-3042" t="-10141" r="-22"/>
            </a:stretch>
          </a:blipFill>
        </p:spPr>
      </p:sp>
      <p:sp>
        <p:nvSpPr>
          <p:cNvPr id="4" name="Freeform 4"/>
          <p:cNvSpPr/>
          <p:nvPr/>
        </p:nvSpPr>
        <p:spPr>
          <a:xfrm>
            <a:off x="18298" y="0"/>
            <a:ext cx="15459827" cy="10279580"/>
          </a:xfrm>
          <a:custGeom>
            <a:avLst/>
            <a:gdLst/>
            <a:ahLst/>
            <a:cxnLst/>
            <a:rect l="l" t="t" r="r" b="b"/>
            <a:pathLst>
              <a:path w="15459827" h="10279580">
                <a:moveTo>
                  <a:pt x="0" y="0"/>
                </a:moveTo>
                <a:lnTo>
                  <a:pt x="15459827" y="0"/>
                </a:lnTo>
                <a:lnTo>
                  <a:pt x="15459827" y="10279580"/>
                </a:lnTo>
                <a:lnTo>
                  <a:pt x="0" y="10279580"/>
                </a:lnTo>
                <a:lnTo>
                  <a:pt x="0" y="0"/>
                </a:lnTo>
                <a:close/>
              </a:path>
            </a:pathLst>
          </a:custGeom>
          <a:blipFill>
            <a:blip r:embed="rId4"/>
            <a:stretch>
              <a:fillRect r="-15"/>
            </a:stretch>
          </a:blipFill>
        </p:spPr>
      </p:sp>
      <p:grpSp>
        <p:nvGrpSpPr>
          <p:cNvPr id="5" name="Group 5"/>
          <p:cNvGrpSpPr>
            <a:grpSpLocks noChangeAspect="1"/>
          </p:cNvGrpSpPr>
          <p:nvPr/>
        </p:nvGrpSpPr>
        <p:grpSpPr>
          <a:xfrm>
            <a:off x="973436" y="4367994"/>
            <a:ext cx="3200686" cy="695468"/>
            <a:chOff x="0" y="0"/>
            <a:chExt cx="3200692" cy="695465"/>
          </a:xfrm>
        </p:grpSpPr>
        <p:sp>
          <p:nvSpPr>
            <p:cNvPr id="6" name="Freeform 6"/>
            <p:cNvSpPr/>
            <p:nvPr/>
          </p:nvSpPr>
          <p:spPr>
            <a:xfrm>
              <a:off x="0" y="0"/>
              <a:ext cx="3200781" cy="695579"/>
            </a:xfrm>
            <a:custGeom>
              <a:avLst/>
              <a:gdLst/>
              <a:ahLst/>
              <a:cxnLst/>
              <a:rect l="l" t="t" r="r" b="b"/>
              <a:pathLst>
                <a:path w="3200781" h="695579">
                  <a:moveTo>
                    <a:pt x="143129" y="0"/>
                  </a:moveTo>
                  <a:cubicBezTo>
                    <a:pt x="105156" y="0"/>
                    <a:pt x="68707" y="15113"/>
                    <a:pt x="41910" y="42037"/>
                  </a:cubicBezTo>
                  <a:cubicBezTo>
                    <a:pt x="15113" y="68961"/>
                    <a:pt x="0" y="105410"/>
                    <a:pt x="0" y="143383"/>
                  </a:cubicBezTo>
                  <a:lnTo>
                    <a:pt x="0" y="552069"/>
                  </a:lnTo>
                  <a:cubicBezTo>
                    <a:pt x="0" y="590169"/>
                    <a:pt x="15113" y="626618"/>
                    <a:pt x="41910" y="653542"/>
                  </a:cubicBezTo>
                  <a:cubicBezTo>
                    <a:pt x="68707" y="680466"/>
                    <a:pt x="105156" y="695579"/>
                    <a:pt x="143129" y="695579"/>
                  </a:cubicBezTo>
                  <a:lnTo>
                    <a:pt x="3057652" y="695579"/>
                  </a:lnTo>
                  <a:cubicBezTo>
                    <a:pt x="3095625" y="695579"/>
                    <a:pt x="3131947" y="680466"/>
                    <a:pt x="3158871" y="653542"/>
                  </a:cubicBezTo>
                  <a:cubicBezTo>
                    <a:pt x="3185795" y="626618"/>
                    <a:pt x="3200781" y="590169"/>
                    <a:pt x="3200781" y="552069"/>
                  </a:cubicBezTo>
                  <a:lnTo>
                    <a:pt x="3200781" y="143383"/>
                  </a:lnTo>
                  <a:cubicBezTo>
                    <a:pt x="3200781" y="105283"/>
                    <a:pt x="3185668" y="68834"/>
                    <a:pt x="3158871" y="41910"/>
                  </a:cubicBezTo>
                  <a:cubicBezTo>
                    <a:pt x="3132074" y="14986"/>
                    <a:pt x="3095498" y="0"/>
                    <a:pt x="3057652" y="0"/>
                  </a:cubicBezTo>
                  <a:close/>
                </a:path>
              </a:pathLst>
            </a:custGeom>
            <a:solidFill>
              <a:srgbClr val="5600C4"/>
            </a:solidFill>
          </p:spPr>
        </p:sp>
      </p:grpSp>
      <p:sp>
        <p:nvSpPr>
          <p:cNvPr id="7" name="Freeform 7"/>
          <p:cNvSpPr/>
          <p:nvPr/>
        </p:nvSpPr>
        <p:spPr>
          <a:xfrm>
            <a:off x="999925" y="5829319"/>
            <a:ext cx="3172577" cy="9535"/>
          </a:xfrm>
          <a:custGeom>
            <a:avLst/>
            <a:gdLst/>
            <a:ahLst/>
            <a:cxnLst/>
            <a:rect l="l" t="t" r="r" b="b"/>
            <a:pathLst>
              <a:path w="3172577" h="9535">
                <a:moveTo>
                  <a:pt x="0" y="0"/>
                </a:moveTo>
                <a:lnTo>
                  <a:pt x="3172577" y="0"/>
                </a:lnTo>
                <a:lnTo>
                  <a:pt x="3172577" y="9535"/>
                </a:lnTo>
                <a:lnTo>
                  <a:pt x="0" y="9535"/>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8" name="Freeform 8"/>
          <p:cNvSpPr/>
          <p:nvPr/>
        </p:nvSpPr>
        <p:spPr>
          <a:xfrm>
            <a:off x="999925" y="6607283"/>
            <a:ext cx="3172577" cy="9535"/>
          </a:xfrm>
          <a:custGeom>
            <a:avLst/>
            <a:gdLst/>
            <a:ahLst/>
            <a:cxnLst/>
            <a:rect l="l" t="t" r="r" b="b"/>
            <a:pathLst>
              <a:path w="3172577" h="9535">
                <a:moveTo>
                  <a:pt x="0" y="0"/>
                </a:moveTo>
                <a:lnTo>
                  <a:pt x="3172577" y="0"/>
                </a:lnTo>
                <a:lnTo>
                  <a:pt x="3172577" y="9534"/>
                </a:lnTo>
                <a:lnTo>
                  <a:pt x="0" y="9534"/>
                </a:lnTo>
                <a:lnTo>
                  <a:pt x="0" y="0"/>
                </a:lnTo>
                <a:close/>
              </a:path>
            </a:pathLst>
          </a:custGeom>
          <a:blipFill>
            <a:blip r:embed="rId5">
              <a:extLst>
                <a:ext uri="{96DAC541-7B7A-43D3-8B79-37D633B846F1}">
                  <asvg:svgBlip xmlns="" xmlns:asvg="http://schemas.microsoft.com/office/drawing/2016/SVG/main" r:embed="rId7"/>
                </a:ext>
              </a:extLst>
            </a:blip>
            <a:stretch>
              <a:fillRect/>
            </a:stretch>
          </a:blipFill>
        </p:spPr>
      </p:sp>
      <p:sp>
        <p:nvSpPr>
          <p:cNvPr id="9" name="Freeform 9"/>
          <p:cNvSpPr/>
          <p:nvPr/>
        </p:nvSpPr>
        <p:spPr>
          <a:xfrm>
            <a:off x="999925" y="7385247"/>
            <a:ext cx="3172577" cy="9535"/>
          </a:xfrm>
          <a:custGeom>
            <a:avLst/>
            <a:gdLst/>
            <a:ahLst/>
            <a:cxnLst/>
            <a:rect l="l" t="t" r="r" b="b"/>
            <a:pathLst>
              <a:path w="3172577" h="9535">
                <a:moveTo>
                  <a:pt x="0" y="0"/>
                </a:moveTo>
                <a:lnTo>
                  <a:pt x="3172577" y="0"/>
                </a:lnTo>
                <a:lnTo>
                  <a:pt x="3172577" y="9534"/>
                </a:lnTo>
                <a:lnTo>
                  <a:pt x="0" y="9534"/>
                </a:lnTo>
                <a:lnTo>
                  <a:pt x="0" y="0"/>
                </a:lnTo>
                <a:close/>
              </a:path>
            </a:pathLst>
          </a:custGeom>
          <a:blipFill>
            <a:blip r:embed="rId5">
              <a:extLst>
                <a:ext uri="{96DAC541-7B7A-43D3-8B79-37D633B846F1}">
                  <asvg:svgBlip xmlns="" xmlns:asvg="http://schemas.microsoft.com/office/drawing/2016/SVG/main" r:embed="rId8"/>
                </a:ext>
              </a:extLst>
            </a:blip>
            <a:stretch>
              <a:fillRect/>
            </a:stretch>
          </a:blipFill>
        </p:spPr>
      </p:sp>
      <p:sp>
        <p:nvSpPr>
          <p:cNvPr id="10" name="Freeform 10"/>
          <p:cNvSpPr/>
          <p:nvPr/>
        </p:nvSpPr>
        <p:spPr>
          <a:xfrm>
            <a:off x="999925" y="8163211"/>
            <a:ext cx="3172577" cy="9535"/>
          </a:xfrm>
          <a:custGeom>
            <a:avLst/>
            <a:gdLst/>
            <a:ahLst/>
            <a:cxnLst/>
            <a:rect l="l" t="t" r="r" b="b"/>
            <a:pathLst>
              <a:path w="3172577" h="9535">
                <a:moveTo>
                  <a:pt x="0" y="0"/>
                </a:moveTo>
                <a:lnTo>
                  <a:pt x="3172577" y="0"/>
                </a:lnTo>
                <a:lnTo>
                  <a:pt x="3172577" y="9534"/>
                </a:lnTo>
                <a:lnTo>
                  <a:pt x="0" y="9534"/>
                </a:lnTo>
                <a:lnTo>
                  <a:pt x="0" y="0"/>
                </a:lnTo>
                <a:close/>
              </a:path>
            </a:pathLst>
          </a:custGeom>
          <a:blipFill>
            <a:blip r:embed="rId5">
              <a:extLst>
                <a:ext uri="{96DAC541-7B7A-43D3-8B79-37D633B846F1}">
                  <asvg:svgBlip xmlns="" xmlns:asvg="http://schemas.microsoft.com/office/drawing/2016/SVG/main" r:embed="rId9"/>
                </a:ext>
              </a:extLst>
            </a:blip>
            <a:stretch>
              <a:fillRect/>
            </a:stretch>
          </a:blipFill>
        </p:spPr>
      </p:sp>
      <p:sp>
        <p:nvSpPr>
          <p:cNvPr id="11" name="Freeform 11"/>
          <p:cNvSpPr/>
          <p:nvPr/>
        </p:nvSpPr>
        <p:spPr>
          <a:xfrm>
            <a:off x="999925" y="8941175"/>
            <a:ext cx="3172577" cy="9535"/>
          </a:xfrm>
          <a:custGeom>
            <a:avLst/>
            <a:gdLst/>
            <a:ahLst/>
            <a:cxnLst/>
            <a:rect l="l" t="t" r="r" b="b"/>
            <a:pathLst>
              <a:path w="3172577" h="9535">
                <a:moveTo>
                  <a:pt x="0" y="0"/>
                </a:moveTo>
                <a:lnTo>
                  <a:pt x="3172577" y="0"/>
                </a:lnTo>
                <a:lnTo>
                  <a:pt x="3172577" y="9534"/>
                </a:lnTo>
                <a:lnTo>
                  <a:pt x="0" y="9534"/>
                </a:lnTo>
                <a:lnTo>
                  <a:pt x="0" y="0"/>
                </a:lnTo>
                <a:close/>
              </a:path>
            </a:pathLst>
          </a:custGeom>
          <a:blipFill>
            <a:blip r:embed="rId5">
              <a:extLst>
                <a:ext uri="{96DAC541-7B7A-43D3-8B79-37D633B846F1}">
                  <asvg:svgBlip xmlns="" xmlns:asvg="http://schemas.microsoft.com/office/drawing/2016/SVG/main" r:embed="rId10"/>
                </a:ext>
              </a:extLst>
            </a:blip>
            <a:stretch>
              <a:fillRect/>
            </a:stretch>
          </a:blipFill>
        </p:spPr>
      </p:sp>
      <p:sp>
        <p:nvSpPr>
          <p:cNvPr id="12" name="Freeform 12"/>
          <p:cNvSpPr/>
          <p:nvPr/>
        </p:nvSpPr>
        <p:spPr>
          <a:xfrm>
            <a:off x="4322540" y="4364850"/>
            <a:ext cx="9535" cy="5192211"/>
          </a:xfrm>
          <a:custGeom>
            <a:avLst/>
            <a:gdLst/>
            <a:ahLst/>
            <a:cxnLst/>
            <a:rect l="l" t="t" r="r" b="b"/>
            <a:pathLst>
              <a:path w="9535" h="5192211">
                <a:moveTo>
                  <a:pt x="0" y="0"/>
                </a:moveTo>
                <a:lnTo>
                  <a:pt x="9535" y="0"/>
                </a:lnTo>
                <a:lnTo>
                  <a:pt x="9535" y="5192211"/>
                </a:lnTo>
                <a:lnTo>
                  <a:pt x="0" y="5192211"/>
                </a:lnTo>
                <a:lnTo>
                  <a:pt x="0" y="0"/>
                </a:lnTo>
                <a:close/>
              </a:path>
            </a:pathLst>
          </a:custGeom>
          <a:blipFill>
            <a:blip r:embed="rId11">
              <a:extLst>
                <a:ext uri="{96DAC541-7B7A-43D3-8B79-37D633B846F1}">
                  <asvg:svgBlip xmlns="" xmlns:asvg="http://schemas.microsoft.com/office/drawing/2016/SVG/main" r:embed="rId12"/>
                </a:ext>
              </a:extLst>
            </a:blip>
            <a:stretch>
              <a:fillRect/>
            </a:stretch>
          </a:blipFill>
        </p:spPr>
      </p:sp>
      <p:sp>
        <p:nvSpPr>
          <p:cNvPr id="13" name="Freeform 13"/>
          <p:cNvSpPr/>
          <p:nvPr/>
        </p:nvSpPr>
        <p:spPr>
          <a:xfrm>
            <a:off x="0" y="2717006"/>
            <a:ext cx="5999836" cy="38119"/>
          </a:xfrm>
          <a:custGeom>
            <a:avLst/>
            <a:gdLst/>
            <a:ahLst/>
            <a:cxnLst/>
            <a:rect l="l" t="t" r="r" b="b"/>
            <a:pathLst>
              <a:path w="5999836" h="38119">
                <a:moveTo>
                  <a:pt x="0" y="0"/>
                </a:moveTo>
                <a:lnTo>
                  <a:pt x="5999836" y="0"/>
                </a:lnTo>
                <a:lnTo>
                  <a:pt x="5999836" y="38119"/>
                </a:lnTo>
                <a:lnTo>
                  <a:pt x="0" y="38119"/>
                </a:lnTo>
                <a:lnTo>
                  <a:pt x="0" y="0"/>
                </a:lnTo>
                <a:close/>
              </a:path>
            </a:pathLst>
          </a:custGeom>
          <a:blipFill>
            <a:blip r:embed="rId13">
              <a:extLst>
                <a:ext uri="{96DAC541-7B7A-43D3-8B79-37D633B846F1}">
                  <asvg:svgBlip xmlns="" xmlns:asvg="http://schemas.microsoft.com/office/drawing/2016/SVG/main" r:embed="rId14"/>
                </a:ext>
              </a:extLst>
            </a:blip>
            <a:stretch>
              <a:fillRect/>
            </a:stretch>
          </a:blipFill>
        </p:spPr>
      </p:sp>
      <p:sp>
        <p:nvSpPr>
          <p:cNvPr id="14" name="Freeform 14"/>
          <p:cNvSpPr/>
          <p:nvPr/>
        </p:nvSpPr>
        <p:spPr>
          <a:xfrm>
            <a:off x="4484513" y="5819794"/>
            <a:ext cx="7259669" cy="9525"/>
          </a:xfrm>
          <a:custGeom>
            <a:avLst/>
            <a:gdLst/>
            <a:ahLst/>
            <a:cxnLst/>
            <a:rect l="l" t="t" r="r" b="b"/>
            <a:pathLst>
              <a:path w="7259669" h="9525">
                <a:moveTo>
                  <a:pt x="0" y="0"/>
                </a:moveTo>
                <a:lnTo>
                  <a:pt x="7259669" y="0"/>
                </a:lnTo>
                <a:lnTo>
                  <a:pt x="7259669" y="9525"/>
                </a:lnTo>
                <a:lnTo>
                  <a:pt x="0" y="9525"/>
                </a:lnTo>
                <a:lnTo>
                  <a:pt x="0" y="0"/>
                </a:lnTo>
                <a:close/>
              </a:path>
            </a:pathLst>
          </a:custGeom>
          <a:blipFill>
            <a:blip r:embed="rId15">
              <a:extLst>
                <a:ext uri="{96DAC541-7B7A-43D3-8B79-37D633B846F1}">
                  <asvg:svgBlip xmlns="" xmlns:asvg="http://schemas.microsoft.com/office/drawing/2016/SVG/main" r:embed="rId16"/>
                </a:ext>
              </a:extLst>
            </a:blip>
            <a:stretch>
              <a:fillRect/>
            </a:stretch>
          </a:blipFill>
        </p:spPr>
      </p:sp>
      <p:sp>
        <p:nvSpPr>
          <p:cNvPr id="15" name="Freeform 15"/>
          <p:cNvSpPr/>
          <p:nvPr/>
        </p:nvSpPr>
        <p:spPr>
          <a:xfrm>
            <a:off x="4484513" y="6602520"/>
            <a:ext cx="7259669" cy="9525"/>
          </a:xfrm>
          <a:custGeom>
            <a:avLst/>
            <a:gdLst/>
            <a:ahLst/>
            <a:cxnLst/>
            <a:rect l="l" t="t" r="r" b="b"/>
            <a:pathLst>
              <a:path w="7259669" h="9525">
                <a:moveTo>
                  <a:pt x="0" y="0"/>
                </a:moveTo>
                <a:lnTo>
                  <a:pt x="7259669" y="0"/>
                </a:lnTo>
                <a:lnTo>
                  <a:pt x="7259669" y="9525"/>
                </a:lnTo>
                <a:lnTo>
                  <a:pt x="0" y="9525"/>
                </a:lnTo>
                <a:lnTo>
                  <a:pt x="0" y="0"/>
                </a:lnTo>
                <a:close/>
              </a:path>
            </a:pathLst>
          </a:custGeom>
          <a:blipFill>
            <a:blip r:embed="rId15">
              <a:extLst>
                <a:ext uri="{96DAC541-7B7A-43D3-8B79-37D633B846F1}">
                  <asvg:svgBlip xmlns="" xmlns:asvg="http://schemas.microsoft.com/office/drawing/2016/SVG/main" r:embed="rId17"/>
                </a:ext>
              </a:extLst>
            </a:blip>
            <a:stretch>
              <a:fillRect/>
            </a:stretch>
          </a:blipFill>
        </p:spPr>
      </p:sp>
      <p:sp>
        <p:nvSpPr>
          <p:cNvPr id="16" name="Freeform 16"/>
          <p:cNvSpPr/>
          <p:nvPr/>
        </p:nvSpPr>
        <p:spPr>
          <a:xfrm>
            <a:off x="4484513" y="7385247"/>
            <a:ext cx="7259669" cy="9525"/>
          </a:xfrm>
          <a:custGeom>
            <a:avLst/>
            <a:gdLst/>
            <a:ahLst/>
            <a:cxnLst/>
            <a:rect l="l" t="t" r="r" b="b"/>
            <a:pathLst>
              <a:path w="7259669" h="9525">
                <a:moveTo>
                  <a:pt x="0" y="0"/>
                </a:moveTo>
                <a:lnTo>
                  <a:pt x="7259669" y="0"/>
                </a:lnTo>
                <a:lnTo>
                  <a:pt x="7259669" y="9525"/>
                </a:lnTo>
                <a:lnTo>
                  <a:pt x="0" y="9525"/>
                </a:lnTo>
                <a:lnTo>
                  <a:pt x="0" y="0"/>
                </a:lnTo>
                <a:close/>
              </a:path>
            </a:pathLst>
          </a:custGeom>
          <a:blipFill>
            <a:blip r:embed="rId15">
              <a:extLst>
                <a:ext uri="{96DAC541-7B7A-43D3-8B79-37D633B846F1}">
                  <asvg:svgBlip xmlns="" xmlns:asvg="http://schemas.microsoft.com/office/drawing/2016/SVG/main" r:embed="rId18"/>
                </a:ext>
              </a:extLst>
            </a:blip>
            <a:stretch>
              <a:fillRect/>
            </a:stretch>
          </a:blipFill>
        </p:spPr>
      </p:sp>
      <p:sp>
        <p:nvSpPr>
          <p:cNvPr id="17" name="Freeform 17"/>
          <p:cNvSpPr/>
          <p:nvPr/>
        </p:nvSpPr>
        <p:spPr>
          <a:xfrm>
            <a:off x="4484513" y="8167973"/>
            <a:ext cx="7259669" cy="9525"/>
          </a:xfrm>
          <a:custGeom>
            <a:avLst/>
            <a:gdLst/>
            <a:ahLst/>
            <a:cxnLst/>
            <a:rect l="l" t="t" r="r" b="b"/>
            <a:pathLst>
              <a:path w="7259669" h="9525">
                <a:moveTo>
                  <a:pt x="0" y="0"/>
                </a:moveTo>
                <a:lnTo>
                  <a:pt x="7259669" y="0"/>
                </a:lnTo>
                <a:lnTo>
                  <a:pt x="7259669" y="9525"/>
                </a:lnTo>
                <a:lnTo>
                  <a:pt x="0" y="9525"/>
                </a:lnTo>
                <a:lnTo>
                  <a:pt x="0" y="0"/>
                </a:lnTo>
                <a:close/>
              </a:path>
            </a:pathLst>
          </a:custGeom>
          <a:blipFill>
            <a:blip r:embed="rId15">
              <a:extLst>
                <a:ext uri="{96DAC541-7B7A-43D3-8B79-37D633B846F1}">
                  <asvg:svgBlip xmlns="" xmlns:asvg="http://schemas.microsoft.com/office/drawing/2016/SVG/main" r:embed="rId19"/>
                </a:ext>
              </a:extLst>
            </a:blip>
            <a:stretch>
              <a:fillRect/>
            </a:stretch>
          </a:blipFill>
        </p:spPr>
      </p:sp>
      <p:sp>
        <p:nvSpPr>
          <p:cNvPr id="18" name="Freeform 18"/>
          <p:cNvSpPr/>
          <p:nvPr/>
        </p:nvSpPr>
        <p:spPr>
          <a:xfrm>
            <a:off x="4484513" y="8950700"/>
            <a:ext cx="7259669" cy="9525"/>
          </a:xfrm>
          <a:custGeom>
            <a:avLst/>
            <a:gdLst/>
            <a:ahLst/>
            <a:cxnLst/>
            <a:rect l="l" t="t" r="r" b="b"/>
            <a:pathLst>
              <a:path w="7259669" h="9525">
                <a:moveTo>
                  <a:pt x="0" y="0"/>
                </a:moveTo>
                <a:lnTo>
                  <a:pt x="7259669" y="0"/>
                </a:lnTo>
                <a:lnTo>
                  <a:pt x="7259669" y="9525"/>
                </a:lnTo>
                <a:lnTo>
                  <a:pt x="0" y="9525"/>
                </a:lnTo>
                <a:lnTo>
                  <a:pt x="0" y="0"/>
                </a:lnTo>
                <a:close/>
              </a:path>
            </a:pathLst>
          </a:custGeom>
          <a:blipFill>
            <a:blip r:embed="rId15">
              <a:extLst>
                <a:ext uri="{96DAC541-7B7A-43D3-8B79-37D633B846F1}">
                  <asvg:svgBlip xmlns="" xmlns:asvg="http://schemas.microsoft.com/office/drawing/2016/SVG/main" r:embed="rId20"/>
                </a:ext>
              </a:extLst>
            </a:blip>
            <a:stretch>
              <a:fillRect/>
            </a:stretch>
          </a:blipFill>
        </p:spPr>
      </p:sp>
      <p:grpSp>
        <p:nvGrpSpPr>
          <p:cNvPr id="19" name="Group 19"/>
          <p:cNvGrpSpPr>
            <a:grpSpLocks noChangeAspect="1"/>
          </p:cNvGrpSpPr>
          <p:nvPr/>
        </p:nvGrpSpPr>
        <p:grpSpPr>
          <a:xfrm>
            <a:off x="4485008" y="4367994"/>
            <a:ext cx="7287111" cy="695468"/>
            <a:chOff x="0" y="0"/>
            <a:chExt cx="7287108" cy="695465"/>
          </a:xfrm>
        </p:grpSpPr>
        <p:sp>
          <p:nvSpPr>
            <p:cNvPr id="20" name="Freeform 20"/>
            <p:cNvSpPr/>
            <p:nvPr/>
          </p:nvSpPr>
          <p:spPr>
            <a:xfrm>
              <a:off x="0" y="0"/>
              <a:ext cx="7287006" cy="695579"/>
            </a:xfrm>
            <a:custGeom>
              <a:avLst/>
              <a:gdLst/>
              <a:ahLst/>
              <a:cxnLst/>
              <a:rect l="l" t="t" r="r" b="b"/>
              <a:pathLst>
                <a:path w="7287006" h="695579">
                  <a:moveTo>
                    <a:pt x="142875" y="0"/>
                  </a:moveTo>
                  <a:cubicBezTo>
                    <a:pt x="104902" y="0"/>
                    <a:pt x="68580" y="15113"/>
                    <a:pt x="41783" y="42037"/>
                  </a:cubicBezTo>
                  <a:cubicBezTo>
                    <a:pt x="14986" y="68961"/>
                    <a:pt x="0" y="105410"/>
                    <a:pt x="0" y="143383"/>
                  </a:cubicBezTo>
                  <a:lnTo>
                    <a:pt x="0" y="552069"/>
                  </a:lnTo>
                  <a:cubicBezTo>
                    <a:pt x="0" y="590169"/>
                    <a:pt x="14986" y="626618"/>
                    <a:pt x="41783" y="653542"/>
                  </a:cubicBezTo>
                  <a:cubicBezTo>
                    <a:pt x="68580" y="680466"/>
                    <a:pt x="104902" y="695579"/>
                    <a:pt x="142748" y="695579"/>
                  </a:cubicBezTo>
                  <a:lnTo>
                    <a:pt x="7144258" y="695579"/>
                  </a:lnTo>
                  <a:cubicBezTo>
                    <a:pt x="7182103" y="695579"/>
                    <a:pt x="7218426" y="680466"/>
                    <a:pt x="7245223" y="653542"/>
                  </a:cubicBezTo>
                  <a:cubicBezTo>
                    <a:pt x="7272020" y="626618"/>
                    <a:pt x="7287006" y="590169"/>
                    <a:pt x="7287006" y="552069"/>
                  </a:cubicBezTo>
                  <a:lnTo>
                    <a:pt x="7287006" y="143383"/>
                  </a:lnTo>
                  <a:cubicBezTo>
                    <a:pt x="7287006" y="105283"/>
                    <a:pt x="7272020" y="68834"/>
                    <a:pt x="7245223" y="41910"/>
                  </a:cubicBezTo>
                  <a:cubicBezTo>
                    <a:pt x="7218426" y="14986"/>
                    <a:pt x="7182104" y="0"/>
                    <a:pt x="7144258" y="0"/>
                  </a:cubicBezTo>
                  <a:close/>
                </a:path>
              </a:pathLst>
            </a:custGeom>
            <a:solidFill>
              <a:srgbClr val="5600C4"/>
            </a:solidFill>
          </p:spPr>
        </p:sp>
      </p:grpSp>
      <p:sp>
        <p:nvSpPr>
          <p:cNvPr id="21" name="Freeform 21"/>
          <p:cNvSpPr/>
          <p:nvPr/>
        </p:nvSpPr>
        <p:spPr>
          <a:xfrm>
            <a:off x="11938625" y="4450613"/>
            <a:ext cx="9525" cy="5106457"/>
          </a:xfrm>
          <a:custGeom>
            <a:avLst/>
            <a:gdLst/>
            <a:ahLst/>
            <a:cxnLst/>
            <a:rect l="l" t="t" r="r" b="b"/>
            <a:pathLst>
              <a:path w="9525" h="5106457">
                <a:moveTo>
                  <a:pt x="0" y="0"/>
                </a:moveTo>
                <a:lnTo>
                  <a:pt x="9525" y="0"/>
                </a:lnTo>
                <a:lnTo>
                  <a:pt x="9525" y="5106458"/>
                </a:lnTo>
                <a:lnTo>
                  <a:pt x="0" y="5106458"/>
                </a:lnTo>
                <a:lnTo>
                  <a:pt x="0" y="0"/>
                </a:lnTo>
                <a:close/>
              </a:path>
            </a:pathLst>
          </a:custGeom>
          <a:blipFill>
            <a:blip r:embed="rId21">
              <a:extLst>
                <a:ext uri="{96DAC541-7B7A-43D3-8B79-37D633B846F1}">
                  <asvg:svgBlip xmlns="" xmlns:asvg="http://schemas.microsoft.com/office/drawing/2016/SVG/main" r:embed="rId22"/>
                </a:ext>
              </a:extLst>
            </a:blip>
            <a:stretch>
              <a:fillRect/>
            </a:stretch>
          </a:blipFill>
        </p:spPr>
      </p:sp>
      <p:sp>
        <p:nvSpPr>
          <p:cNvPr id="22" name="Freeform 22"/>
          <p:cNvSpPr/>
          <p:nvPr/>
        </p:nvSpPr>
        <p:spPr>
          <a:xfrm>
            <a:off x="12099493" y="5810269"/>
            <a:ext cx="2410330" cy="9535"/>
          </a:xfrm>
          <a:custGeom>
            <a:avLst/>
            <a:gdLst/>
            <a:ahLst/>
            <a:cxnLst/>
            <a:rect l="l" t="t" r="r" b="b"/>
            <a:pathLst>
              <a:path w="2410330" h="9535">
                <a:moveTo>
                  <a:pt x="0" y="0"/>
                </a:moveTo>
                <a:lnTo>
                  <a:pt x="2410330" y="0"/>
                </a:lnTo>
                <a:lnTo>
                  <a:pt x="2410330" y="9535"/>
                </a:lnTo>
                <a:lnTo>
                  <a:pt x="0" y="9535"/>
                </a:lnTo>
                <a:lnTo>
                  <a:pt x="0" y="0"/>
                </a:lnTo>
                <a:close/>
              </a:path>
            </a:pathLst>
          </a:custGeom>
          <a:blipFill>
            <a:blip r:embed="rId23">
              <a:extLst>
                <a:ext uri="{96DAC541-7B7A-43D3-8B79-37D633B846F1}">
                  <asvg:svgBlip xmlns="" xmlns:asvg="http://schemas.microsoft.com/office/drawing/2016/SVG/main" r:embed="rId24"/>
                </a:ext>
              </a:extLst>
            </a:blip>
            <a:stretch>
              <a:fillRect/>
            </a:stretch>
          </a:blipFill>
        </p:spPr>
      </p:sp>
      <p:sp>
        <p:nvSpPr>
          <p:cNvPr id="23" name="Freeform 23"/>
          <p:cNvSpPr/>
          <p:nvPr/>
        </p:nvSpPr>
        <p:spPr>
          <a:xfrm>
            <a:off x="12099493" y="6597748"/>
            <a:ext cx="2410330" cy="9535"/>
          </a:xfrm>
          <a:custGeom>
            <a:avLst/>
            <a:gdLst/>
            <a:ahLst/>
            <a:cxnLst/>
            <a:rect l="l" t="t" r="r" b="b"/>
            <a:pathLst>
              <a:path w="2410330" h="9535">
                <a:moveTo>
                  <a:pt x="0" y="0"/>
                </a:moveTo>
                <a:lnTo>
                  <a:pt x="2410330" y="0"/>
                </a:lnTo>
                <a:lnTo>
                  <a:pt x="2410330" y="9535"/>
                </a:lnTo>
                <a:lnTo>
                  <a:pt x="0" y="9535"/>
                </a:lnTo>
                <a:lnTo>
                  <a:pt x="0" y="0"/>
                </a:lnTo>
                <a:close/>
              </a:path>
            </a:pathLst>
          </a:custGeom>
          <a:blipFill>
            <a:blip r:embed="rId23">
              <a:extLst>
                <a:ext uri="{96DAC541-7B7A-43D3-8B79-37D633B846F1}">
                  <asvg:svgBlip xmlns="" xmlns:asvg="http://schemas.microsoft.com/office/drawing/2016/SVG/main" r:embed="rId25"/>
                </a:ext>
              </a:extLst>
            </a:blip>
            <a:stretch>
              <a:fillRect/>
            </a:stretch>
          </a:blipFill>
        </p:spPr>
      </p:sp>
      <p:sp>
        <p:nvSpPr>
          <p:cNvPr id="24" name="Freeform 24"/>
          <p:cNvSpPr/>
          <p:nvPr/>
        </p:nvSpPr>
        <p:spPr>
          <a:xfrm>
            <a:off x="12099493" y="7385247"/>
            <a:ext cx="2410330" cy="9535"/>
          </a:xfrm>
          <a:custGeom>
            <a:avLst/>
            <a:gdLst/>
            <a:ahLst/>
            <a:cxnLst/>
            <a:rect l="l" t="t" r="r" b="b"/>
            <a:pathLst>
              <a:path w="2410330" h="9535">
                <a:moveTo>
                  <a:pt x="0" y="0"/>
                </a:moveTo>
                <a:lnTo>
                  <a:pt x="2410330" y="0"/>
                </a:lnTo>
                <a:lnTo>
                  <a:pt x="2410330" y="9534"/>
                </a:lnTo>
                <a:lnTo>
                  <a:pt x="0" y="9534"/>
                </a:lnTo>
                <a:lnTo>
                  <a:pt x="0" y="0"/>
                </a:lnTo>
                <a:close/>
              </a:path>
            </a:pathLst>
          </a:custGeom>
          <a:blipFill>
            <a:blip r:embed="rId23">
              <a:extLst>
                <a:ext uri="{96DAC541-7B7A-43D3-8B79-37D633B846F1}">
                  <asvg:svgBlip xmlns="" xmlns:asvg="http://schemas.microsoft.com/office/drawing/2016/SVG/main" r:embed="rId26"/>
                </a:ext>
              </a:extLst>
            </a:blip>
            <a:stretch>
              <a:fillRect/>
            </a:stretch>
          </a:blipFill>
        </p:spPr>
      </p:sp>
      <p:sp>
        <p:nvSpPr>
          <p:cNvPr id="25" name="Freeform 25"/>
          <p:cNvSpPr/>
          <p:nvPr/>
        </p:nvSpPr>
        <p:spPr>
          <a:xfrm>
            <a:off x="12099493" y="8172736"/>
            <a:ext cx="2410330" cy="9535"/>
          </a:xfrm>
          <a:custGeom>
            <a:avLst/>
            <a:gdLst/>
            <a:ahLst/>
            <a:cxnLst/>
            <a:rect l="l" t="t" r="r" b="b"/>
            <a:pathLst>
              <a:path w="2410330" h="9535">
                <a:moveTo>
                  <a:pt x="0" y="0"/>
                </a:moveTo>
                <a:lnTo>
                  <a:pt x="2410330" y="0"/>
                </a:lnTo>
                <a:lnTo>
                  <a:pt x="2410330" y="9534"/>
                </a:lnTo>
                <a:lnTo>
                  <a:pt x="0" y="9534"/>
                </a:lnTo>
                <a:lnTo>
                  <a:pt x="0" y="0"/>
                </a:lnTo>
                <a:close/>
              </a:path>
            </a:pathLst>
          </a:custGeom>
          <a:blipFill>
            <a:blip r:embed="rId23">
              <a:extLst>
                <a:ext uri="{96DAC541-7B7A-43D3-8B79-37D633B846F1}">
                  <asvg:svgBlip xmlns="" xmlns:asvg="http://schemas.microsoft.com/office/drawing/2016/SVG/main" r:embed="rId27"/>
                </a:ext>
              </a:extLst>
            </a:blip>
            <a:stretch>
              <a:fillRect/>
            </a:stretch>
          </a:blipFill>
        </p:spPr>
      </p:sp>
      <p:sp>
        <p:nvSpPr>
          <p:cNvPr id="26" name="Freeform 26"/>
          <p:cNvSpPr/>
          <p:nvPr/>
        </p:nvSpPr>
        <p:spPr>
          <a:xfrm>
            <a:off x="12099493" y="8960225"/>
            <a:ext cx="2410330" cy="9535"/>
          </a:xfrm>
          <a:custGeom>
            <a:avLst/>
            <a:gdLst/>
            <a:ahLst/>
            <a:cxnLst/>
            <a:rect l="l" t="t" r="r" b="b"/>
            <a:pathLst>
              <a:path w="2410330" h="9535">
                <a:moveTo>
                  <a:pt x="0" y="0"/>
                </a:moveTo>
                <a:lnTo>
                  <a:pt x="2410330" y="0"/>
                </a:lnTo>
                <a:lnTo>
                  <a:pt x="2410330" y="9534"/>
                </a:lnTo>
                <a:lnTo>
                  <a:pt x="0" y="9534"/>
                </a:lnTo>
                <a:lnTo>
                  <a:pt x="0" y="0"/>
                </a:lnTo>
                <a:close/>
              </a:path>
            </a:pathLst>
          </a:custGeom>
          <a:blipFill>
            <a:blip r:embed="rId23">
              <a:extLst>
                <a:ext uri="{96DAC541-7B7A-43D3-8B79-37D633B846F1}">
                  <asvg:svgBlip xmlns="" xmlns:asvg="http://schemas.microsoft.com/office/drawing/2016/SVG/main" r:embed="rId28"/>
                </a:ext>
              </a:extLst>
            </a:blip>
            <a:stretch>
              <a:fillRect/>
            </a:stretch>
          </a:blipFill>
        </p:spPr>
      </p:sp>
      <p:grpSp>
        <p:nvGrpSpPr>
          <p:cNvPr id="27" name="Group 27"/>
          <p:cNvGrpSpPr>
            <a:grpSpLocks noChangeAspect="1"/>
          </p:cNvGrpSpPr>
          <p:nvPr/>
        </p:nvGrpSpPr>
        <p:grpSpPr>
          <a:xfrm>
            <a:off x="12099665" y="4367994"/>
            <a:ext cx="2409958" cy="695468"/>
            <a:chOff x="0" y="0"/>
            <a:chExt cx="2409952" cy="695465"/>
          </a:xfrm>
        </p:grpSpPr>
        <p:sp>
          <p:nvSpPr>
            <p:cNvPr id="28" name="Freeform 28"/>
            <p:cNvSpPr/>
            <p:nvPr/>
          </p:nvSpPr>
          <p:spPr>
            <a:xfrm>
              <a:off x="0" y="0"/>
              <a:ext cx="2409952" cy="695579"/>
            </a:xfrm>
            <a:custGeom>
              <a:avLst/>
              <a:gdLst/>
              <a:ahLst/>
              <a:cxnLst/>
              <a:rect l="l" t="t" r="r" b="b"/>
              <a:pathLst>
                <a:path w="2409952" h="695579">
                  <a:moveTo>
                    <a:pt x="143129" y="0"/>
                  </a:moveTo>
                  <a:cubicBezTo>
                    <a:pt x="105156" y="0"/>
                    <a:pt x="68707" y="15113"/>
                    <a:pt x="41910" y="42037"/>
                  </a:cubicBezTo>
                  <a:cubicBezTo>
                    <a:pt x="15113" y="68961"/>
                    <a:pt x="0" y="105410"/>
                    <a:pt x="0" y="143383"/>
                  </a:cubicBezTo>
                  <a:lnTo>
                    <a:pt x="0" y="552069"/>
                  </a:lnTo>
                  <a:cubicBezTo>
                    <a:pt x="0" y="590169"/>
                    <a:pt x="15113" y="626618"/>
                    <a:pt x="41910" y="653542"/>
                  </a:cubicBezTo>
                  <a:cubicBezTo>
                    <a:pt x="68707" y="680466"/>
                    <a:pt x="105156" y="695579"/>
                    <a:pt x="143129" y="695579"/>
                  </a:cubicBezTo>
                  <a:lnTo>
                    <a:pt x="2266823" y="695579"/>
                  </a:lnTo>
                  <a:cubicBezTo>
                    <a:pt x="2304796" y="695579"/>
                    <a:pt x="2341245" y="680466"/>
                    <a:pt x="2368042" y="653542"/>
                  </a:cubicBezTo>
                  <a:cubicBezTo>
                    <a:pt x="2394839" y="626618"/>
                    <a:pt x="2409952" y="590169"/>
                    <a:pt x="2409952" y="552069"/>
                  </a:cubicBezTo>
                  <a:lnTo>
                    <a:pt x="2409952" y="143383"/>
                  </a:lnTo>
                  <a:cubicBezTo>
                    <a:pt x="2409952" y="105283"/>
                    <a:pt x="2394839" y="68834"/>
                    <a:pt x="2368042" y="41910"/>
                  </a:cubicBezTo>
                  <a:cubicBezTo>
                    <a:pt x="2341245" y="14986"/>
                    <a:pt x="2304796" y="0"/>
                    <a:pt x="2266823" y="0"/>
                  </a:cubicBezTo>
                  <a:close/>
                </a:path>
              </a:pathLst>
            </a:custGeom>
            <a:solidFill>
              <a:srgbClr val="5600C4"/>
            </a:solidFill>
          </p:spPr>
        </p:sp>
      </p:grpSp>
      <p:sp>
        <p:nvSpPr>
          <p:cNvPr id="29" name="Freeform 29"/>
          <p:cNvSpPr/>
          <p:nvPr/>
        </p:nvSpPr>
        <p:spPr>
          <a:xfrm>
            <a:off x="11775577" y="145075"/>
            <a:ext cx="3248692" cy="3829831"/>
          </a:xfrm>
          <a:custGeom>
            <a:avLst/>
            <a:gdLst/>
            <a:ahLst/>
            <a:cxnLst/>
            <a:rect l="l" t="t" r="r" b="b"/>
            <a:pathLst>
              <a:path w="3248692" h="3829831">
                <a:moveTo>
                  <a:pt x="0" y="0"/>
                </a:moveTo>
                <a:lnTo>
                  <a:pt x="3248691" y="0"/>
                </a:lnTo>
                <a:lnTo>
                  <a:pt x="3248691" y="3829831"/>
                </a:lnTo>
                <a:lnTo>
                  <a:pt x="0" y="3829831"/>
                </a:lnTo>
                <a:lnTo>
                  <a:pt x="0" y="0"/>
                </a:lnTo>
                <a:close/>
              </a:path>
            </a:pathLst>
          </a:custGeom>
          <a:blipFill>
            <a:blip r:embed="rId3"/>
            <a:stretch>
              <a:fillRect/>
            </a:stretch>
          </a:blipFill>
        </p:spPr>
      </p:sp>
      <p:sp>
        <p:nvSpPr>
          <p:cNvPr id="30" name="TextBox 30"/>
          <p:cNvSpPr txBox="1"/>
          <p:nvPr/>
        </p:nvSpPr>
        <p:spPr>
          <a:xfrm>
            <a:off x="749856" y="1091841"/>
            <a:ext cx="5414105" cy="1485833"/>
          </a:xfrm>
          <a:prstGeom prst="rect">
            <a:avLst/>
          </a:prstGeom>
        </p:spPr>
        <p:txBody>
          <a:bodyPr lIns="0" tIns="0" rIns="0" bIns="0" rtlCol="0" anchor="t">
            <a:spAutoFit/>
          </a:bodyPr>
          <a:lstStyle/>
          <a:p>
            <a:pPr algn="l">
              <a:lnSpc>
                <a:spcPts val="5552"/>
              </a:lnSpc>
            </a:pPr>
            <a:r>
              <a:rPr lang="en-US" sz="4558" b="1" spc="59">
                <a:solidFill>
                  <a:srgbClr val="FAE013"/>
                </a:solidFill>
                <a:latin typeface="Poppins Semi-Bold"/>
                <a:ea typeface="Poppins Semi-Bold"/>
                <a:cs typeface="Poppins Semi-Bold"/>
                <a:sym typeface="Poppins Semi-Bold"/>
              </a:rPr>
              <a:t>FINISHER / LOWER ORDER ANCHOR</a:t>
            </a:r>
          </a:p>
        </p:txBody>
      </p:sp>
      <p:sp>
        <p:nvSpPr>
          <p:cNvPr id="31" name="TextBox 31"/>
          <p:cNvSpPr txBox="1"/>
          <p:nvPr/>
        </p:nvSpPr>
        <p:spPr>
          <a:xfrm>
            <a:off x="1462707" y="4508459"/>
            <a:ext cx="2262464" cy="504682"/>
          </a:xfrm>
          <a:prstGeom prst="rect">
            <a:avLst/>
          </a:prstGeom>
        </p:spPr>
        <p:txBody>
          <a:bodyPr lIns="0" tIns="0" rIns="0" bIns="0" rtlCol="0" anchor="t">
            <a:spAutoFit/>
          </a:bodyPr>
          <a:lstStyle/>
          <a:p>
            <a:pPr algn="l">
              <a:lnSpc>
                <a:spcPts val="3778"/>
              </a:lnSpc>
            </a:pPr>
            <a:r>
              <a:rPr lang="en-US" sz="2699" b="1">
                <a:solidFill>
                  <a:srgbClr val="FAE013"/>
                </a:solidFill>
                <a:latin typeface="Poppins Semi-Bold"/>
                <a:ea typeface="Poppins Semi-Bold"/>
                <a:cs typeface="Poppins Semi-Bold"/>
                <a:sym typeface="Poppins Semi-Bold"/>
              </a:rPr>
              <a:t>PARAMETERS</a:t>
            </a:r>
          </a:p>
        </p:txBody>
      </p:sp>
      <p:sp>
        <p:nvSpPr>
          <p:cNvPr id="32" name="TextBox 32"/>
          <p:cNvSpPr txBox="1"/>
          <p:nvPr/>
        </p:nvSpPr>
        <p:spPr>
          <a:xfrm>
            <a:off x="7011276" y="4508459"/>
            <a:ext cx="2282390" cy="504682"/>
          </a:xfrm>
          <a:prstGeom prst="rect">
            <a:avLst/>
          </a:prstGeom>
        </p:spPr>
        <p:txBody>
          <a:bodyPr lIns="0" tIns="0" rIns="0" bIns="0" rtlCol="0" anchor="t">
            <a:spAutoFit/>
          </a:bodyPr>
          <a:lstStyle/>
          <a:p>
            <a:pPr algn="l">
              <a:lnSpc>
                <a:spcPts val="3778"/>
              </a:lnSpc>
            </a:pPr>
            <a:r>
              <a:rPr lang="en-US" sz="2699" b="1">
                <a:solidFill>
                  <a:srgbClr val="FAE013"/>
                </a:solidFill>
                <a:latin typeface="Poppins Semi-Bold"/>
                <a:ea typeface="Poppins Semi-Bold"/>
                <a:cs typeface="Poppins Semi-Bold"/>
                <a:sym typeface="Poppins Semi-Bold"/>
              </a:rPr>
              <a:t>DESCRIPTION</a:t>
            </a:r>
          </a:p>
        </p:txBody>
      </p:sp>
      <p:sp>
        <p:nvSpPr>
          <p:cNvPr id="33" name="TextBox 33"/>
          <p:cNvSpPr txBox="1"/>
          <p:nvPr/>
        </p:nvSpPr>
        <p:spPr>
          <a:xfrm>
            <a:off x="12543282" y="4508459"/>
            <a:ext cx="1549213" cy="5081730"/>
          </a:xfrm>
          <a:prstGeom prst="rect">
            <a:avLst/>
          </a:prstGeom>
        </p:spPr>
        <p:txBody>
          <a:bodyPr lIns="0" tIns="0" rIns="0" bIns="0" rtlCol="0" anchor="t">
            <a:spAutoFit/>
          </a:bodyPr>
          <a:lstStyle/>
          <a:p>
            <a:pPr algn="ctr">
              <a:lnSpc>
                <a:spcPts val="3778"/>
              </a:lnSpc>
            </a:pPr>
            <a:r>
              <a:rPr lang="en-US" sz="2699" b="1">
                <a:solidFill>
                  <a:srgbClr val="FAE013"/>
                </a:solidFill>
                <a:latin typeface="Poppins Semi-Bold"/>
                <a:ea typeface="Poppins Semi-Bold"/>
                <a:cs typeface="Poppins Semi-Bold"/>
                <a:sym typeface="Poppins Semi-Bold"/>
              </a:rPr>
              <a:t>CRITERIA</a:t>
            </a:r>
          </a:p>
          <a:p>
            <a:pPr algn="ctr">
              <a:lnSpc>
                <a:spcPts val="6063"/>
              </a:lnSpc>
            </a:pPr>
            <a:r>
              <a:rPr lang="en-US" sz="2500" b="1">
                <a:solidFill>
                  <a:srgbClr val="FFFFFF"/>
                </a:solidFill>
                <a:latin typeface="Poppins Semi-Bold"/>
                <a:ea typeface="Poppins Semi-Bold"/>
                <a:cs typeface="Poppins Semi-Bold"/>
                <a:sym typeface="Poppins Semi-Bold"/>
              </a:rPr>
              <a:t>&gt; 25 &gt; 130 &gt; 3 &gt; 12 &gt; 4 &gt; 1 </a:t>
            </a:r>
          </a:p>
        </p:txBody>
      </p:sp>
      <p:sp>
        <p:nvSpPr>
          <p:cNvPr id="34" name="TextBox 34"/>
          <p:cNvSpPr txBox="1"/>
          <p:nvPr/>
        </p:nvSpPr>
        <p:spPr>
          <a:xfrm>
            <a:off x="1144057" y="5038839"/>
            <a:ext cx="2443610" cy="4535662"/>
          </a:xfrm>
          <a:prstGeom prst="rect">
            <a:avLst/>
          </a:prstGeom>
        </p:spPr>
        <p:txBody>
          <a:bodyPr lIns="0" tIns="0" rIns="0" bIns="0" rtlCol="0" anchor="t">
            <a:spAutoFit/>
          </a:bodyPr>
          <a:lstStyle/>
          <a:p>
            <a:pPr algn="l">
              <a:lnSpc>
                <a:spcPts val="5749"/>
              </a:lnSpc>
            </a:pPr>
            <a:r>
              <a:rPr lang="en-US" sz="2299" b="1">
                <a:solidFill>
                  <a:srgbClr val="FFFFFF"/>
                </a:solidFill>
                <a:latin typeface="Poppins Medium"/>
                <a:ea typeface="Poppins Medium"/>
                <a:cs typeface="Poppins Medium"/>
                <a:sym typeface="Poppins Medium"/>
              </a:rPr>
              <a:t>Batting Average Strike Rate Innings Batted Avg. Balls Faced Batting Position Innings Bowled</a:t>
            </a:r>
          </a:p>
        </p:txBody>
      </p:sp>
      <p:sp>
        <p:nvSpPr>
          <p:cNvPr id="35" name="TextBox 35"/>
          <p:cNvSpPr txBox="1"/>
          <p:nvPr/>
        </p:nvSpPr>
        <p:spPr>
          <a:xfrm>
            <a:off x="4624445" y="5038839"/>
            <a:ext cx="7023373" cy="4529871"/>
          </a:xfrm>
          <a:prstGeom prst="rect">
            <a:avLst/>
          </a:prstGeom>
        </p:spPr>
        <p:txBody>
          <a:bodyPr lIns="0" tIns="0" rIns="0" bIns="0" rtlCol="0" anchor="t">
            <a:spAutoFit/>
          </a:bodyPr>
          <a:lstStyle/>
          <a:p>
            <a:pPr algn="l">
              <a:lnSpc>
                <a:spcPts val="5749"/>
              </a:lnSpc>
            </a:pPr>
            <a:r>
              <a:rPr lang="en-US" sz="2299" b="1">
                <a:solidFill>
                  <a:srgbClr val="FFFFFF"/>
                </a:solidFill>
                <a:latin typeface="Poppins Medium"/>
                <a:ea typeface="Poppins Medium"/>
                <a:cs typeface="Poppins Medium"/>
                <a:sym typeface="Poppins Medium"/>
              </a:rPr>
              <a:t>Average runs scored in an innings No of runs scored per 100 balls Total Innings batted Average balls faced by the batter in an innings Order in which the batter played Total Innings Bowled by the bowler</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478" y="0"/>
            <a:ext cx="15465647" cy="10287000"/>
          </a:xfrm>
          <a:custGeom>
            <a:avLst/>
            <a:gdLst/>
            <a:ahLst/>
            <a:cxnLst/>
            <a:rect l="l" t="t" r="r" b="b"/>
            <a:pathLst>
              <a:path w="15465647" h="10287000">
                <a:moveTo>
                  <a:pt x="0" y="0"/>
                </a:moveTo>
                <a:lnTo>
                  <a:pt x="15465647" y="0"/>
                </a:lnTo>
                <a:lnTo>
                  <a:pt x="15465647" y="10287000"/>
                </a:lnTo>
                <a:lnTo>
                  <a:pt x="0" y="10287000"/>
                </a:lnTo>
                <a:lnTo>
                  <a:pt x="0" y="0"/>
                </a:lnTo>
                <a:close/>
              </a:path>
            </a:pathLst>
          </a:custGeom>
          <a:blipFill>
            <a:blip r:embed="rId2"/>
            <a:stretch>
              <a:fillRect r="-39" b="-20"/>
            </a:stretch>
          </a:blipFill>
        </p:spPr>
      </p:sp>
      <p:sp>
        <p:nvSpPr>
          <p:cNvPr id="3" name="Freeform 3"/>
          <p:cNvSpPr/>
          <p:nvPr/>
        </p:nvSpPr>
        <p:spPr>
          <a:xfrm>
            <a:off x="5088693" y="0"/>
            <a:ext cx="8345615" cy="8075381"/>
          </a:xfrm>
          <a:custGeom>
            <a:avLst/>
            <a:gdLst/>
            <a:ahLst/>
            <a:cxnLst/>
            <a:rect l="l" t="t" r="r" b="b"/>
            <a:pathLst>
              <a:path w="8345615" h="8075381">
                <a:moveTo>
                  <a:pt x="0" y="0"/>
                </a:moveTo>
                <a:lnTo>
                  <a:pt x="8345615" y="0"/>
                </a:lnTo>
                <a:lnTo>
                  <a:pt x="8345615" y="8075381"/>
                </a:lnTo>
                <a:lnTo>
                  <a:pt x="0" y="8075381"/>
                </a:lnTo>
                <a:lnTo>
                  <a:pt x="0" y="0"/>
                </a:lnTo>
                <a:close/>
              </a:path>
            </a:pathLst>
          </a:custGeom>
          <a:blipFill>
            <a:blip r:embed="rId3">
              <a:alphaModFix amt="3900"/>
            </a:blip>
            <a:stretch>
              <a:fillRect t="-21868"/>
            </a:stretch>
          </a:blipFill>
        </p:spPr>
      </p:sp>
      <p:sp>
        <p:nvSpPr>
          <p:cNvPr id="4" name="Freeform 4"/>
          <p:cNvSpPr/>
          <p:nvPr/>
        </p:nvSpPr>
        <p:spPr>
          <a:xfrm>
            <a:off x="18298" y="0"/>
            <a:ext cx="15459827" cy="10279580"/>
          </a:xfrm>
          <a:custGeom>
            <a:avLst/>
            <a:gdLst/>
            <a:ahLst/>
            <a:cxnLst/>
            <a:rect l="l" t="t" r="r" b="b"/>
            <a:pathLst>
              <a:path w="15459827" h="10279580">
                <a:moveTo>
                  <a:pt x="0" y="0"/>
                </a:moveTo>
                <a:lnTo>
                  <a:pt x="15459827" y="0"/>
                </a:lnTo>
                <a:lnTo>
                  <a:pt x="15459827" y="10279580"/>
                </a:lnTo>
                <a:lnTo>
                  <a:pt x="0" y="10279580"/>
                </a:lnTo>
                <a:lnTo>
                  <a:pt x="0" y="0"/>
                </a:lnTo>
                <a:close/>
              </a:path>
            </a:pathLst>
          </a:custGeom>
          <a:blipFill>
            <a:blip r:embed="rId4"/>
            <a:stretch>
              <a:fillRect r="-15"/>
            </a:stretch>
          </a:blipFill>
        </p:spPr>
      </p:sp>
      <p:sp>
        <p:nvSpPr>
          <p:cNvPr id="5" name="Freeform 5"/>
          <p:cNvSpPr/>
          <p:nvPr/>
        </p:nvSpPr>
        <p:spPr>
          <a:xfrm>
            <a:off x="862565" y="5728421"/>
            <a:ext cx="3305918" cy="9525"/>
          </a:xfrm>
          <a:custGeom>
            <a:avLst/>
            <a:gdLst/>
            <a:ahLst/>
            <a:cxnLst/>
            <a:rect l="l" t="t" r="r" b="b"/>
            <a:pathLst>
              <a:path w="3305918" h="9525">
                <a:moveTo>
                  <a:pt x="0" y="0"/>
                </a:moveTo>
                <a:lnTo>
                  <a:pt x="3305918" y="0"/>
                </a:lnTo>
                <a:lnTo>
                  <a:pt x="3305918" y="9525"/>
                </a:lnTo>
                <a:lnTo>
                  <a:pt x="0" y="9525"/>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6" name="Freeform 6"/>
          <p:cNvSpPr/>
          <p:nvPr/>
        </p:nvSpPr>
        <p:spPr>
          <a:xfrm>
            <a:off x="862565" y="6395961"/>
            <a:ext cx="3305918" cy="9525"/>
          </a:xfrm>
          <a:custGeom>
            <a:avLst/>
            <a:gdLst/>
            <a:ahLst/>
            <a:cxnLst/>
            <a:rect l="l" t="t" r="r" b="b"/>
            <a:pathLst>
              <a:path w="3305918" h="9525">
                <a:moveTo>
                  <a:pt x="0" y="0"/>
                </a:moveTo>
                <a:lnTo>
                  <a:pt x="3305918" y="0"/>
                </a:lnTo>
                <a:lnTo>
                  <a:pt x="3305918" y="9525"/>
                </a:lnTo>
                <a:lnTo>
                  <a:pt x="0" y="9525"/>
                </a:lnTo>
                <a:lnTo>
                  <a:pt x="0" y="0"/>
                </a:lnTo>
                <a:close/>
              </a:path>
            </a:pathLst>
          </a:custGeom>
          <a:blipFill>
            <a:blip r:embed="rId5">
              <a:extLst>
                <a:ext uri="{96DAC541-7B7A-43D3-8B79-37D633B846F1}">
                  <asvg:svgBlip xmlns="" xmlns:asvg="http://schemas.microsoft.com/office/drawing/2016/SVG/main" r:embed="rId7"/>
                </a:ext>
              </a:extLst>
            </a:blip>
            <a:stretch>
              <a:fillRect/>
            </a:stretch>
          </a:blipFill>
        </p:spPr>
      </p:sp>
      <p:sp>
        <p:nvSpPr>
          <p:cNvPr id="7" name="Freeform 7"/>
          <p:cNvSpPr/>
          <p:nvPr/>
        </p:nvSpPr>
        <p:spPr>
          <a:xfrm>
            <a:off x="862565" y="7063502"/>
            <a:ext cx="3305918" cy="9525"/>
          </a:xfrm>
          <a:custGeom>
            <a:avLst/>
            <a:gdLst/>
            <a:ahLst/>
            <a:cxnLst/>
            <a:rect l="l" t="t" r="r" b="b"/>
            <a:pathLst>
              <a:path w="3305918" h="9525">
                <a:moveTo>
                  <a:pt x="0" y="0"/>
                </a:moveTo>
                <a:lnTo>
                  <a:pt x="3305918" y="0"/>
                </a:lnTo>
                <a:lnTo>
                  <a:pt x="3305918" y="9525"/>
                </a:lnTo>
                <a:lnTo>
                  <a:pt x="0" y="9525"/>
                </a:lnTo>
                <a:lnTo>
                  <a:pt x="0" y="0"/>
                </a:lnTo>
                <a:close/>
              </a:path>
            </a:pathLst>
          </a:custGeom>
          <a:blipFill>
            <a:blip r:embed="rId5">
              <a:extLst>
                <a:ext uri="{96DAC541-7B7A-43D3-8B79-37D633B846F1}">
                  <asvg:svgBlip xmlns="" xmlns:asvg="http://schemas.microsoft.com/office/drawing/2016/SVG/main" r:embed="rId8"/>
                </a:ext>
              </a:extLst>
            </a:blip>
            <a:stretch>
              <a:fillRect/>
            </a:stretch>
          </a:blipFill>
        </p:spPr>
      </p:sp>
      <p:sp>
        <p:nvSpPr>
          <p:cNvPr id="8" name="Freeform 8"/>
          <p:cNvSpPr/>
          <p:nvPr/>
        </p:nvSpPr>
        <p:spPr>
          <a:xfrm>
            <a:off x="862565" y="7731033"/>
            <a:ext cx="3305918" cy="9525"/>
          </a:xfrm>
          <a:custGeom>
            <a:avLst/>
            <a:gdLst/>
            <a:ahLst/>
            <a:cxnLst/>
            <a:rect l="l" t="t" r="r" b="b"/>
            <a:pathLst>
              <a:path w="3305918" h="9525">
                <a:moveTo>
                  <a:pt x="0" y="0"/>
                </a:moveTo>
                <a:lnTo>
                  <a:pt x="3305918" y="0"/>
                </a:lnTo>
                <a:lnTo>
                  <a:pt x="3305918" y="9525"/>
                </a:lnTo>
                <a:lnTo>
                  <a:pt x="0" y="9525"/>
                </a:lnTo>
                <a:lnTo>
                  <a:pt x="0" y="0"/>
                </a:lnTo>
                <a:close/>
              </a:path>
            </a:pathLst>
          </a:custGeom>
          <a:blipFill>
            <a:blip r:embed="rId5">
              <a:extLst>
                <a:ext uri="{96DAC541-7B7A-43D3-8B79-37D633B846F1}">
                  <asvg:svgBlip xmlns="" xmlns:asvg="http://schemas.microsoft.com/office/drawing/2016/SVG/main" r:embed="rId9"/>
                </a:ext>
              </a:extLst>
            </a:blip>
            <a:stretch>
              <a:fillRect/>
            </a:stretch>
          </a:blipFill>
        </p:spPr>
      </p:sp>
      <p:sp>
        <p:nvSpPr>
          <p:cNvPr id="9" name="Freeform 9"/>
          <p:cNvSpPr/>
          <p:nvPr/>
        </p:nvSpPr>
        <p:spPr>
          <a:xfrm>
            <a:off x="862565" y="8398574"/>
            <a:ext cx="3305918" cy="9525"/>
          </a:xfrm>
          <a:custGeom>
            <a:avLst/>
            <a:gdLst/>
            <a:ahLst/>
            <a:cxnLst/>
            <a:rect l="l" t="t" r="r" b="b"/>
            <a:pathLst>
              <a:path w="3305918" h="9525">
                <a:moveTo>
                  <a:pt x="0" y="0"/>
                </a:moveTo>
                <a:lnTo>
                  <a:pt x="3305918" y="0"/>
                </a:lnTo>
                <a:lnTo>
                  <a:pt x="3305918" y="9524"/>
                </a:lnTo>
                <a:lnTo>
                  <a:pt x="0" y="9524"/>
                </a:lnTo>
                <a:lnTo>
                  <a:pt x="0" y="0"/>
                </a:lnTo>
                <a:close/>
              </a:path>
            </a:pathLst>
          </a:custGeom>
          <a:blipFill>
            <a:blip r:embed="rId5">
              <a:extLst>
                <a:ext uri="{96DAC541-7B7A-43D3-8B79-37D633B846F1}">
                  <asvg:svgBlip xmlns="" xmlns:asvg="http://schemas.microsoft.com/office/drawing/2016/SVG/main" r:embed="rId10"/>
                </a:ext>
              </a:extLst>
            </a:blip>
            <a:stretch>
              <a:fillRect/>
            </a:stretch>
          </a:blipFill>
        </p:spPr>
      </p:sp>
      <p:sp>
        <p:nvSpPr>
          <p:cNvPr id="10" name="Freeform 10"/>
          <p:cNvSpPr/>
          <p:nvPr/>
        </p:nvSpPr>
        <p:spPr>
          <a:xfrm>
            <a:off x="862565" y="9066114"/>
            <a:ext cx="3305918" cy="9525"/>
          </a:xfrm>
          <a:custGeom>
            <a:avLst/>
            <a:gdLst/>
            <a:ahLst/>
            <a:cxnLst/>
            <a:rect l="l" t="t" r="r" b="b"/>
            <a:pathLst>
              <a:path w="3305918" h="9525">
                <a:moveTo>
                  <a:pt x="0" y="0"/>
                </a:moveTo>
                <a:lnTo>
                  <a:pt x="3305918" y="0"/>
                </a:lnTo>
                <a:lnTo>
                  <a:pt x="3305918" y="9525"/>
                </a:lnTo>
                <a:lnTo>
                  <a:pt x="0" y="9525"/>
                </a:lnTo>
                <a:lnTo>
                  <a:pt x="0" y="0"/>
                </a:lnTo>
                <a:close/>
              </a:path>
            </a:pathLst>
          </a:custGeom>
          <a:blipFill>
            <a:blip r:embed="rId5">
              <a:extLst>
                <a:ext uri="{96DAC541-7B7A-43D3-8B79-37D633B846F1}">
                  <asvg:svgBlip xmlns="" xmlns:asvg="http://schemas.microsoft.com/office/drawing/2016/SVG/main" r:embed="rId11"/>
                </a:ext>
              </a:extLst>
            </a:blip>
            <a:stretch>
              <a:fillRect/>
            </a:stretch>
          </a:blipFill>
        </p:spPr>
      </p:sp>
      <p:grpSp>
        <p:nvGrpSpPr>
          <p:cNvPr id="11" name="Group 11"/>
          <p:cNvGrpSpPr>
            <a:grpSpLocks noChangeAspect="1"/>
          </p:cNvGrpSpPr>
          <p:nvPr/>
        </p:nvGrpSpPr>
        <p:grpSpPr>
          <a:xfrm>
            <a:off x="862784" y="4313587"/>
            <a:ext cx="3305413" cy="695468"/>
            <a:chOff x="0" y="0"/>
            <a:chExt cx="3305416" cy="695465"/>
          </a:xfrm>
        </p:grpSpPr>
        <p:sp>
          <p:nvSpPr>
            <p:cNvPr id="12" name="Freeform 12"/>
            <p:cNvSpPr/>
            <p:nvPr/>
          </p:nvSpPr>
          <p:spPr>
            <a:xfrm>
              <a:off x="0" y="0"/>
              <a:ext cx="3305429" cy="695579"/>
            </a:xfrm>
            <a:custGeom>
              <a:avLst/>
              <a:gdLst/>
              <a:ahLst/>
              <a:cxnLst/>
              <a:rect l="l" t="t" r="r" b="b"/>
              <a:pathLst>
                <a:path w="3305429" h="695579">
                  <a:moveTo>
                    <a:pt x="142875" y="0"/>
                  </a:moveTo>
                  <a:cubicBezTo>
                    <a:pt x="104902" y="0"/>
                    <a:pt x="68580" y="15113"/>
                    <a:pt x="41783" y="42037"/>
                  </a:cubicBezTo>
                  <a:cubicBezTo>
                    <a:pt x="14986" y="68961"/>
                    <a:pt x="0" y="105410"/>
                    <a:pt x="0" y="143383"/>
                  </a:cubicBezTo>
                  <a:lnTo>
                    <a:pt x="0" y="552069"/>
                  </a:lnTo>
                  <a:cubicBezTo>
                    <a:pt x="0" y="590169"/>
                    <a:pt x="14986" y="626618"/>
                    <a:pt x="41783" y="653542"/>
                  </a:cubicBezTo>
                  <a:cubicBezTo>
                    <a:pt x="68580" y="680466"/>
                    <a:pt x="104648" y="695452"/>
                    <a:pt x="142494" y="695579"/>
                  </a:cubicBezTo>
                  <a:lnTo>
                    <a:pt x="3162935" y="695579"/>
                  </a:lnTo>
                  <a:cubicBezTo>
                    <a:pt x="3200654" y="695452"/>
                    <a:pt x="3236849" y="680339"/>
                    <a:pt x="3263646" y="653542"/>
                  </a:cubicBezTo>
                  <a:cubicBezTo>
                    <a:pt x="3290443" y="626745"/>
                    <a:pt x="3305429" y="590169"/>
                    <a:pt x="3305429" y="552069"/>
                  </a:cubicBezTo>
                  <a:lnTo>
                    <a:pt x="3305429" y="143383"/>
                  </a:lnTo>
                  <a:cubicBezTo>
                    <a:pt x="3305429" y="105283"/>
                    <a:pt x="3290443" y="68834"/>
                    <a:pt x="3263646" y="41910"/>
                  </a:cubicBezTo>
                  <a:cubicBezTo>
                    <a:pt x="3236849" y="14986"/>
                    <a:pt x="3200527" y="0"/>
                    <a:pt x="3162554" y="0"/>
                  </a:cubicBezTo>
                  <a:close/>
                </a:path>
              </a:pathLst>
            </a:custGeom>
            <a:solidFill>
              <a:srgbClr val="5600C4"/>
            </a:solidFill>
          </p:spPr>
        </p:sp>
      </p:grpSp>
      <p:sp>
        <p:nvSpPr>
          <p:cNvPr id="13" name="Freeform 13"/>
          <p:cNvSpPr/>
          <p:nvPr/>
        </p:nvSpPr>
        <p:spPr>
          <a:xfrm>
            <a:off x="4322540" y="4364860"/>
            <a:ext cx="9535" cy="5192211"/>
          </a:xfrm>
          <a:custGeom>
            <a:avLst/>
            <a:gdLst/>
            <a:ahLst/>
            <a:cxnLst/>
            <a:rect l="l" t="t" r="r" b="b"/>
            <a:pathLst>
              <a:path w="9535" h="5192211">
                <a:moveTo>
                  <a:pt x="0" y="0"/>
                </a:moveTo>
                <a:lnTo>
                  <a:pt x="9535" y="0"/>
                </a:lnTo>
                <a:lnTo>
                  <a:pt x="9535" y="5192211"/>
                </a:lnTo>
                <a:lnTo>
                  <a:pt x="0" y="5192211"/>
                </a:lnTo>
                <a:lnTo>
                  <a:pt x="0" y="0"/>
                </a:lnTo>
                <a:close/>
              </a:path>
            </a:pathLst>
          </a:custGeom>
          <a:blipFill>
            <a:blip r:embed="rId12">
              <a:extLst>
                <a:ext uri="{96DAC541-7B7A-43D3-8B79-37D633B846F1}">
                  <asvg:svgBlip xmlns="" xmlns:asvg="http://schemas.microsoft.com/office/drawing/2016/SVG/main" r:embed="rId13"/>
                </a:ext>
              </a:extLst>
            </a:blip>
            <a:stretch>
              <a:fillRect/>
            </a:stretch>
          </a:blipFill>
        </p:spPr>
      </p:sp>
      <p:sp>
        <p:nvSpPr>
          <p:cNvPr id="14" name="Freeform 14"/>
          <p:cNvSpPr/>
          <p:nvPr/>
        </p:nvSpPr>
        <p:spPr>
          <a:xfrm>
            <a:off x="0" y="2717025"/>
            <a:ext cx="7667082" cy="38100"/>
          </a:xfrm>
          <a:custGeom>
            <a:avLst/>
            <a:gdLst/>
            <a:ahLst/>
            <a:cxnLst/>
            <a:rect l="l" t="t" r="r" b="b"/>
            <a:pathLst>
              <a:path w="7667082" h="38100">
                <a:moveTo>
                  <a:pt x="0" y="0"/>
                </a:moveTo>
                <a:lnTo>
                  <a:pt x="7667082" y="0"/>
                </a:lnTo>
                <a:lnTo>
                  <a:pt x="7667082" y="38100"/>
                </a:lnTo>
                <a:lnTo>
                  <a:pt x="0" y="38100"/>
                </a:lnTo>
                <a:lnTo>
                  <a:pt x="0" y="0"/>
                </a:lnTo>
                <a:close/>
              </a:path>
            </a:pathLst>
          </a:custGeom>
          <a:blipFill>
            <a:blip r:embed="rId14">
              <a:extLst>
                <a:ext uri="{96DAC541-7B7A-43D3-8B79-37D633B846F1}">
                  <asvg:svgBlip xmlns="" xmlns:asvg="http://schemas.microsoft.com/office/drawing/2016/SVG/main" r:embed="rId15"/>
                </a:ext>
              </a:extLst>
            </a:blip>
            <a:stretch>
              <a:fillRect/>
            </a:stretch>
          </a:blipFill>
        </p:spPr>
      </p:sp>
      <p:sp>
        <p:nvSpPr>
          <p:cNvPr id="15" name="Freeform 15"/>
          <p:cNvSpPr/>
          <p:nvPr/>
        </p:nvSpPr>
        <p:spPr>
          <a:xfrm>
            <a:off x="4484513" y="5737946"/>
            <a:ext cx="7259669" cy="9525"/>
          </a:xfrm>
          <a:custGeom>
            <a:avLst/>
            <a:gdLst/>
            <a:ahLst/>
            <a:cxnLst/>
            <a:rect l="l" t="t" r="r" b="b"/>
            <a:pathLst>
              <a:path w="7259669" h="9525">
                <a:moveTo>
                  <a:pt x="0" y="0"/>
                </a:moveTo>
                <a:lnTo>
                  <a:pt x="7259669" y="0"/>
                </a:lnTo>
                <a:lnTo>
                  <a:pt x="7259669" y="9525"/>
                </a:lnTo>
                <a:lnTo>
                  <a:pt x="0" y="9525"/>
                </a:lnTo>
                <a:lnTo>
                  <a:pt x="0" y="0"/>
                </a:lnTo>
                <a:close/>
              </a:path>
            </a:pathLst>
          </a:custGeom>
          <a:blipFill>
            <a:blip r:embed="rId16">
              <a:extLst>
                <a:ext uri="{96DAC541-7B7A-43D3-8B79-37D633B846F1}">
                  <asvg:svgBlip xmlns="" xmlns:asvg="http://schemas.microsoft.com/office/drawing/2016/SVG/main" r:embed="rId17"/>
                </a:ext>
              </a:extLst>
            </a:blip>
            <a:stretch>
              <a:fillRect/>
            </a:stretch>
          </a:blipFill>
        </p:spPr>
      </p:sp>
      <p:sp>
        <p:nvSpPr>
          <p:cNvPr id="16" name="Freeform 16"/>
          <p:cNvSpPr/>
          <p:nvPr/>
        </p:nvSpPr>
        <p:spPr>
          <a:xfrm>
            <a:off x="4484513" y="6405486"/>
            <a:ext cx="7259669" cy="9525"/>
          </a:xfrm>
          <a:custGeom>
            <a:avLst/>
            <a:gdLst/>
            <a:ahLst/>
            <a:cxnLst/>
            <a:rect l="l" t="t" r="r" b="b"/>
            <a:pathLst>
              <a:path w="7259669" h="9525">
                <a:moveTo>
                  <a:pt x="0" y="0"/>
                </a:moveTo>
                <a:lnTo>
                  <a:pt x="7259669" y="0"/>
                </a:lnTo>
                <a:lnTo>
                  <a:pt x="7259669" y="9525"/>
                </a:lnTo>
                <a:lnTo>
                  <a:pt x="0" y="9525"/>
                </a:lnTo>
                <a:lnTo>
                  <a:pt x="0" y="0"/>
                </a:lnTo>
                <a:close/>
              </a:path>
            </a:pathLst>
          </a:custGeom>
          <a:blipFill>
            <a:blip r:embed="rId16">
              <a:extLst>
                <a:ext uri="{96DAC541-7B7A-43D3-8B79-37D633B846F1}">
                  <asvg:svgBlip xmlns="" xmlns:asvg="http://schemas.microsoft.com/office/drawing/2016/SVG/main" r:embed="rId18"/>
                </a:ext>
              </a:extLst>
            </a:blip>
            <a:stretch>
              <a:fillRect/>
            </a:stretch>
          </a:blipFill>
        </p:spPr>
      </p:sp>
      <p:sp>
        <p:nvSpPr>
          <p:cNvPr id="17" name="Freeform 17"/>
          <p:cNvSpPr/>
          <p:nvPr/>
        </p:nvSpPr>
        <p:spPr>
          <a:xfrm>
            <a:off x="4484513" y="7073027"/>
            <a:ext cx="7259669" cy="9525"/>
          </a:xfrm>
          <a:custGeom>
            <a:avLst/>
            <a:gdLst/>
            <a:ahLst/>
            <a:cxnLst/>
            <a:rect l="l" t="t" r="r" b="b"/>
            <a:pathLst>
              <a:path w="7259669" h="9525">
                <a:moveTo>
                  <a:pt x="0" y="0"/>
                </a:moveTo>
                <a:lnTo>
                  <a:pt x="7259669" y="0"/>
                </a:lnTo>
                <a:lnTo>
                  <a:pt x="7259669" y="9525"/>
                </a:lnTo>
                <a:lnTo>
                  <a:pt x="0" y="9525"/>
                </a:lnTo>
                <a:lnTo>
                  <a:pt x="0" y="0"/>
                </a:lnTo>
                <a:close/>
              </a:path>
            </a:pathLst>
          </a:custGeom>
          <a:blipFill>
            <a:blip r:embed="rId16">
              <a:extLst>
                <a:ext uri="{96DAC541-7B7A-43D3-8B79-37D633B846F1}">
                  <asvg:svgBlip xmlns="" xmlns:asvg="http://schemas.microsoft.com/office/drawing/2016/SVG/main" r:embed="rId19"/>
                </a:ext>
              </a:extLst>
            </a:blip>
            <a:stretch>
              <a:fillRect/>
            </a:stretch>
          </a:blipFill>
        </p:spPr>
      </p:sp>
      <p:sp>
        <p:nvSpPr>
          <p:cNvPr id="18" name="Freeform 18"/>
          <p:cNvSpPr/>
          <p:nvPr/>
        </p:nvSpPr>
        <p:spPr>
          <a:xfrm>
            <a:off x="4484513" y="7740558"/>
            <a:ext cx="7259669" cy="9525"/>
          </a:xfrm>
          <a:custGeom>
            <a:avLst/>
            <a:gdLst/>
            <a:ahLst/>
            <a:cxnLst/>
            <a:rect l="l" t="t" r="r" b="b"/>
            <a:pathLst>
              <a:path w="7259669" h="9525">
                <a:moveTo>
                  <a:pt x="0" y="0"/>
                </a:moveTo>
                <a:lnTo>
                  <a:pt x="7259669" y="0"/>
                </a:lnTo>
                <a:lnTo>
                  <a:pt x="7259669" y="9525"/>
                </a:lnTo>
                <a:lnTo>
                  <a:pt x="0" y="9525"/>
                </a:lnTo>
                <a:lnTo>
                  <a:pt x="0" y="0"/>
                </a:lnTo>
                <a:close/>
              </a:path>
            </a:pathLst>
          </a:custGeom>
          <a:blipFill>
            <a:blip r:embed="rId16">
              <a:extLst>
                <a:ext uri="{96DAC541-7B7A-43D3-8B79-37D633B846F1}">
                  <asvg:svgBlip xmlns="" xmlns:asvg="http://schemas.microsoft.com/office/drawing/2016/SVG/main" r:embed="rId20"/>
                </a:ext>
              </a:extLst>
            </a:blip>
            <a:stretch>
              <a:fillRect/>
            </a:stretch>
          </a:blipFill>
        </p:spPr>
      </p:sp>
      <p:sp>
        <p:nvSpPr>
          <p:cNvPr id="19" name="Freeform 19"/>
          <p:cNvSpPr/>
          <p:nvPr/>
        </p:nvSpPr>
        <p:spPr>
          <a:xfrm>
            <a:off x="4484513" y="8408098"/>
            <a:ext cx="7259669" cy="9525"/>
          </a:xfrm>
          <a:custGeom>
            <a:avLst/>
            <a:gdLst/>
            <a:ahLst/>
            <a:cxnLst/>
            <a:rect l="l" t="t" r="r" b="b"/>
            <a:pathLst>
              <a:path w="7259669" h="9525">
                <a:moveTo>
                  <a:pt x="0" y="0"/>
                </a:moveTo>
                <a:lnTo>
                  <a:pt x="7259669" y="0"/>
                </a:lnTo>
                <a:lnTo>
                  <a:pt x="7259669" y="9526"/>
                </a:lnTo>
                <a:lnTo>
                  <a:pt x="0" y="9526"/>
                </a:lnTo>
                <a:lnTo>
                  <a:pt x="0" y="0"/>
                </a:lnTo>
                <a:close/>
              </a:path>
            </a:pathLst>
          </a:custGeom>
          <a:blipFill>
            <a:blip r:embed="rId16">
              <a:extLst>
                <a:ext uri="{96DAC541-7B7A-43D3-8B79-37D633B846F1}">
                  <asvg:svgBlip xmlns="" xmlns:asvg="http://schemas.microsoft.com/office/drawing/2016/SVG/main" r:embed="rId21"/>
                </a:ext>
              </a:extLst>
            </a:blip>
            <a:stretch>
              <a:fillRect/>
            </a:stretch>
          </a:blipFill>
        </p:spPr>
      </p:sp>
      <p:sp>
        <p:nvSpPr>
          <p:cNvPr id="20" name="Freeform 20"/>
          <p:cNvSpPr/>
          <p:nvPr/>
        </p:nvSpPr>
        <p:spPr>
          <a:xfrm>
            <a:off x="4484513" y="9075639"/>
            <a:ext cx="7259669" cy="9525"/>
          </a:xfrm>
          <a:custGeom>
            <a:avLst/>
            <a:gdLst/>
            <a:ahLst/>
            <a:cxnLst/>
            <a:rect l="l" t="t" r="r" b="b"/>
            <a:pathLst>
              <a:path w="7259669" h="9525">
                <a:moveTo>
                  <a:pt x="0" y="0"/>
                </a:moveTo>
                <a:lnTo>
                  <a:pt x="7259669" y="0"/>
                </a:lnTo>
                <a:lnTo>
                  <a:pt x="7259669" y="9525"/>
                </a:lnTo>
                <a:lnTo>
                  <a:pt x="0" y="9525"/>
                </a:lnTo>
                <a:lnTo>
                  <a:pt x="0" y="0"/>
                </a:lnTo>
                <a:close/>
              </a:path>
            </a:pathLst>
          </a:custGeom>
          <a:blipFill>
            <a:blip r:embed="rId16">
              <a:extLst>
                <a:ext uri="{96DAC541-7B7A-43D3-8B79-37D633B846F1}">
                  <asvg:svgBlip xmlns="" xmlns:asvg="http://schemas.microsoft.com/office/drawing/2016/SVG/main" r:embed="rId22"/>
                </a:ext>
              </a:extLst>
            </a:blip>
            <a:stretch>
              <a:fillRect/>
            </a:stretch>
          </a:blipFill>
        </p:spPr>
      </p:sp>
      <p:grpSp>
        <p:nvGrpSpPr>
          <p:cNvPr id="21" name="Group 21"/>
          <p:cNvGrpSpPr>
            <a:grpSpLocks noChangeAspect="1"/>
          </p:cNvGrpSpPr>
          <p:nvPr/>
        </p:nvGrpSpPr>
        <p:grpSpPr>
          <a:xfrm>
            <a:off x="4485008" y="4313587"/>
            <a:ext cx="7287111" cy="695468"/>
            <a:chOff x="0" y="0"/>
            <a:chExt cx="7287108" cy="695465"/>
          </a:xfrm>
        </p:grpSpPr>
        <p:sp>
          <p:nvSpPr>
            <p:cNvPr id="22" name="Freeform 22"/>
            <p:cNvSpPr/>
            <p:nvPr/>
          </p:nvSpPr>
          <p:spPr>
            <a:xfrm>
              <a:off x="0" y="0"/>
              <a:ext cx="7287133" cy="695579"/>
            </a:xfrm>
            <a:custGeom>
              <a:avLst/>
              <a:gdLst/>
              <a:ahLst/>
              <a:cxnLst/>
              <a:rect l="l" t="t" r="r" b="b"/>
              <a:pathLst>
                <a:path w="7287133" h="695579">
                  <a:moveTo>
                    <a:pt x="142875" y="0"/>
                  </a:moveTo>
                  <a:cubicBezTo>
                    <a:pt x="104902" y="0"/>
                    <a:pt x="68580" y="15113"/>
                    <a:pt x="41783" y="42037"/>
                  </a:cubicBezTo>
                  <a:cubicBezTo>
                    <a:pt x="14986" y="68961"/>
                    <a:pt x="0" y="105410"/>
                    <a:pt x="0" y="143383"/>
                  </a:cubicBezTo>
                  <a:lnTo>
                    <a:pt x="0" y="552069"/>
                  </a:lnTo>
                  <a:cubicBezTo>
                    <a:pt x="0" y="590169"/>
                    <a:pt x="14986" y="626618"/>
                    <a:pt x="41783" y="653542"/>
                  </a:cubicBezTo>
                  <a:cubicBezTo>
                    <a:pt x="68580" y="680466"/>
                    <a:pt x="104648" y="695452"/>
                    <a:pt x="142494" y="695579"/>
                  </a:cubicBezTo>
                  <a:lnTo>
                    <a:pt x="7144639" y="695579"/>
                  </a:lnTo>
                  <a:cubicBezTo>
                    <a:pt x="7182358" y="695452"/>
                    <a:pt x="7218553" y="680339"/>
                    <a:pt x="7245350" y="653542"/>
                  </a:cubicBezTo>
                  <a:cubicBezTo>
                    <a:pt x="7272147" y="626745"/>
                    <a:pt x="7287133" y="590169"/>
                    <a:pt x="7287133" y="552069"/>
                  </a:cubicBezTo>
                  <a:lnTo>
                    <a:pt x="7287133" y="143383"/>
                  </a:lnTo>
                  <a:cubicBezTo>
                    <a:pt x="7287133" y="105283"/>
                    <a:pt x="7272147" y="68834"/>
                    <a:pt x="7245350" y="41910"/>
                  </a:cubicBezTo>
                  <a:cubicBezTo>
                    <a:pt x="7218553" y="14986"/>
                    <a:pt x="7182104" y="0"/>
                    <a:pt x="7144258" y="0"/>
                  </a:cubicBezTo>
                  <a:close/>
                </a:path>
              </a:pathLst>
            </a:custGeom>
            <a:solidFill>
              <a:srgbClr val="5600C4"/>
            </a:solidFill>
          </p:spPr>
        </p:sp>
      </p:grpSp>
      <p:sp>
        <p:nvSpPr>
          <p:cNvPr id="23" name="Freeform 23"/>
          <p:cNvSpPr/>
          <p:nvPr/>
        </p:nvSpPr>
        <p:spPr>
          <a:xfrm>
            <a:off x="11938625" y="4450613"/>
            <a:ext cx="9525" cy="5106457"/>
          </a:xfrm>
          <a:custGeom>
            <a:avLst/>
            <a:gdLst/>
            <a:ahLst/>
            <a:cxnLst/>
            <a:rect l="l" t="t" r="r" b="b"/>
            <a:pathLst>
              <a:path w="9525" h="5106457">
                <a:moveTo>
                  <a:pt x="0" y="0"/>
                </a:moveTo>
                <a:lnTo>
                  <a:pt x="9525" y="0"/>
                </a:lnTo>
                <a:lnTo>
                  <a:pt x="9525" y="5106458"/>
                </a:lnTo>
                <a:lnTo>
                  <a:pt x="0" y="5106458"/>
                </a:lnTo>
                <a:lnTo>
                  <a:pt x="0" y="0"/>
                </a:lnTo>
                <a:close/>
              </a:path>
            </a:pathLst>
          </a:custGeom>
          <a:blipFill>
            <a:blip r:embed="rId23">
              <a:extLst>
                <a:ext uri="{96DAC541-7B7A-43D3-8B79-37D633B846F1}">
                  <asvg:svgBlip xmlns="" xmlns:asvg="http://schemas.microsoft.com/office/drawing/2016/SVG/main" r:embed="rId24"/>
                </a:ext>
              </a:extLst>
            </a:blip>
            <a:stretch>
              <a:fillRect/>
            </a:stretch>
          </a:blipFill>
        </p:spPr>
      </p:sp>
      <p:sp>
        <p:nvSpPr>
          <p:cNvPr id="24" name="Freeform 24"/>
          <p:cNvSpPr/>
          <p:nvPr/>
        </p:nvSpPr>
        <p:spPr>
          <a:xfrm>
            <a:off x="12099493" y="5746118"/>
            <a:ext cx="2534298" cy="9525"/>
          </a:xfrm>
          <a:custGeom>
            <a:avLst/>
            <a:gdLst/>
            <a:ahLst/>
            <a:cxnLst/>
            <a:rect l="l" t="t" r="r" b="b"/>
            <a:pathLst>
              <a:path w="2534298" h="9525">
                <a:moveTo>
                  <a:pt x="0" y="0"/>
                </a:moveTo>
                <a:lnTo>
                  <a:pt x="2534298" y="0"/>
                </a:lnTo>
                <a:lnTo>
                  <a:pt x="2534298" y="9525"/>
                </a:lnTo>
                <a:lnTo>
                  <a:pt x="0" y="9525"/>
                </a:lnTo>
                <a:lnTo>
                  <a:pt x="0" y="0"/>
                </a:lnTo>
                <a:close/>
              </a:path>
            </a:pathLst>
          </a:custGeom>
          <a:blipFill>
            <a:blip r:embed="rId25">
              <a:extLst>
                <a:ext uri="{96DAC541-7B7A-43D3-8B79-37D633B846F1}">
                  <asvg:svgBlip xmlns="" xmlns:asvg="http://schemas.microsoft.com/office/drawing/2016/SVG/main" r:embed="rId26"/>
                </a:ext>
              </a:extLst>
            </a:blip>
            <a:stretch>
              <a:fillRect/>
            </a:stretch>
          </a:blipFill>
        </p:spPr>
      </p:sp>
      <p:sp>
        <p:nvSpPr>
          <p:cNvPr id="25" name="Freeform 25"/>
          <p:cNvSpPr/>
          <p:nvPr/>
        </p:nvSpPr>
        <p:spPr>
          <a:xfrm>
            <a:off x="12099493" y="6412297"/>
            <a:ext cx="2534298" cy="9525"/>
          </a:xfrm>
          <a:custGeom>
            <a:avLst/>
            <a:gdLst/>
            <a:ahLst/>
            <a:cxnLst/>
            <a:rect l="l" t="t" r="r" b="b"/>
            <a:pathLst>
              <a:path w="2534298" h="9525">
                <a:moveTo>
                  <a:pt x="0" y="0"/>
                </a:moveTo>
                <a:lnTo>
                  <a:pt x="2534298" y="0"/>
                </a:lnTo>
                <a:lnTo>
                  <a:pt x="2534298" y="9525"/>
                </a:lnTo>
                <a:lnTo>
                  <a:pt x="0" y="9525"/>
                </a:lnTo>
                <a:lnTo>
                  <a:pt x="0" y="0"/>
                </a:lnTo>
                <a:close/>
              </a:path>
            </a:pathLst>
          </a:custGeom>
          <a:blipFill>
            <a:blip r:embed="rId25">
              <a:extLst>
                <a:ext uri="{96DAC541-7B7A-43D3-8B79-37D633B846F1}">
                  <asvg:svgBlip xmlns="" xmlns:asvg="http://schemas.microsoft.com/office/drawing/2016/SVG/main" r:embed="rId27"/>
                </a:ext>
              </a:extLst>
            </a:blip>
            <a:stretch>
              <a:fillRect/>
            </a:stretch>
          </a:blipFill>
        </p:spPr>
      </p:sp>
      <p:sp>
        <p:nvSpPr>
          <p:cNvPr id="26" name="Freeform 26"/>
          <p:cNvSpPr/>
          <p:nvPr/>
        </p:nvSpPr>
        <p:spPr>
          <a:xfrm>
            <a:off x="12099493" y="7078475"/>
            <a:ext cx="2534298" cy="9525"/>
          </a:xfrm>
          <a:custGeom>
            <a:avLst/>
            <a:gdLst/>
            <a:ahLst/>
            <a:cxnLst/>
            <a:rect l="l" t="t" r="r" b="b"/>
            <a:pathLst>
              <a:path w="2534298" h="9525">
                <a:moveTo>
                  <a:pt x="0" y="0"/>
                </a:moveTo>
                <a:lnTo>
                  <a:pt x="2534298" y="0"/>
                </a:lnTo>
                <a:lnTo>
                  <a:pt x="2534298" y="9525"/>
                </a:lnTo>
                <a:lnTo>
                  <a:pt x="0" y="9525"/>
                </a:lnTo>
                <a:lnTo>
                  <a:pt x="0" y="0"/>
                </a:lnTo>
                <a:close/>
              </a:path>
            </a:pathLst>
          </a:custGeom>
          <a:blipFill>
            <a:blip r:embed="rId25">
              <a:extLst>
                <a:ext uri="{96DAC541-7B7A-43D3-8B79-37D633B846F1}">
                  <asvg:svgBlip xmlns="" xmlns:asvg="http://schemas.microsoft.com/office/drawing/2016/SVG/main" r:embed="rId28"/>
                </a:ext>
              </a:extLst>
            </a:blip>
            <a:stretch>
              <a:fillRect/>
            </a:stretch>
          </a:blipFill>
        </p:spPr>
      </p:sp>
      <p:sp>
        <p:nvSpPr>
          <p:cNvPr id="27" name="Freeform 27"/>
          <p:cNvSpPr/>
          <p:nvPr/>
        </p:nvSpPr>
        <p:spPr>
          <a:xfrm>
            <a:off x="12099493" y="7744654"/>
            <a:ext cx="2534298" cy="9525"/>
          </a:xfrm>
          <a:custGeom>
            <a:avLst/>
            <a:gdLst/>
            <a:ahLst/>
            <a:cxnLst/>
            <a:rect l="l" t="t" r="r" b="b"/>
            <a:pathLst>
              <a:path w="2534298" h="9525">
                <a:moveTo>
                  <a:pt x="0" y="0"/>
                </a:moveTo>
                <a:lnTo>
                  <a:pt x="2534298" y="0"/>
                </a:lnTo>
                <a:lnTo>
                  <a:pt x="2534298" y="9525"/>
                </a:lnTo>
                <a:lnTo>
                  <a:pt x="0" y="9525"/>
                </a:lnTo>
                <a:lnTo>
                  <a:pt x="0" y="0"/>
                </a:lnTo>
                <a:close/>
              </a:path>
            </a:pathLst>
          </a:custGeom>
          <a:blipFill>
            <a:blip r:embed="rId25">
              <a:extLst>
                <a:ext uri="{96DAC541-7B7A-43D3-8B79-37D633B846F1}">
                  <asvg:svgBlip xmlns="" xmlns:asvg="http://schemas.microsoft.com/office/drawing/2016/SVG/main" r:embed="rId29"/>
                </a:ext>
              </a:extLst>
            </a:blip>
            <a:stretch>
              <a:fillRect/>
            </a:stretch>
          </a:blipFill>
        </p:spPr>
      </p:sp>
      <p:sp>
        <p:nvSpPr>
          <p:cNvPr id="28" name="Freeform 28"/>
          <p:cNvSpPr/>
          <p:nvPr/>
        </p:nvSpPr>
        <p:spPr>
          <a:xfrm>
            <a:off x="12099493" y="8410823"/>
            <a:ext cx="2534298" cy="9525"/>
          </a:xfrm>
          <a:custGeom>
            <a:avLst/>
            <a:gdLst/>
            <a:ahLst/>
            <a:cxnLst/>
            <a:rect l="l" t="t" r="r" b="b"/>
            <a:pathLst>
              <a:path w="2534298" h="9525">
                <a:moveTo>
                  <a:pt x="0" y="0"/>
                </a:moveTo>
                <a:lnTo>
                  <a:pt x="2534298" y="0"/>
                </a:lnTo>
                <a:lnTo>
                  <a:pt x="2534298" y="9525"/>
                </a:lnTo>
                <a:lnTo>
                  <a:pt x="0" y="9525"/>
                </a:lnTo>
                <a:lnTo>
                  <a:pt x="0" y="0"/>
                </a:lnTo>
                <a:close/>
              </a:path>
            </a:pathLst>
          </a:custGeom>
          <a:blipFill>
            <a:blip r:embed="rId25">
              <a:extLst>
                <a:ext uri="{96DAC541-7B7A-43D3-8B79-37D633B846F1}">
                  <asvg:svgBlip xmlns="" xmlns:asvg="http://schemas.microsoft.com/office/drawing/2016/SVG/main" r:embed="rId30"/>
                </a:ext>
              </a:extLst>
            </a:blip>
            <a:stretch>
              <a:fillRect/>
            </a:stretch>
          </a:blipFill>
        </p:spPr>
      </p:sp>
      <p:sp>
        <p:nvSpPr>
          <p:cNvPr id="29" name="Freeform 29"/>
          <p:cNvSpPr/>
          <p:nvPr/>
        </p:nvSpPr>
        <p:spPr>
          <a:xfrm>
            <a:off x="12099493" y="9077001"/>
            <a:ext cx="2534298" cy="9525"/>
          </a:xfrm>
          <a:custGeom>
            <a:avLst/>
            <a:gdLst/>
            <a:ahLst/>
            <a:cxnLst/>
            <a:rect l="l" t="t" r="r" b="b"/>
            <a:pathLst>
              <a:path w="2534298" h="9525">
                <a:moveTo>
                  <a:pt x="0" y="0"/>
                </a:moveTo>
                <a:lnTo>
                  <a:pt x="2534298" y="0"/>
                </a:lnTo>
                <a:lnTo>
                  <a:pt x="2534298" y="9525"/>
                </a:lnTo>
                <a:lnTo>
                  <a:pt x="0" y="9525"/>
                </a:lnTo>
                <a:lnTo>
                  <a:pt x="0" y="0"/>
                </a:lnTo>
                <a:close/>
              </a:path>
            </a:pathLst>
          </a:custGeom>
          <a:blipFill>
            <a:blip r:embed="rId25">
              <a:extLst>
                <a:ext uri="{96DAC541-7B7A-43D3-8B79-37D633B846F1}">
                  <asvg:svgBlip xmlns="" xmlns:asvg="http://schemas.microsoft.com/office/drawing/2016/SVG/main" r:embed="rId31"/>
                </a:ext>
              </a:extLst>
            </a:blip>
            <a:stretch>
              <a:fillRect/>
            </a:stretch>
          </a:blipFill>
        </p:spPr>
      </p:sp>
      <p:grpSp>
        <p:nvGrpSpPr>
          <p:cNvPr id="30" name="Group 30"/>
          <p:cNvGrpSpPr>
            <a:grpSpLocks noChangeAspect="1"/>
          </p:cNvGrpSpPr>
          <p:nvPr/>
        </p:nvGrpSpPr>
        <p:grpSpPr>
          <a:xfrm>
            <a:off x="12099617" y="4313587"/>
            <a:ext cx="2533907" cy="695468"/>
            <a:chOff x="0" y="0"/>
            <a:chExt cx="2533917" cy="695465"/>
          </a:xfrm>
        </p:grpSpPr>
        <p:sp>
          <p:nvSpPr>
            <p:cNvPr id="31" name="Freeform 31"/>
            <p:cNvSpPr/>
            <p:nvPr/>
          </p:nvSpPr>
          <p:spPr>
            <a:xfrm>
              <a:off x="0" y="0"/>
              <a:ext cx="2533904" cy="695579"/>
            </a:xfrm>
            <a:custGeom>
              <a:avLst/>
              <a:gdLst/>
              <a:ahLst/>
              <a:cxnLst/>
              <a:rect l="l" t="t" r="r" b="b"/>
              <a:pathLst>
                <a:path w="2533904" h="695579">
                  <a:moveTo>
                    <a:pt x="142748" y="0"/>
                  </a:moveTo>
                  <a:cubicBezTo>
                    <a:pt x="104902" y="0"/>
                    <a:pt x="68580" y="15113"/>
                    <a:pt x="41783" y="42037"/>
                  </a:cubicBezTo>
                  <a:cubicBezTo>
                    <a:pt x="14986" y="68961"/>
                    <a:pt x="0" y="105410"/>
                    <a:pt x="0" y="143383"/>
                  </a:cubicBezTo>
                  <a:lnTo>
                    <a:pt x="0" y="552069"/>
                  </a:lnTo>
                  <a:cubicBezTo>
                    <a:pt x="0" y="590169"/>
                    <a:pt x="14986" y="626618"/>
                    <a:pt x="41783" y="653542"/>
                  </a:cubicBezTo>
                  <a:cubicBezTo>
                    <a:pt x="68580" y="680466"/>
                    <a:pt x="104648" y="695452"/>
                    <a:pt x="142367" y="695579"/>
                  </a:cubicBezTo>
                  <a:lnTo>
                    <a:pt x="2391537" y="695579"/>
                  </a:lnTo>
                  <a:cubicBezTo>
                    <a:pt x="2429256" y="695452"/>
                    <a:pt x="2465451" y="680339"/>
                    <a:pt x="2492121" y="653542"/>
                  </a:cubicBezTo>
                  <a:cubicBezTo>
                    <a:pt x="2518791" y="626745"/>
                    <a:pt x="2533904" y="590169"/>
                    <a:pt x="2533904" y="552069"/>
                  </a:cubicBezTo>
                  <a:lnTo>
                    <a:pt x="2533904" y="143383"/>
                  </a:lnTo>
                  <a:cubicBezTo>
                    <a:pt x="2533904" y="105283"/>
                    <a:pt x="2518918" y="68834"/>
                    <a:pt x="2492121" y="41910"/>
                  </a:cubicBezTo>
                  <a:cubicBezTo>
                    <a:pt x="2465324" y="14986"/>
                    <a:pt x="2429002" y="0"/>
                    <a:pt x="2391156" y="0"/>
                  </a:cubicBezTo>
                  <a:close/>
                </a:path>
              </a:pathLst>
            </a:custGeom>
            <a:solidFill>
              <a:srgbClr val="5600C4"/>
            </a:solidFill>
          </p:spPr>
        </p:sp>
      </p:grpSp>
      <p:sp>
        <p:nvSpPr>
          <p:cNvPr id="32" name="Freeform 32"/>
          <p:cNvSpPr/>
          <p:nvPr/>
        </p:nvSpPr>
        <p:spPr>
          <a:xfrm>
            <a:off x="11776510" y="133064"/>
            <a:ext cx="3248692" cy="3829831"/>
          </a:xfrm>
          <a:custGeom>
            <a:avLst/>
            <a:gdLst/>
            <a:ahLst/>
            <a:cxnLst/>
            <a:rect l="l" t="t" r="r" b="b"/>
            <a:pathLst>
              <a:path w="3248692" h="3829831">
                <a:moveTo>
                  <a:pt x="0" y="0"/>
                </a:moveTo>
                <a:lnTo>
                  <a:pt x="3248692" y="0"/>
                </a:lnTo>
                <a:lnTo>
                  <a:pt x="3248692" y="3829831"/>
                </a:lnTo>
                <a:lnTo>
                  <a:pt x="0" y="3829831"/>
                </a:lnTo>
                <a:lnTo>
                  <a:pt x="0" y="0"/>
                </a:lnTo>
                <a:close/>
              </a:path>
            </a:pathLst>
          </a:custGeom>
          <a:blipFill>
            <a:blip r:embed="rId3"/>
            <a:stretch>
              <a:fillRect/>
            </a:stretch>
          </a:blipFill>
        </p:spPr>
      </p:sp>
      <p:sp>
        <p:nvSpPr>
          <p:cNvPr id="33" name="TextBox 33"/>
          <p:cNvSpPr txBox="1"/>
          <p:nvPr/>
        </p:nvSpPr>
        <p:spPr>
          <a:xfrm>
            <a:off x="749856" y="1091841"/>
            <a:ext cx="5147786" cy="1485833"/>
          </a:xfrm>
          <a:prstGeom prst="rect">
            <a:avLst/>
          </a:prstGeom>
        </p:spPr>
        <p:txBody>
          <a:bodyPr lIns="0" tIns="0" rIns="0" bIns="0" rtlCol="0" anchor="t">
            <a:spAutoFit/>
          </a:bodyPr>
          <a:lstStyle/>
          <a:p>
            <a:pPr algn="l">
              <a:lnSpc>
                <a:spcPts val="5552"/>
              </a:lnSpc>
            </a:pPr>
            <a:r>
              <a:rPr lang="en-US" sz="4558" b="1" spc="59">
                <a:solidFill>
                  <a:srgbClr val="FAE013"/>
                </a:solidFill>
                <a:latin typeface="Poppins Semi-Bold"/>
                <a:ea typeface="Poppins Semi-Bold"/>
                <a:cs typeface="Poppins Semi-Bold"/>
                <a:sym typeface="Poppins Semi-Bold"/>
              </a:rPr>
              <a:t>ALL-ROUNDERS / LOWER ORDER </a:t>
            </a:r>
          </a:p>
        </p:txBody>
      </p:sp>
      <p:sp>
        <p:nvSpPr>
          <p:cNvPr id="34" name="TextBox 34"/>
          <p:cNvSpPr txBox="1"/>
          <p:nvPr/>
        </p:nvSpPr>
        <p:spPr>
          <a:xfrm>
            <a:off x="1462707" y="4454061"/>
            <a:ext cx="2262464" cy="504682"/>
          </a:xfrm>
          <a:prstGeom prst="rect">
            <a:avLst/>
          </a:prstGeom>
        </p:spPr>
        <p:txBody>
          <a:bodyPr lIns="0" tIns="0" rIns="0" bIns="0" rtlCol="0" anchor="t">
            <a:spAutoFit/>
          </a:bodyPr>
          <a:lstStyle/>
          <a:p>
            <a:pPr algn="l">
              <a:lnSpc>
                <a:spcPts val="3778"/>
              </a:lnSpc>
            </a:pPr>
            <a:r>
              <a:rPr lang="en-US" sz="2699" b="1">
                <a:solidFill>
                  <a:srgbClr val="FAE013"/>
                </a:solidFill>
                <a:latin typeface="Poppins Semi-Bold"/>
                <a:ea typeface="Poppins Semi-Bold"/>
                <a:cs typeface="Poppins Semi-Bold"/>
                <a:sym typeface="Poppins Semi-Bold"/>
              </a:rPr>
              <a:t>PARAMETERS</a:t>
            </a:r>
          </a:p>
        </p:txBody>
      </p:sp>
      <p:sp>
        <p:nvSpPr>
          <p:cNvPr id="35" name="TextBox 35"/>
          <p:cNvSpPr txBox="1"/>
          <p:nvPr/>
        </p:nvSpPr>
        <p:spPr>
          <a:xfrm>
            <a:off x="7011276" y="4454061"/>
            <a:ext cx="2282390" cy="504682"/>
          </a:xfrm>
          <a:prstGeom prst="rect">
            <a:avLst/>
          </a:prstGeom>
        </p:spPr>
        <p:txBody>
          <a:bodyPr lIns="0" tIns="0" rIns="0" bIns="0" rtlCol="0" anchor="t">
            <a:spAutoFit/>
          </a:bodyPr>
          <a:lstStyle/>
          <a:p>
            <a:pPr algn="l">
              <a:lnSpc>
                <a:spcPts val="3778"/>
              </a:lnSpc>
            </a:pPr>
            <a:r>
              <a:rPr lang="en-US" sz="2699" b="1">
                <a:solidFill>
                  <a:srgbClr val="FAE013"/>
                </a:solidFill>
                <a:latin typeface="Poppins Semi-Bold"/>
                <a:ea typeface="Poppins Semi-Bold"/>
                <a:cs typeface="Poppins Semi-Bold"/>
                <a:sym typeface="Poppins Semi-Bold"/>
              </a:rPr>
              <a:t>DESCRIPTION</a:t>
            </a:r>
          </a:p>
        </p:txBody>
      </p:sp>
      <p:sp>
        <p:nvSpPr>
          <p:cNvPr id="36" name="TextBox 36"/>
          <p:cNvSpPr txBox="1"/>
          <p:nvPr/>
        </p:nvSpPr>
        <p:spPr>
          <a:xfrm>
            <a:off x="12639618" y="4454061"/>
            <a:ext cx="1549222" cy="504682"/>
          </a:xfrm>
          <a:prstGeom prst="rect">
            <a:avLst/>
          </a:prstGeom>
        </p:spPr>
        <p:txBody>
          <a:bodyPr lIns="0" tIns="0" rIns="0" bIns="0" rtlCol="0" anchor="t">
            <a:spAutoFit/>
          </a:bodyPr>
          <a:lstStyle/>
          <a:p>
            <a:pPr algn="l">
              <a:lnSpc>
                <a:spcPts val="3778"/>
              </a:lnSpc>
            </a:pPr>
            <a:r>
              <a:rPr lang="en-US" sz="2699" b="1">
                <a:solidFill>
                  <a:srgbClr val="FAE013"/>
                </a:solidFill>
                <a:latin typeface="Poppins Semi-Bold"/>
                <a:ea typeface="Poppins Semi-Bold"/>
                <a:cs typeface="Poppins Semi-Bold"/>
                <a:sym typeface="Poppins Semi-Bold"/>
              </a:rPr>
              <a:t>CRITERIA</a:t>
            </a:r>
          </a:p>
        </p:txBody>
      </p:sp>
      <p:sp>
        <p:nvSpPr>
          <p:cNvPr id="37" name="TextBox 37"/>
          <p:cNvSpPr txBox="1"/>
          <p:nvPr/>
        </p:nvSpPr>
        <p:spPr>
          <a:xfrm>
            <a:off x="1090565" y="5022342"/>
            <a:ext cx="2806446" cy="4636141"/>
          </a:xfrm>
          <a:prstGeom prst="rect">
            <a:avLst/>
          </a:prstGeom>
        </p:spPr>
        <p:txBody>
          <a:bodyPr lIns="0" tIns="0" rIns="0" bIns="0" rtlCol="0" anchor="t">
            <a:spAutoFit/>
          </a:bodyPr>
          <a:lstStyle/>
          <a:p>
            <a:pPr algn="l">
              <a:lnSpc>
                <a:spcPts val="5280"/>
              </a:lnSpc>
            </a:pPr>
            <a:r>
              <a:rPr lang="en-US" sz="2299">
                <a:solidFill>
                  <a:srgbClr val="FFFFFF"/>
                </a:solidFill>
                <a:latin typeface="Poppins"/>
                <a:ea typeface="Poppins"/>
                <a:cs typeface="Poppins"/>
                <a:sym typeface="Poppins"/>
              </a:rPr>
              <a:t>Batting Average Strike Rate Innings Batted Batting Position Innings Bowled Bowling Economy Bowling Strike Rate</a:t>
            </a:r>
          </a:p>
        </p:txBody>
      </p:sp>
      <p:sp>
        <p:nvSpPr>
          <p:cNvPr id="38" name="TextBox 38"/>
          <p:cNvSpPr txBox="1"/>
          <p:nvPr/>
        </p:nvSpPr>
        <p:spPr>
          <a:xfrm>
            <a:off x="4624445" y="5025266"/>
            <a:ext cx="6748996" cy="4636141"/>
          </a:xfrm>
          <a:prstGeom prst="rect">
            <a:avLst/>
          </a:prstGeom>
        </p:spPr>
        <p:txBody>
          <a:bodyPr lIns="0" tIns="0" rIns="0" bIns="0" rtlCol="0" anchor="t">
            <a:spAutoFit/>
          </a:bodyPr>
          <a:lstStyle/>
          <a:p>
            <a:pPr algn="l">
              <a:lnSpc>
                <a:spcPts val="5280"/>
              </a:lnSpc>
            </a:pPr>
            <a:r>
              <a:rPr lang="en-US" sz="2299" b="1">
                <a:solidFill>
                  <a:srgbClr val="FFFFFF"/>
                </a:solidFill>
                <a:latin typeface="Poppins Medium"/>
                <a:ea typeface="Poppins Medium"/>
                <a:cs typeface="Poppins Medium"/>
                <a:sym typeface="Poppins Medium"/>
              </a:rPr>
              <a:t>Average runs scored in an innings No of runs scored per 100 balls Total Innings batted Order in which the batter played Total Innings bowled Average runs allowed per over Average no. of balls required to take a wicket</a:t>
            </a:r>
          </a:p>
        </p:txBody>
      </p:sp>
      <p:sp>
        <p:nvSpPr>
          <p:cNvPr id="39" name="TextBox 39"/>
          <p:cNvSpPr txBox="1"/>
          <p:nvPr/>
        </p:nvSpPr>
        <p:spPr>
          <a:xfrm>
            <a:off x="13037668" y="5000368"/>
            <a:ext cx="801253" cy="4686986"/>
          </a:xfrm>
          <a:prstGeom prst="rect">
            <a:avLst/>
          </a:prstGeom>
        </p:spPr>
        <p:txBody>
          <a:bodyPr lIns="0" tIns="0" rIns="0" bIns="0" rtlCol="0" anchor="t">
            <a:spAutoFit/>
          </a:bodyPr>
          <a:lstStyle/>
          <a:p>
            <a:pPr algn="ctr">
              <a:lnSpc>
                <a:spcPts val="5593"/>
              </a:lnSpc>
            </a:pPr>
            <a:r>
              <a:rPr lang="en-US" sz="2500" b="1">
                <a:solidFill>
                  <a:srgbClr val="FFFFFF"/>
                </a:solidFill>
                <a:latin typeface="Poppins Semi-Bold"/>
                <a:ea typeface="Poppins Semi-Bold"/>
                <a:cs typeface="Poppins Semi-Bold"/>
                <a:sym typeface="Poppins Semi-Bold"/>
              </a:rPr>
              <a:t>&gt; 15 &gt; 140</a:t>
            </a:r>
          </a:p>
          <a:p>
            <a:pPr algn="ctr">
              <a:lnSpc>
                <a:spcPts val="4602"/>
              </a:lnSpc>
            </a:pPr>
            <a:r>
              <a:rPr lang="en-US" sz="2500" b="1">
                <a:solidFill>
                  <a:srgbClr val="FFFFFF"/>
                </a:solidFill>
                <a:latin typeface="Poppins Semi-Bold"/>
                <a:ea typeface="Poppins Semi-Bold"/>
                <a:cs typeface="Poppins Semi-Bold"/>
                <a:sym typeface="Poppins Semi-Bold"/>
              </a:rPr>
              <a:t>&gt; 2</a:t>
            </a:r>
          </a:p>
          <a:p>
            <a:pPr algn="ctr">
              <a:lnSpc>
                <a:spcPts val="6250"/>
              </a:lnSpc>
            </a:pPr>
            <a:r>
              <a:rPr lang="en-US" sz="2500" b="1">
                <a:solidFill>
                  <a:srgbClr val="FFFFFF"/>
                </a:solidFill>
                <a:latin typeface="Poppins Semi-Bold"/>
                <a:ea typeface="Poppins Semi-Bold"/>
                <a:cs typeface="Poppins Semi-Bold"/>
                <a:sym typeface="Poppins Semi-Bold"/>
              </a:rPr>
              <a:t>&gt; 4</a:t>
            </a:r>
          </a:p>
          <a:p>
            <a:pPr algn="ctr">
              <a:lnSpc>
                <a:spcPts val="3640"/>
              </a:lnSpc>
            </a:pPr>
            <a:r>
              <a:rPr lang="en-US" sz="2500" b="1">
                <a:solidFill>
                  <a:srgbClr val="FFFFFF"/>
                </a:solidFill>
                <a:latin typeface="Poppins Semi-Bold"/>
                <a:ea typeface="Poppins Semi-Bold"/>
                <a:cs typeface="Poppins Semi-Bold"/>
                <a:sym typeface="Poppins Semi-Bold"/>
              </a:rPr>
              <a:t>&gt; 2</a:t>
            </a:r>
          </a:p>
          <a:p>
            <a:pPr algn="ctr">
              <a:lnSpc>
                <a:spcPts val="6250"/>
              </a:lnSpc>
            </a:pPr>
            <a:r>
              <a:rPr lang="en-US" sz="2500" b="1">
                <a:solidFill>
                  <a:srgbClr val="FFFFFF"/>
                </a:solidFill>
                <a:latin typeface="Poppins Semi-Bold"/>
                <a:ea typeface="Poppins Semi-Bold"/>
                <a:cs typeface="Poppins Semi-Bold"/>
                <a:sym typeface="Poppins Semi-Bold"/>
              </a:rPr>
              <a:t>&lt; 7</a:t>
            </a:r>
          </a:p>
          <a:p>
            <a:pPr algn="ctr">
              <a:lnSpc>
                <a:spcPts val="3360"/>
              </a:lnSpc>
            </a:pPr>
            <a:r>
              <a:rPr lang="en-US" sz="2500" b="1">
                <a:solidFill>
                  <a:srgbClr val="FFFFFF"/>
                </a:solidFill>
                <a:latin typeface="Poppins Semi-Bold"/>
                <a:ea typeface="Poppins Semi-Bold"/>
                <a:cs typeface="Poppins Semi-Bold"/>
                <a:sym typeface="Poppins Semi-Bold"/>
              </a:rPr>
              <a:t>&lt; 20</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478" y="0"/>
            <a:ext cx="15465647" cy="10287000"/>
          </a:xfrm>
          <a:custGeom>
            <a:avLst/>
            <a:gdLst/>
            <a:ahLst/>
            <a:cxnLst/>
            <a:rect l="l" t="t" r="r" b="b"/>
            <a:pathLst>
              <a:path w="15465647" h="10287000">
                <a:moveTo>
                  <a:pt x="0" y="0"/>
                </a:moveTo>
                <a:lnTo>
                  <a:pt x="15465647" y="0"/>
                </a:lnTo>
                <a:lnTo>
                  <a:pt x="15465647" y="10287000"/>
                </a:lnTo>
                <a:lnTo>
                  <a:pt x="0" y="10287000"/>
                </a:lnTo>
                <a:lnTo>
                  <a:pt x="0" y="0"/>
                </a:lnTo>
                <a:close/>
              </a:path>
            </a:pathLst>
          </a:custGeom>
          <a:blipFill>
            <a:blip r:embed="rId2"/>
            <a:stretch>
              <a:fillRect r="-39" b="-20"/>
            </a:stretch>
          </a:blipFill>
        </p:spPr>
      </p:sp>
      <p:sp>
        <p:nvSpPr>
          <p:cNvPr id="3" name="Freeform 3"/>
          <p:cNvSpPr/>
          <p:nvPr/>
        </p:nvSpPr>
        <p:spPr>
          <a:xfrm>
            <a:off x="4327312" y="0"/>
            <a:ext cx="8621897" cy="8968140"/>
          </a:xfrm>
          <a:custGeom>
            <a:avLst/>
            <a:gdLst/>
            <a:ahLst/>
            <a:cxnLst/>
            <a:rect l="l" t="t" r="r" b="b"/>
            <a:pathLst>
              <a:path w="8621897" h="8968140">
                <a:moveTo>
                  <a:pt x="0" y="0"/>
                </a:moveTo>
                <a:lnTo>
                  <a:pt x="8621897" y="0"/>
                </a:lnTo>
                <a:lnTo>
                  <a:pt x="8621897" y="8968140"/>
                </a:lnTo>
                <a:lnTo>
                  <a:pt x="0" y="8968140"/>
                </a:lnTo>
                <a:lnTo>
                  <a:pt x="0" y="0"/>
                </a:lnTo>
                <a:close/>
              </a:path>
            </a:pathLst>
          </a:custGeom>
          <a:blipFill>
            <a:blip r:embed="rId3">
              <a:alphaModFix amt="3900"/>
            </a:blip>
            <a:stretch>
              <a:fillRect t="-7824" b="-5630"/>
            </a:stretch>
          </a:blipFill>
        </p:spPr>
      </p:sp>
      <p:sp>
        <p:nvSpPr>
          <p:cNvPr id="4" name="Freeform 4"/>
          <p:cNvSpPr/>
          <p:nvPr/>
        </p:nvSpPr>
        <p:spPr>
          <a:xfrm>
            <a:off x="18298" y="5829"/>
            <a:ext cx="15459827" cy="10279580"/>
          </a:xfrm>
          <a:custGeom>
            <a:avLst/>
            <a:gdLst/>
            <a:ahLst/>
            <a:cxnLst/>
            <a:rect l="l" t="t" r="r" b="b"/>
            <a:pathLst>
              <a:path w="15459827" h="10279580">
                <a:moveTo>
                  <a:pt x="0" y="0"/>
                </a:moveTo>
                <a:lnTo>
                  <a:pt x="15459827" y="0"/>
                </a:lnTo>
                <a:lnTo>
                  <a:pt x="15459827" y="10279580"/>
                </a:lnTo>
                <a:lnTo>
                  <a:pt x="0" y="10279580"/>
                </a:lnTo>
                <a:lnTo>
                  <a:pt x="0" y="0"/>
                </a:lnTo>
                <a:close/>
              </a:path>
            </a:pathLst>
          </a:custGeom>
          <a:blipFill>
            <a:blip r:embed="rId4"/>
            <a:stretch>
              <a:fillRect r="-15"/>
            </a:stretch>
          </a:blipFill>
        </p:spPr>
      </p:sp>
      <p:grpSp>
        <p:nvGrpSpPr>
          <p:cNvPr id="5" name="Group 5"/>
          <p:cNvGrpSpPr>
            <a:grpSpLocks noChangeAspect="1"/>
          </p:cNvGrpSpPr>
          <p:nvPr/>
        </p:nvGrpSpPr>
        <p:grpSpPr>
          <a:xfrm>
            <a:off x="973436" y="4367994"/>
            <a:ext cx="3200686" cy="695468"/>
            <a:chOff x="0" y="0"/>
            <a:chExt cx="3200692" cy="695465"/>
          </a:xfrm>
        </p:grpSpPr>
        <p:sp>
          <p:nvSpPr>
            <p:cNvPr id="6" name="Freeform 6"/>
            <p:cNvSpPr/>
            <p:nvPr/>
          </p:nvSpPr>
          <p:spPr>
            <a:xfrm>
              <a:off x="0" y="0"/>
              <a:ext cx="3200781" cy="695579"/>
            </a:xfrm>
            <a:custGeom>
              <a:avLst/>
              <a:gdLst/>
              <a:ahLst/>
              <a:cxnLst/>
              <a:rect l="l" t="t" r="r" b="b"/>
              <a:pathLst>
                <a:path w="3200781" h="695579">
                  <a:moveTo>
                    <a:pt x="143129" y="0"/>
                  </a:moveTo>
                  <a:lnTo>
                    <a:pt x="3057652" y="0"/>
                  </a:lnTo>
                  <a:cubicBezTo>
                    <a:pt x="3095625" y="0"/>
                    <a:pt x="3131947" y="15113"/>
                    <a:pt x="3158871" y="42037"/>
                  </a:cubicBezTo>
                  <a:cubicBezTo>
                    <a:pt x="3185795" y="68961"/>
                    <a:pt x="3200781" y="105410"/>
                    <a:pt x="3200781" y="143510"/>
                  </a:cubicBezTo>
                  <a:lnTo>
                    <a:pt x="3200781" y="552069"/>
                  </a:lnTo>
                  <a:cubicBezTo>
                    <a:pt x="3200781" y="590169"/>
                    <a:pt x="3185668" y="626618"/>
                    <a:pt x="3158871" y="653542"/>
                  </a:cubicBezTo>
                  <a:cubicBezTo>
                    <a:pt x="3132074" y="680466"/>
                    <a:pt x="3095625" y="695579"/>
                    <a:pt x="3057652" y="695579"/>
                  </a:cubicBezTo>
                  <a:lnTo>
                    <a:pt x="143129" y="695579"/>
                  </a:lnTo>
                  <a:cubicBezTo>
                    <a:pt x="105156" y="695579"/>
                    <a:pt x="68834" y="680466"/>
                    <a:pt x="41910" y="653542"/>
                  </a:cubicBezTo>
                  <a:cubicBezTo>
                    <a:pt x="14986" y="626618"/>
                    <a:pt x="0" y="590042"/>
                    <a:pt x="0" y="552069"/>
                  </a:cubicBezTo>
                  <a:lnTo>
                    <a:pt x="0" y="143383"/>
                  </a:lnTo>
                  <a:cubicBezTo>
                    <a:pt x="0" y="105283"/>
                    <a:pt x="15113" y="68834"/>
                    <a:pt x="41910" y="41910"/>
                  </a:cubicBezTo>
                  <a:cubicBezTo>
                    <a:pt x="68707" y="14986"/>
                    <a:pt x="105156" y="0"/>
                    <a:pt x="143129" y="0"/>
                  </a:cubicBezTo>
                </a:path>
              </a:pathLst>
            </a:custGeom>
            <a:solidFill>
              <a:srgbClr val="5600C4"/>
            </a:solidFill>
          </p:spPr>
        </p:sp>
      </p:grpSp>
      <p:sp>
        <p:nvSpPr>
          <p:cNvPr id="7" name="Freeform 7"/>
          <p:cNvSpPr/>
          <p:nvPr/>
        </p:nvSpPr>
        <p:spPr>
          <a:xfrm>
            <a:off x="999925" y="5829319"/>
            <a:ext cx="3172577" cy="9535"/>
          </a:xfrm>
          <a:custGeom>
            <a:avLst/>
            <a:gdLst/>
            <a:ahLst/>
            <a:cxnLst/>
            <a:rect l="l" t="t" r="r" b="b"/>
            <a:pathLst>
              <a:path w="3172577" h="9535">
                <a:moveTo>
                  <a:pt x="0" y="0"/>
                </a:moveTo>
                <a:lnTo>
                  <a:pt x="3172577" y="0"/>
                </a:lnTo>
                <a:lnTo>
                  <a:pt x="3172577" y="9535"/>
                </a:lnTo>
                <a:lnTo>
                  <a:pt x="0" y="9535"/>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8" name="Freeform 8"/>
          <p:cNvSpPr/>
          <p:nvPr/>
        </p:nvSpPr>
        <p:spPr>
          <a:xfrm>
            <a:off x="999925" y="6607283"/>
            <a:ext cx="3172577" cy="9535"/>
          </a:xfrm>
          <a:custGeom>
            <a:avLst/>
            <a:gdLst/>
            <a:ahLst/>
            <a:cxnLst/>
            <a:rect l="l" t="t" r="r" b="b"/>
            <a:pathLst>
              <a:path w="3172577" h="9535">
                <a:moveTo>
                  <a:pt x="0" y="0"/>
                </a:moveTo>
                <a:lnTo>
                  <a:pt x="3172577" y="0"/>
                </a:lnTo>
                <a:lnTo>
                  <a:pt x="3172577" y="9534"/>
                </a:lnTo>
                <a:lnTo>
                  <a:pt x="0" y="9534"/>
                </a:lnTo>
                <a:lnTo>
                  <a:pt x="0" y="0"/>
                </a:lnTo>
                <a:close/>
              </a:path>
            </a:pathLst>
          </a:custGeom>
          <a:blipFill>
            <a:blip r:embed="rId5">
              <a:extLst>
                <a:ext uri="{96DAC541-7B7A-43D3-8B79-37D633B846F1}">
                  <asvg:svgBlip xmlns="" xmlns:asvg="http://schemas.microsoft.com/office/drawing/2016/SVG/main" r:embed="rId7"/>
                </a:ext>
              </a:extLst>
            </a:blip>
            <a:stretch>
              <a:fillRect/>
            </a:stretch>
          </a:blipFill>
        </p:spPr>
      </p:sp>
      <p:sp>
        <p:nvSpPr>
          <p:cNvPr id="9" name="Freeform 9"/>
          <p:cNvSpPr/>
          <p:nvPr/>
        </p:nvSpPr>
        <p:spPr>
          <a:xfrm>
            <a:off x="999925" y="7385247"/>
            <a:ext cx="3172577" cy="9535"/>
          </a:xfrm>
          <a:custGeom>
            <a:avLst/>
            <a:gdLst/>
            <a:ahLst/>
            <a:cxnLst/>
            <a:rect l="l" t="t" r="r" b="b"/>
            <a:pathLst>
              <a:path w="3172577" h="9535">
                <a:moveTo>
                  <a:pt x="0" y="0"/>
                </a:moveTo>
                <a:lnTo>
                  <a:pt x="3172577" y="0"/>
                </a:lnTo>
                <a:lnTo>
                  <a:pt x="3172577" y="9534"/>
                </a:lnTo>
                <a:lnTo>
                  <a:pt x="0" y="9534"/>
                </a:lnTo>
                <a:lnTo>
                  <a:pt x="0" y="0"/>
                </a:lnTo>
                <a:close/>
              </a:path>
            </a:pathLst>
          </a:custGeom>
          <a:blipFill>
            <a:blip r:embed="rId5">
              <a:extLst>
                <a:ext uri="{96DAC541-7B7A-43D3-8B79-37D633B846F1}">
                  <asvg:svgBlip xmlns="" xmlns:asvg="http://schemas.microsoft.com/office/drawing/2016/SVG/main" r:embed="rId8"/>
                </a:ext>
              </a:extLst>
            </a:blip>
            <a:stretch>
              <a:fillRect/>
            </a:stretch>
          </a:blipFill>
        </p:spPr>
      </p:sp>
      <p:sp>
        <p:nvSpPr>
          <p:cNvPr id="10" name="Freeform 10"/>
          <p:cNvSpPr/>
          <p:nvPr/>
        </p:nvSpPr>
        <p:spPr>
          <a:xfrm>
            <a:off x="999925" y="8163211"/>
            <a:ext cx="3172577" cy="9535"/>
          </a:xfrm>
          <a:custGeom>
            <a:avLst/>
            <a:gdLst/>
            <a:ahLst/>
            <a:cxnLst/>
            <a:rect l="l" t="t" r="r" b="b"/>
            <a:pathLst>
              <a:path w="3172577" h="9535">
                <a:moveTo>
                  <a:pt x="0" y="0"/>
                </a:moveTo>
                <a:lnTo>
                  <a:pt x="3172577" y="0"/>
                </a:lnTo>
                <a:lnTo>
                  <a:pt x="3172577" y="9534"/>
                </a:lnTo>
                <a:lnTo>
                  <a:pt x="0" y="9534"/>
                </a:lnTo>
                <a:lnTo>
                  <a:pt x="0" y="0"/>
                </a:lnTo>
                <a:close/>
              </a:path>
            </a:pathLst>
          </a:custGeom>
          <a:blipFill>
            <a:blip r:embed="rId5">
              <a:extLst>
                <a:ext uri="{96DAC541-7B7A-43D3-8B79-37D633B846F1}">
                  <asvg:svgBlip xmlns="" xmlns:asvg="http://schemas.microsoft.com/office/drawing/2016/SVG/main" r:embed="rId9"/>
                </a:ext>
              </a:extLst>
            </a:blip>
            <a:stretch>
              <a:fillRect/>
            </a:stretch>
          </a:blipFill>
        </p:spPr>
      </p:sp>
      <p:sp>
        <p:nvSpPr>
          <p:cNvPr id="11" name="Freeform 11"/>
          <p:cNvSpPr/>
          <p:nvPr/>
        </p:nvSpPr>
        <p:spPr>
          <a:xfrm>
            <a:off x="999925" y="8941175"/>
            <a:ext cx="3172577" cy="9535"/>
          </a:xfrm>
          <a:custGeom>
            <a:avLst/>
            <a:gdLst/>
            <a:ahLst/>
            <a:cxnLst/>
            <a:rect l="l" t="t" r="r" b="b"/>
            <a:pathLst>
              <a:path w="3172577" h="9535">
                <a:moveTo>
                  <a:pt x="0" y="0"/>
                </a:moveTo>
                <a:lnTo>
                  <a:pt x="3172577" y="0"/>
                </a:lnTo>
                <a:lnTo>
                  <a:pt x="3172577" y="9534"/>
                </a:lnTo>
                <a:lnTo>
                  <a:pt x="0" y="9534"/>
                </a:lnTo>
                <a:lnTo>
                  <a:pt x="0" y="0"/>
                </a:lnTo>
                <a:close/>
              </a:path>
            </a:pathLst>
          </a:custGeom>
          <a:blipFill>
            <a:blip r:embed="rId5">
              <a:extLst>
                <a:ext uri="{96DAC541-7B7A-43D3-8B79-37D633B846F1}">
                  <asvg:svgBlip xmlns="" xmlns:asvg="http://schemas.microsoft.com/office/drawing/2016/SVG/main" r:embed="rId10"/>
                </a:ext>
              </a:extLst>
            </a:blip>
            <a:stretch>
              <a:fillRect/>
            </a:stretch>
          </a:blipFill>
        </p:spPr>
      </p:sp>
      <p:sp>
        <p:nvSpPr>
          <p:cNvPr id="12" name="Freeform 12"/>
          <p:cNvSpPr/>
          <p:nvPr/>
        </p:nvSpPr>
        <p:spPr>
          <a:xfrm>
            <a:off x="4322540" y="4364850"/>
            <a:ext cx="9535" cy="5192211"/>
          </a:xfrm>
          <a:custGeom>
            <a:avLst/>
            <a:gdLst/>
            <a:ahLst/>
            <a:cxnLst/>
            <a:rect l="l" t="t" r="r" b="b"/>
            <a:pathLst>
              <a:path w="9535" h="5192211">
                <a:moveTo>
                  <a:pt x="0" y="0"/>
                </a:moveTo>
                <a:lnTo>
                  <a:pt x="9535" y="0"/>
                </a:lnTo>
                <a:lnTo>
                  <a:pt x="9535" y="5192211"/>
                </a:lnTo>
                <a:lnTo>
                  <a:pt x="0" y="5192211"/>
                </a:lnTo>
                <a:lnTo>
                  <a:pt x="0" y="0"/>
                </a:lnTo>
                <a:close/>
              </a:path>
            </a:pathLst>
          </a:custGeom>
          <a:blipFill>
            <a:blip r:embed="rId11">
              <a:extLst>
                <a:ext uri="{96DAC541-7B7A-43D3-8B79-37D633B846F1}">
                  <asvg:svgBlip xmlns="" xmlns:asvg="http://schemas.microsoft.com/office/drawing/2016/SVG/main" r:embed="rId12"/>
                </a:ext>
              </a:extLst>
            </a:blip>
            <a:stretch>
              <a:fillRect/>
            </a:stretch>
          </a:blipFill>
        </p:spPr>
      </p:sp>
      <p:sp>
        <p:nvSpPr>
          <p:cNvPr id="13" name="Freeform 13"/>
          <p:cNvSpPr/>
          <p:nvPr/>
        </p:nvSpPr>
        <p:spPr>
          <a:xfrm>
            <a:off x="0" y="2717016"/>
            <a:ext cx="5557190" cy="38119"/>
          </a:xfrm>
          <a:custGeom>
            <a:avLst/>
            <a:gdLst/>
            <a:ahLst/>
            <a:cxnLst/>
            <a:rect l="l" t="t" r="r" b="b"/>
            <a:pathLst>
              <a:path w="5557190" h="38119">
                <a:moveTo>
                  <a:pt x="0" y="0"/>
                </a:moveTo>
                <a:lnTo>
                  <a:pt x="5557190" y="0"/>
                </a:lnTo>
                <a:lnTo>
                  <a:pt x="5557190" y="38119"/>
                </a:lnTo>
                <a:lnTo>
                  <a:pt x="0" y="38119"/>
                </a:lnTo>
                <a:lnTo>
                  <a:pt x="0" y="0"/>
                </a:lnTo>
                <a:close/>
              </a:path>
            </a:pathLst>
          </a:custGeom>
          <a:blipFill>
            <a:blip r:embed="rId13">
              <a:extLst>
                <a:ext uri="{96DAC541-7B7A-43D3-8B79-37D633B846F1}">
                  <asvg:svgBlip xmlns="" xmlns:asvg="http://schemas.microsoft.com/office/drawing/2016/SVG/main" r:embed="rId14"/>
                </a:ext>
              </a:extLst>
            </a:blip>
            <a:stretch>
              <a:fillRect/>
            </a:stretch>
          </a:blipFill>
        </p:spPr>
      </p:sp>
      <p:sp>
        <p:nvSpPr>
          <p:cNvPr id="14" name="Freeform 14"/>
          <p:cNvSpPr/>
          <p:nvPr/>
        </p:nvSpPr>
        <p:spPr>
          <a:xfrm>
            <a:off x="4484513" y="5819794"/>
            <a:ext cx="7259669" cy="9525"/>
          </a:xfrm>
          <a:custGeom>
            <a:avLst/>
            <a:gdLst/>
            <a:ahLst/>
            <a:cxnLst/>
            <a:rect l="l" t="t" r="r" b="b"/>
            <a:pathLst>
              <a:path w="7259669" h="9525">
                <a:moveTo>
                  <a:pt x="0" y="0"/>
                </a:moveTo>
                <a:lnTo>
                  <a:pt x="7259669" y="0"/>
                </a:lnTo>
                <a:lnTo>
                  <a:pt x="7259669" y="9525"/>
                </a:lnTo>
                <a:lnTo>
                  <a:pt x="0" y="9525"/>
                </a:lnTo>
                <a:lnTo>
                  <a:pt x="0" y="0"/>
                </a:lnTo>
                <a:close/>
              </a:path>
            </a:pathLst>
          </a:custGeom>
          <a:blipFill>
            <a:blip r:embed="rId15">
              <a:extLst>
                <a:ext uri="{96DAC541-7B7A-43D3-8B79-37D633B846F1}">
                  <asvg:svgBlip xmlns="" xmlns:asvg="http://schemas.microsoft.com/office/drawing/2016/SVG/main" r:embed="rId16"/>
                </a:ext>
              </a:extLst>
            </a:blip>
            <a:stretch>
              <a:fillRect/>
            </a:stretch>
          </a:blipFill>
        </p:spPr>
      </p:sp>
      <p:sp>
        <p:nvSpPr>
          <p:cNvPr id="15" name="Freeform 15"/>
          <p:cNvSpPr/>
          <p:nvPr/>
        </p:nvSpPr>
        <p:spPr>
          <a:xfrm>
            <a:off x="4484513" y="6602520"/>
            <a:ext cx="7259669" cy="9525"/>
          </a:xfrm>
          <a:custGeom>
            <a:avLst/>
            <a:gdLst/>
            <a:ahLst/>
            <a:cxnLst/>
            <a:rect l="l" t="t" r="r" b="b"/>
            <a:pathLst>
              <a:path w="7259669" h="9525">
                <a:moveTo>
                  <a:pt x="0" y="0"/>
                </a:moveTo>
                <a:lnTo>
                  <a:pt x="7259669" y="0"/>
                </a:lnTo>
                <a:lnTo>
                  <a:pt x="7259669" y="9525"/>
                </a:lnTo>
                <a:lnTo>
                  <a:pt x="0" y="9525"/>
                </a:lnTo>
                <a:lnTo>
                  <a:pt x="0" y="0"/>
                </a:lnTo>
                <a:close/>
              </a:path>
            </a:pathLst>
          </a:custGeom>
          <a:blipFill>
            <a:blip r:embed="rId15">
              <a:extLst>
                <a:ext uri="{96DAC541-7B7A-43D3-8B79-37D633B846F1}">
                  <asvg:svgBlip xmlns="" xmlns:asvg="http://schemas.microsoft.com/office/drawing/2016/SVG/main" r:embed="rId17"/>
                </a:ext>
              </a:extLst>
            </a:blip>
            <a:stretch>
              <a:fillRect/>
            </a:stretch>
          </a:blipFill>
        </p:spPr>
      </p:sp>
      <p:sp>
        <p:nvSpPr>
          <p:cNvPr id="16" name="Freeform 16"/>
          <p:cNvSpPr/>
          <p:nvPr/>
        </p:nvSpPr>
        <p:spPr>
          <a:xfrm>
            <a:off x="4484513" y="7385247"/>
            <a:ext cx="7259669" cy="9525"/>
          </a:xfrm>
          <a:custGeom>
            <a:avLst/>
            <a:gdLst/>
            <a:ahLst/>
            <a:cxnLst/>
            <a:rect l="l" t="t" r="r" b="b"/>
            <a:pathLst>
              <a:path w="7259669" h="9525">
                <a:moveTo>
                  <a:pt x="0" y="0"/>
                </a:moveTo>
                <a:lnTo>
                  <a:pt x="7259669" y="0"/>
                </a:lnTo>
                <a:lnTo>
                  <a:pt x="7259669" y="9525"/>
                </a:lnTo>
                <a:lnTo>
                  <a:pt x="0" y="9525"/>
                </a:lnTo>
                <a:lnTo>
                  <a:pt x="0" y="0"/>
                </a:lnTo>
                <a:close/>
              </a:path>
            </a:pathLst>
          </a:custGeom>
          <a:blipFill>
            <a:blip r:embed="rId15">
              <a:extLst>
                <a:ext uri="{96DAC541-7B7A-43D3-8B79-37D633B846F1}">
                  <asvg:svgBlip xmlns="" xmlns:asvg="http://schemas.microsoft.com/office/drawing/2016/SVG/main" r:embed="rId18"/>
                </a:ext>
              </a:extLst>
            </a:blip>
            <a:stretch>
              <a:fillRect/>
            </a:stretch>
          </a:blipFill>
        </p:spPr>
      </p:sp>
      <p:sp>
        <p:nvSpPr>
          <p:cNvPr id="17" name="Freeform 17"/>
          <p:cNvSpPr/>
          <p:nvPr/>
        </p:nvSpPr>
        <p:spPr>
          <a:xfrm>
            <a:off x="4484513" y="8167973"/>
            <a:ext cx="7259669" cy="9525"/>
          </a:xfrm>
          <a:custGeom>
            <a:avLst/>
            <a:gdLst/>
            <a:ahLst/>
            <a:cxnLst/>
            <a:rect l="l" t="t" r="r" b="b"/>
            <a:pathLst>
              <a:path w="7259669" h="9525">
                <a:moveTo>
                  <a:pt x="0" y="0"/>
                </a:moveTo>
                <a:lnTo>
                  <a:pt x="7259669" y="0"/>
                </a:lnTo>
                <a:lnTo>
                  <a:pt x="7259669" y="9525"/>
                </a:lnTo>
                <a:lnTo>
                  <a:pt x="0" y="9525"/>
                </a:lnTo>
                <a:lnTo>
                  <a:pt x="0" y="0"/>
                </a:lnTo>
                <a:close/>
              </a:path>
            </a:pathLst>
          </a:custGeom>
          <a:blipFill>
            <a:blip r:embed="rId15">
              <a:extLst>
                <a:ext uri="{96DAC541-7B7A-43D3-8B79-37D633B846F1}">
                  <asvg:svgBlip xmlns="" xmlns:asvg="http://schemas.microsoft.com/office/drawing/2016/SVG/main" r:embed="rId19"/>
                </a:ext>
              </a:extLst>
            </a:blip>
            <a:stretch>
              <a:fillRect/>
            </a:stretch>
          </a:blipFill>
        </p:spPr>
      </p:sp>
      <p:sp>
        <p:nvSpPr>
          <p:cNvPr id="18" name="Freeform 18"/>
          <p:cNvSpPr/>
          <p:nvPr/>
        </p:nvSpPr>
        <p:spPr>
          <a:xfrm>
            <a:off x="4484513" y="8950700"/>
            <a:ext cx="7259669" cy="9525"/>
          </a:xfrm>
          <a:custGeom>
            <a:avLst/>
            <a:gdLst/>
            <a:ahLst/>
            <a:cxnLst/>
            <a:rect l="l" t="t" r="r" b="b"/>
            <a:pathLst>
              <a:path w="7259669" h="9525">
                <a:moveTo>
                  <a:pt x="0" y="0"/>
                </a:moveTo>
                <a:lnTo>
                  <a:pt x="7259669" y="0"/>
                </a:lnTo>
                <a:lnTo>
                  <a:pt x="7259669" y="9525"/>
                </a:lnTo>
                <a:lnTo>
                  <a:pt x="0" y="9525"/>
                </a:lnTo>
                <a:lnTo>
                  <a:pt x="0" y="0"/>
                </a:lnTo>
                <a:close/>
              </a:path>
            </a:pathLst>
          </a:custGeom>
          <a:blipFill>
            <a:blip r:embed="rId15">
              <a:extLst>
                <a:ext uri="{96DAC541-7B7A-43D3-8B79-37D633B846F1}">
                  <asvg:svgBlip xmlns="" xmlns:asvg="http://schemas.microsoft.com/office/drawing/2016/SVG/main" r:embed="rId20"/>
                </a:ext>
              </a:extLst>
            </a:blip>
            <a:stretch>
              <a:fillRect/>
            </a:stretch>
          </a:blipFill>
        </p:spPr>
      </p:sp>
      <p:grpSp>
        <p:nvGrpSpPr>
          <p:cNvPr id="19" name="Group 19"/>
          <p:cNvGrpSpPr>
            <a:grpSpLocks noChangeAspect="1"/>
          </p:cNvGrpSpPr>
          <p:nvPr/>
        </p:nvGrpSpPr>
        <p:grpSpPr>
          <a:xfrm>
            <a:off x="4485008" y="4367994"/>
            <a:ext cx="7287111" cy="695468"/>
            <a:chOff x="0" y="0"/>
            <a:chExt cx="7287108" cy="695465"/>
          </a:xfrm>
        </p:grpSpPr>
        <p:sp>
          <p:nvSpPr>
            <p:cNvPr id="20" name="Freeform 20"/>
            <p:cNvSpPr/>
            <p:nvPr/>
          </p:nvSpPr>
          <p:spPr>
            <a:xfrm>
              <a:off x="0" y="0"/>
              <a:ext cx="7287133" cy="695579"/>
            </a:xfrm>
            <a:custGeom>
              <a:avLst/>
              <a:gdLst/>
              <a:ahLst/>
              <a:cxnLst/>
              <a:rect l="l" t="t" r="r" b="b"/>
              <a:pathLst>
                <a:path w="7287133" h="695579">
                  <a:moveTo>
                    <a:pt x="142875" y="0"/>
                  </a:moveTo>
                  <a:lnTo>
                    <a:pt x="7144385" y="0"/>
                  </a:lnTo>
                  <a:cubicBezTo>
                    <a:pt x="7182231" y="0"/>
                    <a:pt x="7218553" y="15113"/>
                    <a:pt x="7245350" y="42037"/>
                  </a:cubicBezTo>
                  <a:cubicBezTo>
                    <a:pt x="7272147" y="68961"/>
                    <a:pt x="7287133" y="105410"/>
                    <a:pt x="7287133" y="143510"/>
                  </a:cubicBezTo>
                  <a:lnTo>
                    <a:pt x="7287133" y="552069"/>
                  </a:lnTo>
                  <a:cubicBezTo>
                    <a:pt x="7287133" y="590169"/>
                    <a:pt x="7272147" y="626618"/>
                    <a:pt x="7245350" y="653542"/>
                  </a:cubicBezTo>
                  <a:cubicBezTo>
                    <a:pt x="7218553" y="680466"/>
                    <a:pt x="7182231" y="695579"/>
                    <a:pt x="7144385" y="695579"/>
                  </a:cubicBezTo>
                  <a:lnTo>
                    <a:pt x="142875" y="695579"/>
                  </a:lnTo>
                  <a:cubicBezTo>
                    <a:pt x="105029" y="695579"/>
                    <a:pt x="68707" y="680466"/>
                    <a:pt x="41910" y="653542"/>
                  </a:cubicBezTo>
                  <a:cubicBezTo>
                    <a:pt x="15113" y="626618"/>
                    <a:pt x="0" y="590042"/>
                    <a:pt x="0" y="552069"/>
                  </a:cubicBezTo>
                  <a:lnTo>
                    <a:pt x="0" y="143383"/>
                  </a:lnTo>
                  <a:cubicBezTo>
                    <a:pt x="0" y="105283"/>
                    <a:pt x="14986" y="68834"/>
                    <a:pt x="41783" y="41910"/>
                  </a:cubicBezTo>
                  <a:cubicBezTo>
                    <a:pt x="68580" y="14986"/>
                    <a:pt x="104902" y="0"/>
                    <a:pt x="142875" y="0"/>
                  </a:cubicBezTo>
                </a:path>
              </a:pathLst>
            </a:custGeom>
            <a:solidFill>
              <a:srgbClr val="5600C4"/>
            </a:solidFill>
          </p:spPr>
        </p:sp>
      </p:grpSp>
      <p:sp>
        <p:nvSpPr>
          <p:cNvPr id="21" name="Freeform 21"/>
          <p:cNvSpPr/>
          <p:nvPr/>
        </p:nvSpPr>
        <p:spPr>
          <a:xfrm>
            <a:off x="11938625" y="4450613"/>
            <a:ext cx="9525" cy="5106457"/>
          </a:xfrm>
          <a:custGeom>
            <a:avLst/>
            <a:gdLst/>
            <a:ahLst/>
            <a:cxnLst/>
            <a:rect l="l" t="t" r="r" b="b"/>
            <a:pathLst>
              <a:path w="9525" h="5106457">
                <a:moveTo>
                  <a:pt x="0" y="0"/>
                </a:moveTo>
                <a:lnTo>
                  <a:pt x="9525" y="0"/>
                </a:lnTo>
                <a:lnTo>
                  <a:pt x="9525" y="5106458"/>
                </a:lnTo>
                <a:lnTo>
                  <a:pt x="0" y="5106458"/>
                </a:lnTo>
                <a:lnTo>
                  <a:pt x="0" y="0"/>
                </a:lnTo>
                <a:close/>
              </a:path>
            </a:pathLst>
          </a:custGeom>
          <a:blipFill>
            <a:blip r:embed="rId21">
              <a:extLst>
                <a:ext uri="{96DAC541-7B7A-43D3-8B79-37D633B846F1}">
                  <asvg:svgBlip xmlns="" xmlns:asvg="http://schemas.microsoft.com/office/drawing/2016/SVG/main" r:embed="rId22"/>
                </a:ext>
              </a:extLst>
            </a:blip>
            <a:stretch>
              <a:fillRect/>
            </a:stretch>
          </a:blipFill>
        </p:spPr>
      </p:sp>
      <p:sp>
        <p:nvSpPr>
          <p:cNvPr id="22" name="Freeform 22"/>
          <p:cNvSpPr/>
          <p:nvPr/>
        </p:nvSpPr>
        <p:spPr>
          <a:xfrm>
            <a:off x="12099493" y="5810260"/>
            <a:ext cx="2410330" cy="9535"/>
          </a:xfrm>
          <a:custGeom>
            <a:avLst/>
            <a:gdLst/>
            <a:ahLst/>
            <a:cxnLst/>
            <a:rect l="l" t="t" r="r" b="b"/>
            <a:pathLst>
              <a:path w="2410330" h="9535">
                <a:moveTo>
                  <a:pt x="0" y="0"/>
                </a:moveTo>
                <a:lnTo>
                  <a:pt x="2410330" y="0"/>
                </a:lnTo>
                <a:lnTo>
                  <a:pt x="2410330" y="9534"/>
                </a:lnTo>
                <a:lnTo>
                  <a:pt x="0" y="9534"/>
                </a:lnTo>
                <a:lnTo>
                  <a:pt x="0" y="0"/>
                </a:lnTo>
                <a:close/>
              </a:path>
            </a:pathLst>
          </a:custGeom>
          <a:blipFill>
            <a:blip r:embed="rId23">
              <a:extLst>
                <a:ext uri="{96DAC541-7B7A-43D3-8B79-37D633B846F1}">
                  <asvg:svgBlip xmlns="" xmlns:asvg="http://schemas.microsoft.com/office/drawing/2016/SVG/main" r:embed="rId24"/>
                </a:ext>
              </a:extLst>
            </a:blip>
            <a:stretch>
              <a:fillRect/>
            </a:stretch>
          </a:blipFill>
        </p:spPr>
      </p:sp>
      <p:sp>
        <p:nvSpPr>
          <p:cNvPr id="23" name="Freeform 23"/>
          <p:cNvSpPr/>
          <p:nvPr/>
        </p:nvSpPr>
        <p:spPr>
          <a:xfrm>
            <a:off x="12099493" y="6597758"/>
            <a:ext cx="2410330" cy="9535"/>
          </a:xfrm>
          <a:custGeom>
            <a:avLst/>
            <a:gdLst/>
            <a:ahLst/>
            <a:cxnLst/>
            <a:rect l="l" t="t" r="r" b="b"/>
            <a:pathLst>
              <a:path w="2410330" h="9535">
                <a:moveTo>
                  <a:pt x="0" y="0"/>
                </a:moveTo>
                <a:lnTo>
                  <a:pt x="2410330" y="0"/>
                </a:lnTo>
                <a:lnTo>
                  <a:pt x="2410330" y="9534"/>
                </a:lnTo>
                <a:lnTo>
                  <a:pt x="0" y="9534"/>
                </a:lnTo>
                <a:lnTo>
                  <a:pt x="0" y="0"/>
                </a:lnTo>
                <a:close/>
              </a:path>
            </a:pathLst>
          </a:custGeom>
          <a:blipFill>
            <a:blip r:embed="rId23">
              <a:extLst>
                <a:ext uri="{96DAC541-7B7A-43D3-8B79-37D633B846F1}">
                  <asvg:svgBlip xmlns="" xmlns:asvg="http://schemas.microsoft.com/office/drawing/2016/SVG/main" r:embed="rId25"/>
                </a:ext>
              </a:extLst>
            </a:blip>
            <a:stretch>
              <a:fillRect/>
            </a:stretch>
          </a:blipFill>
        </p:spPr>
      </p:sp>
      <p:sp>
        <p:nvSpPr>
          <p:cNvPr id="24" name="Freeform 24"/>
          <p:cNvSpPr/>
          <p:nvPr/>
        </p:nvSpPr>
        <p:spPr>
          <a:xfrm>
            <a:off x="12099493" y="7385247"/>
            <a:ext cx="2410330" cy="9535"/>
          </a:xfrm>
          <a:custGeom>
            <a:avLst/>
            <a:gdLst/>
            <a:ahLst/>
            <a:cxnLst/>
            <a:rect l="l" t="t" r="r" b="b"/>
            <a:pathLst>
              <a:path w="2410330" h="9535">
                <a:moveTo>
                  <a:pt x="0" y="0"/>
                </a:moveTo>
                <a:lnTo>
                  <a:pt x="2410330" y="0"/>
                </a:lnTo>
                <a:lnTo>
                  <a:pt x="2410330" y="9534"/>
                </a:lnTo>
                <a:lnTo>
                  <a:pt x="0" y="9534"/>
                </a:lnTo>
                <a:lnTo>
                  <a:pt x="0" y="0"/>
                </a:lnTo>
                <a:close/>
              </a:path>
            </a:pathLst>
          </a:custGeom>
          <a:blipFill>
            <a:blip r:embed="rId23">
              <a:extLst>
                <a:ext uri="{96DAC541-7B7A-43D3-8B79-37D633B846F1}">
                  <asvg:svgBlip xmlns="" xmlns:asvg="http://schemas.microsoft.com/office/drawing/2016/SVG/main" r:embed="rId26"/>
                </a:ext>
              </a:extLst>
            </a:blip>
            <a:stretch>
              <a:fillRect/>
            </a:stretch>
          </a:blipFill>
        </p:spPr>
      </p:sp>
      <p:sp>
        <p:nvSpPr>
          <p:cNvPr id="25" name="Freeform 25"/>
          <p:cNvSpPr/>
          <p:nvPr/>
        </p:nvSpPr>
        <p:spPr>
          <a:xfrm>
            <a:off x="12099493" y="8172736"/>
            <a:ext cx="2410330" cy="9535"/>
          </a:xfrm>
          <a:custGeom>
            <a:avLst/>
            <a:gdLst/>
            <a:ahLst/>
            <a:cxnLst/>
            <a:rect l="l" t="t" r="r" b="b"/>
            <a:pathLst>
              <a:path w="2410330" h="9535">
                <a:moveTo>
                  <a:pt x="0" y="0"/>
                </a:moveTo>
                <a:lnTo>
                  <a:pt x="2410330" y="0"/>
                </a:lnTo>
                <a:lnTo>
                  <a:pt x="2410330" y="9534"/>
                </a:lnTo>
                <a:lnTo>
                  <a:pt x="0" y="9534"/>
                </a:lnTo>
                <a:lnTo>
                  <a:pt x="0" y="0"/>
                </a:lnTo>
                <a:close/>
              </a:path>
            </a:pathLst>
          </a:custGeom>
          <a:blipFill>
            <a:blip r:embed="rId23">
              <a:extLst>
                <a:ext uri="{96DAC541-7B7A-43D3-8B79-37D633B846F1}">
                  <asvg:svgBlip xmlns="" xmlns:asvg="http://schemas.microsoft.com/office/drawing/2016/SVG/main" r:embed="rId27"/>
                </a:ext>
              </a:extLst>
            </a:blip>
            <a:stretch>
              <a:fillRect/>
            </a:stretch>
          </a:blipFill>
        </p:spPr>
      </p:sp>
      <p:sp>
        <p:nvSpPr>
          <p:cNvPr id="26" name="Freeform 26"/>
          <p:cNvSpPr/>
          <p:nvPr/>
        </p:nvSpPr>
        <p:spPr>
          <a:xfrm>
            <a:off x="12099493" y="8960225"/>
            <a:ext cx="2410330" cy="9535"/>
          </a:xfrm>
          <a:custGeom>
            <a:avLst/>
            <a:gdLst/>
            <a:ahLst/>
            <a:cxnLst/>
            <a:rect l="l" t="t" r="r" b="b"/>
            <a:pathLst>
              <a:path w="2410330" h="9535">
                <a:moveTo>
                  <a:pt x="0" y="0"/>
                </a:moveTo>
                <a:lnTo>
                  <a:pt x="2410330" y="0"/>
                </a:lnTo>
                <a:lnTo>
                  <a:pt x="2410330" y="9534"/>
                </a:lnTo>
                <a:lnTo>
                  <a:pt x="0" y="9534"/>
                </a:lnTo>
                <a:lnTo>
                  <a:pt x="0" y="0"/>
                </a:lnTo>
                <a:close/>
              </a:path>
            </a:pathLst>
          </a:custGeom>
          <a:blipFill>
            <a:blip r:embed="rId23">
              <a:extLst>
                <a:ext uri="{96DAC541-7B7A-43D3-8B79-37D633B846F1}">
                  <asvg:svgBlip xmlns="" xmlns:asvg="http://schemas.microsoft.com/office/drawing/2016/SVG/main" r:embed="rId28"/>
                </a:ext>
              </a:extLst>
            </a:blip>
            <a:stretch>
              <a:fillRect/>
            </a:stretch>
          </a:blipFill>
        </p:spPr>
      </p:sp>
      <p:grpSp>
        <p:nvGrpSpPr>
          <p:cNvPr id="27" name="Group 27"/>
          <p:cNvGrpSpPr>
            <a:grpSpLocks noChangeAspect="1"/>
          </p:cNvGrpSpPr>
          <p:nvPr/>
        </p:nvGrpSpPr>
        <p:grpSpPr>
          <a:xfrm>
            <a:off x="12099665" y="4367994"/>
            <a:ext cx="2409958" cy="695468"/>
            <a:chOff x="0" y="0"/>
            <a:chExt cx="2409952" cy="695465"/>
          </a:xfrm>
        </p:grpSpPr>
        <p:sp>
          <p:nvSpPr>
            <p:cNvPr id="28" name="Freeform 28"/>
            <p:cNvSpPr/>
            <p:nvPr/>
          </p:nvSpPr>
          <p:spPr>
            <a:xfrm>
              <a:off x="0" y="0"/>
              <a:ext cx="2409952" cy="695579"/>
            </a:xfrm>
            <a:custGeom>
              <a:avLst/>
              <a:gdLst/>
              <a:ahLst/>
              <a:cxnLst/>
              <a:rect l="l" t="t" r="r" b="b"/>
              <a:pathLst>
                <a:path w="2409952" h="695579">
                  <a:moveTo>
                    <a:pt x="143129" y="0"/>
                  </a:moveTo>
                  <a:lnTo>
                    <a:pt x="2266823" y="0"/>
                  </a:lnTo>
                  <a:cubicBezTo>
                    <a:pt x="2304796" y="0"/>
                    <a:pt x="2341245" y="15113"/>
                    <a:pt x="2368042" y="42037"/>
                  </a:cubicBezTo>
                  <a:cubicBezTo>
                    <a:pt x="2394839" y="68961"/>
                    <a:pt x="2409952" y="105410"/>
                    <a:pt x="2409952" y="143510"/>
                  </a:cubicBezTo>
                  <a:lnTo>
                    <a:pt x="2409952" y="552069"/>
                  </a:lnTo>
                  <a:cubicBezTo>
                    <a:pt x="2409952" y="590169"/>
                    <a:pt x="2394839" y="626618"/>
                    <a:pt x="2368042" y="653542"/>
                  </a:cubicBezTo>
                  <a:cubicBezTo>
                    <a:pt x="2341245" y="680466"/>
                    <a:pt x="2304796" y="695579"/>
                    <a:pt x="2266823" y="695579"/>
                  </a:cubicBezTo>
                  <a:lnTo>
                    <a:pt x="143129" y="695579"/>
                  </a:lnTo>
                  <a:cubicBezTo>
                    <a:pt x="105156" y="695579"/>
                    <a:pt x="68707" y="680466"/>
                    <a:pt x="41910" y="653542"/>
                  </a:cubicBezTo>
                  <a:cubicBezTo>
                    <a:pt x="15113" y="626618"/>
                    <a:pt x="0" y="590042"/>
                    <a:pt x="0" y="552069"/>
                  </a:cubicBezTo>
                  <a:lnTo>
                    <a:pt x="0" y="143383"/>
                  </a:lnTo>
                  <a:cubicBezTo>
                    <a:pt x="0" y="105283"/>
                    <a:pt x="15113" y="68834"/>
                    <a:pt x="41910" y="41910"/>
                  </a:cubicBezTo>
                  <a:cubicBezTo>
                    <a:pt x="68707" y="14986"/>
                    <a:pt x="105156" y="0"/>
                    <a:pt x="143129" y="0"/>
                  </a:cubicBezTo>
                </a:path>
              </a:pathLst>
            </a:custGeom>
            <a:solidFill>
              <a:srgbClr val="5600C4"/>
            </a:solidFill>
          </p:spPr>
        </p:sp>
      </p:grpSp>
      <p:sp>
        <p:nvSpPr>
          <p:cNvPr id="29" name="Freeform 29"/>
          <p:cNvSpPr/>
          <p:nvPr/>
        </p:nvSpPr>
        <p:spPr>
          <a:xfrm>
            <a:off x="11694585" y="201920"/>
            <a:ext cx="3191532" cy="3763147"/>
          </a:xfrm>
          <a:custGeom>
            <a:avLst/>
            <a:gdLst/>
            <a:ahLst/>
            <a:cxnLst/>
            <a:rect l="l" t="t" r="r" b="b"/>
            <a:pathLst>
              <a:path w="3191532" h="3763147">
                <a:moveTo>
                  <a:pt x="0" y="0"/>
                </a:moveTo>
                <a:lnTo>
                  <a:pt x="3191533" y="0"/>
                </a:lnTo>
                <a:lnTo>
                  <a:pt x="3191533" y="3763147"/>
                </a:lnTo>
                <a:lnTo>
                  <a:pt x="0" y="3763147"/>
                </a:lnTo>
                <a:lnTo>
                  <a:pt x="0" y="0"/>
                </a:lnTo>
                <a:close/>
              </a:path>
            </a:pathLst>
          </a:custGeom>
          <a:blipFill>
            <a:blip r:embed="rId3"/>
            <a:stretch>
              <a:fillRect/>
            </a:stretch>
          </a:blipFill>
        </p:spPr>
      </p:sp>
      <p:sp>
        <p:nvSpPr>
          <p:cNvPr id="30" name="TextBox 30"/>
          <p:cNvSpPr txBox="1"/>
          <p:nvPr/>
        </p:nvSpPr>
        <p:spPr>
          <a:xfrm>
            <a:off x="749856" y="1091851"/>
            <a:ext cx="4892840" cy="1485833"/>
          </a:xfrm>
          <a:prstGeom prst="rect">
            <a:avLst/>
          </a:prstGeom>
        </p:spPr>
        <p:txBody>
          <a:bodyPr lIns="0" tIns="0" rIns="0" bIns="0" rtlCol="0" anchor="t">
            <a:spAutoFit/>
          </a:bodyPr>
          <a:lstStyle/>
          <a:p>
            <a:pPr algn="l">
              <a:lnSpc>
                <a:spcPts val="5552"/>
              </a:lnSpc>
            </a:pPr>
            <a:r>
              <a:rPr lang="en-US" sz="4558" b="1" spc="59">
                <a:solidFill>
                  <a:srgbClr val="FAE013"/>
                </a:solidFill>
                <a:latin typeface="Poppins Semi-Bold"/>
                <a:ea typeface="Poppins Semi-Bold"/>
                <a:cs typeface="Poppins Semi-Bold"/>
                <a:sym typeface="Poppins Semi-Bold"/>
              </a:rPr>
              <a:t>SPECIALIST FAST BOWLERS</a:t>
            </a:r>
          </a:p>
        </p:txBody>
      </p:sp>
      <p:sp>
        <p:nvSpPr>
          <p:cNvPr id="31" name="TextBox 31"/>
          <p:cNvSpPr txBox="1"/>
          <p:nvPr/>
        </p:nvSpPr>
        <p:spPr>
          <a:xfrm>
            <a:off x="1462707" y="4508459"/>
            <a:ext cx="2262464" cy="504682"/>
          </a:xfrm>
          <a:prstGeom prst="rect">
            <a:avLst/>
          </a:prstGeom>
        </p:spPr>
        <p:txBody>
          <a:bodyPr lIns="0" tIns="0" rIns="0" bIns="0" rtlCol="0" anchor="t">
            <a:spAutoFit/>
          </a:bodyPr>
          <a:lstStyle/>
          <a:p>
            <a:pPr algn="l">
              <a:lnSpc>
                <a:spcPts val="3778"/>
              </a:lnSpc>
            </a:pPr>
            <a:r>
              <a:rPr lang="en-US" sz="2699" b="1">
                <a:solidFill>
                  <a:srgbClr val="FAE013"/>
                </a:solidFill>
                <a:latin typeface="Poppins Semi-Bold"/>
                <a:ea typeface="Poppins Semi-Bold"/>
                <a:cs typeface="Poppins Semi-Bold"/>
                <a:sym typeface="Poppins Semi-Bold"/>
              </a:rPr>
              <a:t>PARAMETERS</a:t>
            </a:r>
          </a:p>
        </p:txBody>
      </p:sp>
      <p:sp>
        <p:nvSpPr>
          <p:cNvPr id="32" name="TextBox 32"/>
          <p:cNvSpPr txBox="1"/>
          <p:nvPr/>
        </p:nvSpPr>
        <p:spPr>
          <a:xfrm>
            <a:off x="7011276" y="4508459"/>
            <a:ext cx="2282390" cy="504682"/>
          </a:xfrm>
          <a:prstGeom prst="rect">
            <a:avLst/>
          </a:prstGeom>
        </p:spPr>
        <p:txBody>
          <a:bodyPr lIns="0" tIns="0" rIns="0" bIns="0" rtlCol="0" anchor="t">
            <a:spAutoFit/>
          </a:bodyPr>
          <a:lstStyle/>
          <a:p>
            <a:pPr algn="l">
              <a:lnSpc>
                <a:spcPts val="3778"/>
              </a:lnSpc>
            </a:pPr>
            <a:r>
              <a:rPr lang="en-US" sz="2699" b="1">
                <a:solidFill>
                  <a:srgbClr val="FAE013"/>
                </a:solidFill>
                <a:latin typeface="Poppins Semi-Bold"/>
                <a:ea typeface="Poppins Semi-Bold"/>
                <a:cs typeface="Poppins Semi-Bold"/>
                <a:sym typeface="Poppins Semi-Bold"/>
              </a:rPr>
              <a:t>DESCRIPTION</a:t>
            </a:r>
          </a:p>
        </p:txBody>
      </p:sp>
      <p:sp>
        <p:nvSpPr>
          <p:cNvPr id="33" name="TextBox 33"/>
          <p:cNvSpPr txBox="1"/>
          <p:nvPr/>
        </p:nvSpPr>
        <p:spPr>
          <a:xfrm>
            <a:off x="12363374" y="4508459"/>
            <a:ext cx="1916335" cy="5081730"/>
          </a:xfrm>
          <a:prstGeom prst="rect">
            <a:avLst/>
          </a:prstGeom>
        </p:spPr>
        <p:txBody>
          <a:bodyPr lIns="0" tIns="0" rIns="0" bIns="0" rtlCol="0" anchor="t">
            <a:spAutoFit/>
          </a:bodyPr>
          <a:lstStyle/>
          <a:p>
            <a:pPr algn="ctr">
              <a:lnSpc>
                <a:spcPts val="3778"/>
              </a:lnSpc>
            </a:pPr>
            <a:r>
              <a:rPr lang="en-US" sz="2699" b="1">
                <a:solidFill>
                  <a:srgbClr val="FAE013"/>
                </a:solidFill>
                <a:latin typeface="Poppins Semi-Bold"/>
                <a:ea typeface="Poppins Semi-Bold"/>
                <a:cs typeface="Poppins Semi-Bold"/>
                <a:sym typeface="Poppins Semi-Bold"/>
              </a:rPr>
              <a:t>CRITERIA</a:t>
            </a:r>
          </a:p>
          <a:p>
            <a:pPr algn="ctr">
              <a:lnSpc>
                <a:spcPts val="6063"/>
              </a:lnSpc>
            </a:pPr>
            <a:r>
              <a:rPr lang="en-US" sz="2500" b="1">
                <a:solidFill>
                  <a:srgbClr val="FFFFFF"/>
                </a:solidFill>
                <a:latin typeface="Poppins Semi-Bold"/>
                <a:ea typeface="Poppins Semi-Bold"/>
                <a:cs typeface="Poppins Semi-Bold"/>
                <a:sym typeface="Poppins Semi-Bold"/>
              </a:rPr>
              <a:t>&gt; 4 &lt; 7 &lt; 16 = "%Fast%" &lt; 20 &gt; 40</a:t>
            </a:r>
          </a:p>
        </p:txBody>
      </p:sp>
      <p:sp>
        <p:nvSpPr>
          <p:cNvPr id="34" name="TextBox 34"/>
          <p:cNvSpPr txBox="1"/>
          <p:nvPr/>
        </p:nvSpPr>
        <p:spPr>
          <a:xfrm>
            <a:off x="1144057" y="5038839"/>
            <a:ext cx="2848566" cy="4535662"/>
          </a:xfrm>
          <a:prstGeom prst="rect">
            <a:avLst/>
          </a:prstGeom>
        </p:spPr>
        <p:txBody>
          <a:bodyPr lIns="0" tIns="0" rIns="0" bIns="0" rtlCol="0" anchor="t">
            <a:spAutoFit/>
          </a:bodyPr>
          <a:lstStyle/>
          <a:p>
            <a:pPr algn="l">
              <a:lnSpc>
                <a:spcPts val="5749"/>
              </a:lnSpc>
            </a:pPr>
            <a:r>
              <a:rPr lang="en-US" sz="2299" b="1">
                <a:solidFill>
                  <a:srgbClr val="FFFFFF"/>
                </a:solidFill>
                <a:latin typeface="Poppins Medium"/>
                <a:ea typeface="Poppins Medium"/>
                <a:cs typeface="Poppins Medium"/>
                <a:sym typeface="Poppins Medium"/>
              </a:rPr>
              <a:t>Innings Bowled Bowling Economy Bowling Strike Rate Bowling Style Bowling Average Dot Ball %</a:t>
            </a:r>
          </a:p>
        </p:txBody>
      </p:sp>
      <p:sp>
        <p:nvSpPr>
          <p:cNvPr id="35" name="TextBox 35"/>
          <p:cNvSpPr txBox="1"/>
          <p:nvPr/>
        </p:nvSpPr>
        <p:spPr>
          <a:xfrm>
            <a:off x="4624445" y="5038839"/>
            <a:ext cx="6748996" cy="4529871"/>
          </a:xfrm>
          <a:prstGeom prst="rect">
            <a:avLst/>
          </a:prstGeom>
        </p:spPr>
        <p:txBody>
          <a:bodyPr lIns="0" tIns="0" rIns="0" bIns="0" rtlCol="0" anchor="t">
            <a:spAutoFit/>
          </a:bodyPr>
          <a:lstStyle/>
          <a:p>
            <a:pPr algn="l">
              <a:lnSpc>
                <a:spcPts val="5749"/>
              </a:lnSpc>
            </a:pPr>
            <a:r>
              <a:rPr lang="en-US" sz="2299" b="1">
                <a:solidFill>
                  <a:srgbClr val="FFFFFF"/>
                </a:solidFill>
                <a:latin typeface="Poppins Medium"/>
                <a:ea typeface="Poppins Medium"/>
                <a:cs typeface="Poppins Medium"/>
                <a:sym typeface="Poppins Medium"/>
              </a:rPr>
              <a:t>Total Innings bowled Average runs allowed per over Average no. of balls required to take a wicket Bowling style of the player No. of runs allowed per wicket % of dot balls bowled</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Diagram 19"/>
          <p:cNvGraphicFramePr/>
          <p:nvPr/>
        </p:nvGraphicFramePr>
        <p:xfrm>
          <a:off x="5734036" y="1142972"/>
          <a:ext cx="4429156" cy="12144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1" name="Title 20"/>
          <p:cNvSpPr>
            <a:spLocks noGrp="1"/>
          </p:cNvSpPr>
          <p:nvPr>
            <p:ph type="title"/>
          </p:nvPr>
        </p:nvSpPr>
        <p:spPr>
          <a:xfrm>
            <a:off x="457200" y="274638"/>
            <a:ext cx="2205002" cy="1011210"/>
          </a:xfrm>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Step : 2</a:t>
            </a:r>
            <a:endParaRPr lang="en-US"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4" name="Content Placeholder 13"/>
          <p:cNvSpPr>
            <a:spLocks noGrp="1"/>
          </p:cNvSpPr>
          <p:nvPr>
            <p:ph idx="4294967295"/>
          </p:nvPr>
        </p:nvSpPr>
        <p:spPr>
          <a:xfrm>
            <a:off x="3162268" y="2714608"/>
            <a:ext cx="9501254" cy="7215238"/>
          </a:xfrm>
        </p:spPr>
        <p:txBody>
          <a:bodyPr>
            <a:noAutofit/>
          </a:bodyPr>
          <a:lstStyle/>
          <a:p>
            <a:pPr algn="ctr">
              <a:buNone/>
            </a:pPr>
            <a:r>
              <a:rPr lang="en-US" sz="115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Scraping data from ESPN </a:t>
            </a:r>
            <a:r>
              <a:rPr lang="en-US" sz="11500" b="1" dirty="0" err="1"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cricInfo</a:t>
            </a:r>
            <a:r>
              <a:rPr lang="en-US" sz="115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website.</a:t>
            </a:r>
            <a:endParaRPr lang="en-US"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19062" y="1000096"/>
            <a:ext cx="13073154" cy="1000132"/>
          </a:xfrm>
        </p:spPr>
        <p:txBody>
          <a:bodyPr>
            <a:normAutofit fontScale="90000"/>
          </a:bodyPr>
          <a:lstStyle/>
          <a:p>
            <a:pPr algn="l"/>
            <a:r>
              <a:rPr lang="en-IN"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Match Dataset</a:t>
            </a:r>
            <a:r>
              <a:rPr lang="en-IN" dirty="0" smtClean="0"/>
              <a:t/>
            </a:r>
            <a:br>
              <a:rPr lang="en-IN" dirty="0" smtClean="0"/>
            </a:br>
            <a:r>
              <a:rPr lang="en-IN" dirty="0" smtClean="0"/>
              <a:t/>
            </a:r>
            <a:br>
              <a:rPr lang="en-IN" dirty="0" smtClean="0"/>
            </a:br>
            <a:r>
              <a:rPr lang="en-IN" dirty="0" smtClean="0"/>
              <a:t>Match Dataset contains total 45 records with 7 columns.</a:t>
            </a:r>
            <a:br>
              <a:rPr lang="en-IN" dirty="0" smtClean="0"/>
            </a:br>
            <a:r>
              <a:rPr lang="en-IN" dirty="0" smtClean="0"/>
              <a:t>Few of the records are shown in the below table:</a:t>
            </a:r>
            <a:br>
              <a:rPr lang="en-IN" dirty="0" smtClean="0"/>
            </a:br>
            <a:r>
              <a:rPr lang="en-IN" dirty="0" smtClean="0"/>
              <a:t> </a:t>
            </a:r>
            <a:endParaRPr lang="en-US" dirty="0"/>
          </a:p>
        </p:txBody>
      </p:sp>
      <p:graphicFrame>
        <p:nvGraphicFramePr>
          <p:cNvPr id="5" name="Content Placeholder 4"/>
          <p:cNvGraphicFramePr>
            <a:graphicFrameLocks noGrp="1"/>
          </p:cNvGraphicFramePr>
          <p:nvPr>
            <p:ph sz="half" idx="1"/>
          </p:nvPr>
        </p:nvGraphicFramePr>
        <p:xfrm>
          <a:off x="661938" y="2620075"/>
          <a:ext cx="13001716" cy="5763931"/>
        </p:xfrm>
        <a:graphic>
          <a:graphicData uri="http://schemas.openxmlformats.org/drawingml/2006/table">
            <a:tbl>
              <a:tblPr firstRow="1" bandRow="1">
                <a:tableStyleId>{1E171933-4619-4E11-9A3F-F7608DF75F80}</a:tableStyleId>
              </a:tblPr>
              <a:tblGrid>
                <a:gridCol w="1914981"/>
                <a:gridCol w="1814193"/>
                <a:gridCol w="2015770"/>
                <a:gridCol w="1411039"/>
                <a:gridCol w="2015770"/>
                <a:gridCol w="1814193"/>
                <a:gridCol w="2015770"/>
              </a:tblGrid>
              <a:tr h="0">
                <a:tc>
                  <a:txBody>
                    <a:bodyPr/>
                    <a:lstStyle/>
                    <a:p>
                      <a:pPr algn="l" fontAlgn="ctr"/>
                      <a:r>
                        <a:rPr lang="en-US" sz="2800" b="1" dirty="0"/>
                        <a:t>team1</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sz="2800" b="1" dirty="0"/>
                        <a:t>team2</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2800" b="1" dirty="0"/>
                        <a:t>winner</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2800" b="1" dirty="0"/>
                        <a:t>margin</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2800" b="1" dirty="0"/>
                        <a:t>ground</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2800" b="1" dirty="0" err="1"/>
                        <a:t>matchDate</a:t>
                      </a:r>
                      <a:endParaRPr lang="en-US" sz="2800" b="1" dirty="0"/>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2800" b="1" dirty="0" err="1"/>
                        <a:t>match_id</a:t>
                      </a:r>
                      <a:endParaRPr lang="en-US" sz="2800" b="1" dirty="0"/>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24609">
                <a:tc>
                  <a:txBody>
                    <a:bodyPr/>
                    <a:lstStyle/>
                    <a:p>
                      <a:r>
                        <a:rPr lang="en-US" sz="2400" dirty="0"/>
                        <a:t>Namibia</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Sri Lanka</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Namibia</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55 runs</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Geelong</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Oct 16, 2022</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T20I # 1823</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112587">
                <a:tc>
                  <a:txBody>
                    <a:bodyPr/>
                    <a:lstStyle/>
                    <a:p>
                      <a:r>
                        <a:rPr lang="en-US" sz="2400" dirty="0"/>
                        <a:t>Netherlands</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U.A.E.</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Netherlands</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3 wickets</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Geelong</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Oct 16, 2022</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T20I # 1825</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112587">
                <a:tc>
                  <a:txBody>
                    <a:bodyPr/>
                    <a:lstStyle/>
                    <a:p>
                      <a:r>
                        <a:rPr lang="en-US" sz="2400" dirty="0"/>
                        <a:t>Scotland</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West Indies</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Scotland</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42 runs</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Hobart</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Oct 17, 2022</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T20I # 1826</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112587">
                <a:tc>
                  <a:txBody>
                    <a:bodyPr/>
                    <a:lstStyle/>
                    <a:p>
                      <a:r>
                        <a:rPr lang="en-US" sz="2400" dirty="0"/>
                        <a:t>Ireland</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Zimbabwe</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Zimbabwe</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31 runs</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Hobart</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Oct 17, 2022</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T20I # 1828</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4041">
                <a:tc>
                  <a:txBody>
                    <a:bodyPr/>
                    <a:lstStyle/>
                    <a:p>
                      <a:r>
                        <a:rPr lang="en-US" sz="2400" dirty="0"/>
                        <a:t>Namibia</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Netherlands</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Netherlands</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5 wickets</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Geelong</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Oct 18, 2022</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T20I # 1830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19062" y="1000096"/>
            <a:ext cx="13073154" cy="857256"/>
          </a:xfrm>
        </p:spPr>
        <p:txBody>
          <a:bodyPr>
            <a:normAutofit fontScale="90000"/>
          </a:bodyPr>
          <a:lstStyle/>
          <a:p>
            <a:pPr algn="l"/>
            <a:r>
              <a:rPr lang="en-IN"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Batting Table</a:t>
            </a:r>
            <a:r>
              <a:rPr lang="en-IN" dirty="0" smtClean="0"/>
              <a:t/>
            </a:r>
            <a:br>
              <a:rPr lang="en-IN" dirty="0" smtClean="0"/>
            </a:br>
            <a:r>
              <a:rPr lang="en-IN" dirty="0" smtClean="0"/>
              <a:t/>
            </a:r>
            <a:br>
              <a:rPr lang="en-IN" dirty="0" smtClean="0"/>
            </a:br>
            <a:r>
              <a:rPr lang="en-IN" dirty="0" smtClean="0"/>
              <a:t>Batting </a:t>
            </a:r>
            <a:r>
              <a:rPr lang="en-IN" dirty="0" err="1" smtClean="0"/>
              <a:t>csv</a:t>
            </a:r>
            <a:r>
              <a:rPr lang="en-IN" dirty="0" smtClean="0"/>
              <a:t> file contains total 699 records with 11 columns of which 5 records are shown in the below table:</a:t>
            </a:r>
            <a:br>
              <a:rPr lang="en-IN" dirty="0" smtClean="0"/>
            </a:br>
            <a:r>
              <a:rPr lang="en-IN" dirty="0" smtClean="0"/>
              <a:t> </a:t>
            </a:r>
            <a:endParaRPr lang="en-US" dirty="0"/>
          </a:p>
        </p:txBody>
      </p:sp>
      <p:graphicFrame>
        <p:nvGraphicFramePr>
          <p:cNvPr id="5" name="Content Placeholder 4"/>
          <p:cNvGraphicFramePr>
            <a:graphicFrameLocks noGrp="1"/>
          </p:cNvGraphicFramePr>
          <p:nvPr>
            <p:ph sz="half" idx="1"/>
          </p:nvPr>
        </p:nvGraphicFramePr>
        <p:xfrm>
          <a:off x="661938" y="2643172"/>
          <a:ext cx="12644526" cy="7180995"/>
        </p:xfrm>
        <a:graphic>
          <a:graphicData uri="http://schemas.openxmlformats.org/drawingml/2006/table">
            <a:tbl>
              <a:tblPr firstRow="1" bandRow="1">
                <a:tableStyleId>{1E171933-4619-4E11-9A3F-F7608DF75F80}</a:tableStyleId>
              </a:tblPr>
              <a:tblGrid>
                <a:gridCol w="1244212"/>
                <a:gridCol w="1684746"/>
                <a:gridCol w="1571636"/>
                <a:gridCol w="2000264"/>
                <a:gridCol w="857256"/>
                <a:gridCol w="857256"/>
                <a:gridCol w="714380"/>
                <a:gridCol w="1071570"/>
                <a:gridCol w="1571636"/>
                <a:gridCol w="1071570"/>
              </a:tblGrid>
              <a:tr h="625908">
                <a:tc>
                  <a:txBody>
                    <a:bodyPr/>
                    <a:lstStyle/>
                    <a:p>
                      <a:pPr algn="l" fontAlgn="ctr"/>
                      <a:r>
                        <a:rPr lang="en-US" sz="2400" dirty="0"/>
                        <a:t>match</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sz="2400" dirty="0" err="1"/>
                        <a:t>teamInnings</a:t>
                      </a:r>
                      <a:endParaRPr lang="en-US" sz="2400" dirty="0"/>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sz="2400" dirty="0" err="1"/>
                        <a:t>battingPos</a:t>
                      </a:r>
                      <a:endParaRPr lang="en-US" sz="2400" dirty="0"/>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sz="2400" dirty="0" err="1"/>
                        <a:t>batsmanName</a:t>
                      </a:r>
                      <a:endParaRPr lang="en-US" sz="2400" dirty="0"/>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sz="2400" dirty="0"/>
                        <a:t>runs</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sz="2400"/>
                        <a:t>balls</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sz="2400" dirty="0"/>
                        <a:t>4s</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2400" dirty="0"/>
                        <a:t>6s</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2400" dirty="0"/>
                        <a:t>SR</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2400" dirty="0"/>
                        <a:t>out</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24454">
                <a:tc>
                  <a:txBody>
                    <a:bodyPr/>
                    <a:lstStyle/>
                    <a:p>
                      <a:r>
                        <a:rPr lang="en-US" sz="2400" dirty="0"/>
                        <a:t>Namibia Vs Sri Lanka</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Namibia</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1</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Michael van </a:t>
                      </a:r>
                      <a:r>
                        <a:rPr lang="en-US" sz="2400" dirty="0" err="1"/>
                        <a:t>Lingen</a:t>
                      </a:r>
                      <a:endParaRPr lang="en-US" sz="2400" dirty="0"/>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3</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6</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50.00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1</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290438">
                <a:tc>
                  <a:txBody>
                    <a:bodyPr/>
                    <a:lstStyle/>
                    <a:p>
                      <a:r>
                        <a:rPr lang="en-US" sz="2400" dirty="0"/>
                        <a:t>Namibia Vs Sri Lanka</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Namibia</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2</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Divan la Cock</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9</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9</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1</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100.00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1</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290438">
                <a:tc>
                  <a:txBody>
                    <a:bodyPr/>
                    <a:lstStyle/>
                    <a:p>
                      <a:r>
                        <a:rPr lang="en-US" sz="2400" dirty="0"/>
                        <a:t>Namibia Vs Sri Lanka</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Namibia</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3</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Jan </a:t>
                      </a:r>
                      <a:r>
                        <a:rPr lang="en-US" sz="2400" dirty="0" err="1"/>
                        <a:t>Nicol</a:t>
                      </a:r>
                      <a:r>
                        <a:rPr lang="en-US" sz="2400" dirty="0"/>
                        <a:t> </a:t>
                      </a:r>
                      <a:r>
                        <a:rPr lang="en-US" sz="2400" dirty="0" err="1"/>
                        <a:t>Loftie</a:t>
                      </a:r>
                      <a:r>
                        <a:rPr lang="en-US" sz="2400" dirty="0"/>
                        <a:t>-Eaton</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20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12</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1</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2</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166.66</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1</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290438">
                <a:tc>
                  <a:txBody>
                    <a:bodyPr/>
                    <a:lstStyle/>
                    <a:p>
                      <a:r>
                        <a:rPr lang="en-US" sz="2400" dirty="0"/>
                        <a:t>Namibia Vs Sri Lanka</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Namibia</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4</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Stephan Baard</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26</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24</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2</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108.33</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1</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535693">
                <a:tc>
                  <a:txBody>
                    <a:bodyPr/>
                    <a:lstStyle/>
                    <a:p>
                      <a:r>
                        <a:rPr lang="en-US" sz="2400" dirty="0"/>
                        <a:t>Namibia Vs Sri Lanka</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Namibia</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5</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Gerhard Erasmus</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20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24</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83.33</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1</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19062" y="1000096"/>
            <a:ext cx="13073154" cy="1000132"/>
          </a:xfrm>
        </p:spPr>
        <p:txBody>
          <a:bodyPr>
            <a:normAutofit fontScale="90000"/>
          </a:bodyPr>
          <a:lstStyle/>
          <a:p>
            <a:pPr algn="l"/>
            <a:r>
              <a:rPr lang="en-IN"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Bowling table</a:t>
            </a:r>
            <a:r>
              <a:rPr lang="en-IN" dirty="0" smtClean="0"/>
              <a:t/>
            </a:r>
            <a:br>
              <a:rPr lang="en-IN" dirty="0" smtClean="0"/>
            </a:br>
            <a:r>
              <a:rPr lang="en-IN" dirty="0" smtClean="0"/>
              <a:t/>
            </a:r>
            <a:br>
              <a:rPr lang="en-IN" dirty="0" smtClean="0"/>
            </a:br>
            <a:r>
              <a:rPr lang="en-IN" dirty="0" smtClean="0"/>
              <a:t>Bowling.csv file contains total 500 records with 13 columns.</a:t>
            </a:r>
            <a:br>
              <a:rPr lang="en-IN" dirty="0" smtClean="0"/>
            </a:br>
            <a:r>
              <a:rPr lang="en-IN" dirty="0" smtClean="0"/>
              <a:t>Few of the records are shown in the below table:</a:t>
            </a:r>
            <a:br>
              <a:rPr lang="en-IN" dirty="0" smtClean="0"/>
            </a:br>
            <a:r>
              <a:rPr lang="en-IN" dirty="0" smtClean="0"/>
              <a:t> </a:t>
            </a:r>
            <a:endParaRPr lang="en-US" dirty="0"/>
          </a:p>
        </p:txBody>
      </p:sp>
      <p:graphicFrame>
        <p:nvGraphicFramePr>
          <p:cNvPr id="5" name="Content Placeholder 4"/>
          <p:cNvGraphicFramePr>
            <a:graphicFrameLocks noGrp="1"/>
          </p:cNvGraphicFramePr>
          <p:nvPr>
            <p:ph sz="half" idx="1"/>
          </p:nvPr>
        </p:nvGraphicFramePr>
        <p:xfrm>
          <a:off x="661938" y="2620075"/>
          <a:ext cx="13930408" cy="6899943"/>
        </p:xfrm>
        <a:graphic>
          <a:graphicData uri="http://schemas.openxmlformats.org/drawingml/2006/table">
            <a:tbl>
              <a:tblPr firstRow="1" bandRow="1">
                <a:tableStyleId>{1E171933-4619-4E11-9A3F-F7608DF75F80}</a:tableStyleId>
              </a:tblPr>
              <a:tblGrid>
                <a:gridCol w="1010220"/>
                <a:gridCol w="1204358"/>
                <a:gridCol w="1000132"/>
                <a:gridCol w="1285884"/>
                <a:gridCol w="1000132"/>
                <a:gridCol w="571504"/>
                <a:gridCol w="999310"/>
                <a:gridCol w="1010220"/>
                <a:gridCol w="776552"/>
                <a:gridCol w="714380"/>
                <a:gridCol w="857256"/>
                <a:gridCol w="1480018"/>
                <a:gridCol w="957051"/>
                <a:gridCol w="1063391"/>
              </a:tblGrid>
              <a:tr h="428124">
                <a:tc>
                  <a:txBody>
                    <a:bodyPr/>
                    <a:lstStyle/>
                    <a:p>
                      <a:pPr algn="r" fontAlgn="ctr"/>
                      <a:r>
                        <a:rPr lang="en-US" dirty="0"/>
                        <a:t>match</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t>bowlingTeam</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t>bowlerName</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t>overs</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t>maiden</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t>runs</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t>wickets</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t>economy</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fontAlgn="ctr"/>
                      <a:r>
                        <a:rPr lang="en-US"/>
                        <a:t>0s</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t>4s</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t>6s</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t>wides</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t>noBalls</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52415">
                <a:tc>
                  <a:txBody>
                    <a:bodyPr/>
                    <a:lstStyle/>
                    <a:p>
                      <a:pPr algn="r" fontAlgn="ctr"/>
                      <a:r>
                        <a:rPr lang="en-US" sz="2400" b="0" dirty="0"/>
                        <a:t>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Namibia Vs Sri Lanka</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Sri Lanka</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err="1"/>
                        <a:t>Maheesh</a:t>
                      </a:r>
                      <a:r>
                        <a:rPr lang="en-US" sz="2400" dirty="0"/>
                        <a:t> </a:t>
                      </a:r>
                      <a:r>
                        <a:rPr lang="en-US" sz="2400" dirty="0" err="1"/>
                        <a:t>Theekshana</a:t>
                      </a:r>
                      <a:endParaRPr lang="en-US" sz="2400" dirty="0"/>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4</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23</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1</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5.75</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7</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2</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081195">
                <a:tc>
                  <a:txBody>
                    <a:bodyPr/>
                    <a:lstStyle/>
                    <a:p>
                      <a:pPr algn="r" fontAlgn="ctr"/>
                      <a:r>
                        <a:rPr lang="en-US" sz="2400" b="0"/>
                        <a:t>1</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Namibia Vs Sri Lanka</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Sri Lanka</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err="1"/>
                        <a:t>Dushmantha</a:t>
                      </a:r>
                      <a:r>
                        <a:rPr lang="en-US" sz="2400" dirty="0"/>
                        <a:t> </a:t>
                      </a:r>
                      <a:r>
                        <a:rPr lang="en-US" sz="2400" dirty="0" err="1"/>
                        <a:t>Chameera</a:t>
                      </a:r>
                      <a:endParaRPr lang="en-US" sz="2400" dirty="0"/>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4</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39</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1</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9.75</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6</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3</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1</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2</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081195">
                <a:tc>
                  <a:txBody>
                    <a:bodyPr/>
                    <a:lstStyle/>
                    <a:p>
                      <a:pPr algn="r" fontAlgn="ctr"/>
                      <a:r>
                        <a:rPr lang="en-US" sz="2400" b="0"/>
                        <a:t>2</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Namibia Vs Sri Lanka</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Sri Lanka</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Pramod Madushan</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4</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37</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2</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9.25</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6</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3</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1</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081195">
                <a:tc>
                  <a:txBody>
                    <a:bodyPr/>
                    <a:lstStyle/>
                    <a:p>
                      <a:pPr algn="r" fontAlgn="ctr"/>
                      <a:r>
                        <a:rPr lang="en-US" sz="2400" b="0"/>
                        <a:t>3</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Namibia Vs Sri Lanka</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Sri Lanka</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Chamika Karunaratne</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4</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36</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1</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9.00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7</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3</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1</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1</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42423">
                <a:tc>
                  <a:txBody>
                    <a:bodyPr/>
                    <a:lstStyle/>
                    <a:p>
                      <a:pPr algn="r" fontAlgn="ctr"/>
                      <a:r>
                        <a:rPr lang="en-US" sz="2400" b="0"/>
                        <a:t>4</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Namibia Vs Sri Lanka</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Sri Lanka</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Wanindu Hasaranga de Silva</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4</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27</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1</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6.75</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8</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1</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1</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0</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19062" y="1000096"/>
            <a:ext cx="13073154" cy="1000132"/>
          </a:xfrm>
        </p:spPr>
        <p:txBody>
          <a:bodyPr>
            <a:normAutofit fontScale="90000"/>
          </a:bodyPr>
          <a:lstStyle/>
          <a:p>
            <a:pPr algn="l"/>
            <a:r>
              <a:rPr lang="en-IN"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Player Dataset</a:t>
            </a:r>
            <a:r>
              <a:rPr lang="en-IN" dirty="0" smtClean="0"/>
              <a:t/>
            </a:r>
            <a:br>
              <a:rPr lang="en-IN" dirty="0" smtClean="0"/>
            </a:br>
            <a:r>
              <a:rPr lang="en-IN" dirty="0" smtClean="0"/>
              <a:t/>
            </a:r>
            <a:br>
              <a:rPr lang="en-IN" dirty="0" smtClean="0"/>
            </a:br>
            <a:r>
              <a:rPr lang="en-IN" dirty="0" smtClean="0"/>
              <a:t>Players.csv dataset contains total 219 rows and 6 columns.</a:t>
            </a:r>
            <a:br>
              <a:rPr lang="en-IN" dirty="0" smtClean="0"/>
            </a:br>
            <a:r>
              <a:rPr lang="en-IN" dirty="0" smtClean="0"/>
              <a:t>Few of the records are shown in the below table:</a:t>
            </a:r>
            <a:br>
              <a:rPr lang="en-IN" dirty="0" smtClean="0"/>
            </a:br>
            <a:r>
              <a:rPr lang="en-IN" dirty="0" smtClean="0"/>
              <a:t> </a:t>
            </a:r>
            <a:endParaRPr lang="en-US" dirty="0"/>
          </a:p>
        </p:txBody>
      </p:sp>
      <p:graphicFrame>
        <p:nvGraphicFramePr>
          <p:cNvPr id="5" name="Content Placeholder 4"/>
          <p:cNvGraphicFramePr>
            <a:graphicFrameLocks noGrp="1"/>
          </p:cNvGraphicFramePr>
          <p:nvPr>
            <p:ph sz="half" idx="1"/>
          </p:nvPr>
        </p:nvGraphicFramePr>
        <p:xfrm>
          <a:off x="661938" y="2620077"/>
          <a:ext cx="13787534" cy="7457795"/>
        </p:xfrm>
        <a:graphic>
          <a:graphicData uri="http://schemas.openxmlformats.org/drawingml/2006/table">
            <a:tbl>
              <a:tblPr firstRow="1" bandRow="1">
                <a:tableStyleId>{1E171933-4619-4E11-9A3F-F7608DF75F80}</a:tableStyleId>
              </a:tblPr>
              <a:tblGrid>
                <a:gridCol w="2403331"/>
                <a:gridCol w="2581992"/>
                <a:gridCol w="1869496"/>
                <a:gridCol w="2126051"/>
                <a:gridCol w="2276841"/>
                <a:gridCol w="2529823"/>
              </a:tblGrid>
              <a:tr h="944154">
                <a:tc>
                  <a:txBody>
                    <a:bodyPr/>
                    <a:lstStyle/>
                    <a:p>
                      <a:pPr algn="l" fontAlgn="ctr">
                        <a:lnSpc>
                          <a:spcPct val="100000"/>
                        </a:lnSpc>
                      </a:pPr>
                      <a:r>
                        <a:rPr lang="en-IN" sz="2400" dirty="0" smtClean="0"/>
                        <a:t>name</a:t>
                      </a:r>
                      <a:endParaRPr lang="en-US" sz="2400" dirty="0"/>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endParaRPr lang="en-US" sz="2400" dirty="0" smtClean="0"/>
                    </a:p>
                    <a:p>
                      <a:pPr marL="0" marR="0" indent="0" algn="l" defTabSz="914400" rtl="0" eaLnBrk="1" fontAlgn="ctr" latinLnBrk="0" hangingPunct="1">
                        <a:lnSpc>
                          <a:spcPct val="100000"/>
                        </a:lnSpc>
                        <a:spcBef>
                          <a:spcPts val="0"/>
                        </a:spcBef>
                        <a:spcAft>
                          <a:spcPts val="0"/>
                        </a:spcAft>
                        <a:buClrTx/>
                        <a:buSzTx/>
                        <a:buFontTx/>
                        <a:buNone/>
                        <a:tabLst/>
                        <a:defRPr/>
                      </a:pPr>
                      <a:r>
                        <a:rPr lang="en-US" sz="2400" dirty="0" smtClean="0"/>
                        <a:t>team</a:t>
                      </a:r>
                    </a:p>
                    <a:p>
                      <a:pPr algn="l" fontAlgn="ctr">
                        <a:lnSpc>
                          <a:spcPct val="100000"/>
                        </a:lnSpc>
                      </a:pPr>
                      <a:endParaRPr lang="en-US" sz="2400" dirty="0"/>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lnSpc>
                          <a:spcPct val="100000"/>
                        </a:lnSpc>
                      </a:pPr>
                      <a:r>
                        <a:rPr lang="en-US" sz="2400" dirty="0" err="1" smtClean="0"/>
                        <a:t>battingStyle</a:t>
                      </a:r>
                      <a:endParaRPr lang="en-US" sz="2400" dirty="0"/>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lnSpc>
                          <a:spcPct val="100000"/>
                        </a:lnSpc>
                      </a:pPr>
                      <a:r>
                        <a:rPr lang="en-US" sz="2400" dirty="0" err="1" smtClean="0"/>
                        <a:t>bowlingStyle</a:t>
                      </a:r>
                      <a:endParaRPr lang="en-US" sz="2400" dirty="0"/>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endParaRPr lang="en-US" sz="2400" dirty="0" smtClean="0"/>
                    </a:p>
                    <a:p>
                      <a:pPr marL="0" marR="0" indent="0" algn="l" defTabSz="914400" rtl="0" eaLnBrk="1" fontAlgn="ctr" latinLnBrk="0" hangingPunct="1">
                        <a:lnSpc>
                          <a:spcPct val="100000"/>
                        </a:lnSpc>
                        <a:spcBef>
                          <a:spcPts val="0"/>
                        </a:spcBef>
                        <a:spcAft>
                          <a:spcPts val="0"/>
                        </a:spcAft>
                        <a:buClrTx/>
                        <a:buSzTx/>
                        <a:buFontTx/>
                        <a:buNone/>
                        <a:tabLst/>
                        <a:defRPr/>
                      </a:pPr>
                      <a:r>
                        <a:rPr lang="en-US" sz="2400" dirty="0" err="1" smtClean="0"/>
                        <a:t>playingRole</a:t>
                      </a:r>
                      <a:endParaRPr lang="en-US" sz="2400" dirty="0" smtClean="0"/>
                    </a:p>
                    <a:p>
                      <a:pPr algn="l" fontAlgn="ctr">
                        <a:lnSpc>
                          <a:spcPct val="100000"/>
                        </a:lnSpc>
                      </a:pPr>
                      <a:endParaRPr lang="en-US" sz="2400" dirty="0"/>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4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description</a:t>
                      </a:r>
                    </a:p>
                    <a:p>
                      <a:pPr algn="l">
                        <a:lnSpc>
                          <a:spcPct val="100000"/>
                        </a:lnSpc>
                      </a:pP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202385">
                <a:tc>
                  <a:txBody>
                    <a:bodyPr/>
                    <a:lstStyle/>
                    <a:p>
                      <a:r>
                        <a:rPr lang="en-US" sz="2400" dirty="0" err="1"/>
                        <a:t>Najmul</a:t>
                      </a:r>
                      <a:r>
                        <a:rPr lang="en-US" sz="2400" dirty="0"/>
                        <a:t> </a:t>
                      </a:r>
                      <a:r>
                        <a:rPr lang="en-US" sz="2400" dirty="0" err="1"/>
                        <a:t>Hossain</a:t>
                      </a:r>
                      <a:r>
                        <a:rPr lang="en-US" sz="2400" dirty="0"/>
                        <a:t> </a:t>
                      </a:r>
                      <a:r>
                        <a:rPr lang="en-US" sz="2400" dirty="0" err="1"/>
                        <a:t>Shanto</a:t>
                      </a:r>
                      <a:endParaRPr lang="en-US" sz="2400" dirty="0"/>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Bangladesh</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Left hand Bat</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Right arm Offbreak</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Top order Batter</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Nazmul Hossain Shanto emerged from an unusual ...</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202385">
                <a:tc>
                  <a:txBody>
                    <a:bodyPr/>
                    <a:lstStyle/>
                    <a:p>
                      <a:r>
                        <a:rPr lang="en-US" sz="2400" dirty="0" err="1"/>
                        <a:t>Soumya</a:t>
                      </a:r>
                      <a:r>
                        <a:rPr lang="en-US" sz="2400" dirty="0"/>
                        <a:t> </a:t>
                      </a:r>
                      <a:r>
                        <a:rPr lang="en-US" sz="2400" dirty="0" err="1"/>
                        <a:t>Sarkar</a:t>
                      </a:r>
                      <a:endParaRPr lang="en-US" sz="2400" dirty="0"/>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Bangladesh</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Left hand Bat</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Right arm Medium fast</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Middle order Batter</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A rarity among Bangladesh allrounders, top-ord...</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202385">
                <a:tc>
                  <a:txBody>
                    <a:bodyPr/>
                    <a:lstStyle/>
                    <a:p>
                      <a:r>
                        <a:rPr lang="en-US" sz="2400" dirty="0"/>
                        <a:t>Litton Das</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Bangladesh</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Right hand Bat</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err="1"/>
                        <a:t>NaN</a:t>
                      </a:r>
                      <a:endParaRPr lang="en-US" sz="2400" dirty="0"/>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Wicketkeeper Batter</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err="1"/>
                        <a:t>Liton</a:t>
                      </a:r>
                      <a:r>
                        <a:rPr lang="en-US" sz="2400" dirty="0"/>
                        <a:t> Das is the first wicketkeeper-batsman in...</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13135">
                <a:tc>
                  <a:txBody>
                    <a:bodyPr/>
                    <a:lstStyle/>
                    <a:p>
                      <a:r>
                        <a:rPr lang="en-US" sz="2400" dirty="0" err="1"/>
                        <a:t>Shakib</a:t>
                      </a:r>
                      <a:r>
                        <a:rPr lang="en-US" sz="2400" dirty="0"/>
                        <a:t> Al </a:t>
                      </a:r>
                      <a:r>
                        <a:rPr lang="en-US" sz="2400" dirty="0" err="1"/>
                        <a:t>Hasan</a:t>
                      </a:r>
                      <a:r>
                        <a:rPr lang="en-US" sz="2400" dirty="0"/>
                        <a:t>(c)</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Bangladesh</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Left hand Bat</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Slow Left arm Orthodox</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Allrounder</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When the annals of Bangladesh cricket are sift...</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202385">
                <a:tc>
                  <a:txBody>
                    <a:bodyPr/>
                    <a:lstStyle/>
                    <a:p>
                      <a:r>
                        <a:rPr lang="en-US" sz="2400" dirty="0" err="1"/>
                        <a:t>Afif</a:t>
                      </a:r>
                      <a:r>
                        <a:rPr lang="en-US" sz="2400" dirty="0"/>
                        <a:t> </a:t>
                      </a:r>
                      <a:r>
                        <a:rPr lang="en-US" sz="2400" dirty="0" err="1"/>
                        <a:t>Hossain</a:t>
                      </a:r>
                      <a:endParaRPr lang="en-US" sz="2400" dirty="0"/>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Bangladesh</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Left hand Bat</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Right arm </a:t>
                      </a:r>
                      <a:r>
                        <a:rPr lang="en-US" sz="2400" dirty="0" err="1"/>
                        <a:t>Offbreak</a:t>
                      </a:r>
                      <a:endParaRPr lang="en-US" sz="2400" dirty="0"/>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err="1"/>
                        <a:t>Allrounder</a:t>
                      </a:r>
                      <a:endParaRPr lang="en-US" sz="2400" dirty="0"/>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Bangladesh left-hander </a:t>
                      </a:r>
                      <a:r>
                        <a:rPr lang="en-US" sz="2400" dirty="0" err="1"/>
                        <a:t>Afif</a:t>
                      </a:r>
                      <a:r>
                        <a:rPr lang="en-US" sz="2400" dirty="0"/>
                        <a:t> </a:t>
                      </a:r>
                      <a:r>
                        <a:rPr lang="en-US" sz="2400" dirty="0" err="1"/>
                        <a:t>Hossain</a:t>
                      </a:r>
                      <a:r>
                        <a:rPr lang="en-US" sz="2400" dirty="0"/>
                        <a:t> made his T...</a:t>
                      </a: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6888" y="-285788"/>
            <a:ext cx="7872410" cy="1143000"/>
          </a:xfrm>
        </p:spPr>
        <p:txBody>
          <a:bodyPr/>
          <a:lstStyle/>
          <a:p>
            <a:r>
              <a:rPr lang="en-IN" sz="4000" b="1" dirty="0" smtClean="0"/>
              <a:t>Relation between </a:t>
            </a:r>
            <a:r>
              <a:rPr lang="en-IN" sz="4000" b="1" dirty="0" smtClean="0"/>
              <a:t>tables:</a:t>
            </a:r>
            <a:endParaRPr lang="en-US" b="1" dirty="0"/>
          </a:p>
        </p:txBody>
      </p:sp>
      <p:graphicFrame>
        <p:nvGraphicFramePr>
          <p:cNvPr id="6" name="Content Placeholder 5"/>
          <p:cNvGraphicFramePr>
            <a:graphicFrameLocks noGrp="1"/>
          </p:cNvGraphicFramePr>
          <p:nvPr>
            <p:ph sz="half" idx="2"/>
          </p:nvPr>
        </p:nvGraphicFramePr>
        <p:xfrm>
          <a:off x="11663390" y="2143104"/>
          <a:ext cx="3571900" cy="37862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Diagram 7"/>
          <p:cNvGraphicFramePr/>
          <p:nvPr/>
        </p:nvGraphicFramePr>
        <p:xfrm>
          <a:off x="161872" y="3286112"/>
          <a:ext cx="2786082" cy="321471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aphicFrame>
        <p:nvGraphicFramePr>
          <p:cNvPr id="9" name="Diagram 8"/>
          <p:cNvGraphicFramePr/>
          <p:nvPr/>
        </p:nvGraphicFramePr>
        <p:xfrm>
          <a:off x="5948350" y="214278"/>
          <a:ext cx="3214710" cy="3714776"/>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graphicFrame>
        <p:nvGraphicFramePr>
          <p:cNvPr id="10" name="Diagram 9"/>
          <p:cNvGraphicFramePr/>
          <p:nvPr/>
        </p:nvGraphicFramePr>
        <p:xfrm>
          <a:off x="5662598" y="6357910"/>
          <a:ext cx="3786214" cy="3929090"/>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cxnSp>
        <p:nvCxnSpPr>
          <p:cNvPr id="14" name="Elbow Connector 13"/>
          <p:cNvCxnSpPr/>
          <p:nvPr/>
        </p:nvCxnSpPr>
        <p:spPr>
          <a:xfrm rot="10800000">
            <a:off x="9163060" y="1142972"/>
            <a:ext cx="2571768" cy="221457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2876516" y="1142972"/>
            <a:ext cx="3143272" cy="3071834"/>
          </a:xfrm>
          <a:prstGeom prst="bentConnector3">
            <a:avLst>
              <a:gd name="adj1" fmla="val 6212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11306200" y="4786310"/>
            <a:ext cx="301686" cy="369332"/>
          </a:xfrm>
          <a:prstGeom prst="rect">
            <a:avLst/>
          </a:prstGeom>
          <a:noFill/>
        </p:spPr>
        <p:txBody>
          <a:bodyPr wrap="none" rtlCol="0">
            <a:spAutoFit/>
          </a:bodyPr>
          <a:lstStyle/>
          <a:p>
            <a:r>
              <a:rPr lang="en-US" b="1" dirty="0" smtClean="0"/>
              <a:t>1</a:t>
            </a:r>
            <a:endParaRPr lang="en-US" b="1" dirty="0"/>
          </a:p>
        </p:txBody>
      </p:sp>
      <p:sp>
        <p:nvSpPr>
          <p:cNvPr id="16" name="TextBox 15"/>
          <p:cNvSpPr txBox="1"/>
          <p:nvPr/>
        </p:nvSpPr>
        <p:spPr>
          <a:xfrm>
            <a:off x="3448020" y="3929054"/>
            <a:ext cx="301686" cy="369332"/>
          </a:xfrm>
          <a:prstGeom prst="rect">
            <a:avLst/>
          </a:prstGeom>
          <a:noFill/>
        </p:spPr>
        <p:txBody>
          <a:bodyPr wrap="none" rtlCol="0">
            <a:spAutoFit/>
          </a:bodyPr>
          <a:lstStyle/>
          <a:p>
            <a:r>
              <a:rPr lang="en-US" b="1" dirty="0" smtClean="0"/>
              <a:t>1</a:t>
            </a:r>
            <a:endParaRPr lang="en-US" b="1" dirty="0"/>
          </a:p>
        </p:txBody>
      </p:sp>
      <p:sp>
        <p:nvSpPr>
          <p:cNvPr id="35" name="TextBox 34"/>
          <p:cNvSpPr txBox="1"/>
          <p:nvPr/>
        </p:nvSpPr>
        <p:spPr>
          <a:xfrm>
            <a:off x="5591160" y="857220"/>
            <a:ext cx="338554" cy="461665"/>
          </a:xfrm>
          <a:prstGeom prst="rect">
            <a:avLst/>
          </a:prstGeom>
          <a:noFill/>
        </p:spPr>
        <p:txBody>
          <a:bodyPr wrap="none" rtlCol="0">
            <a:spAutoFit/>
          </a:bodyPr>
          <a:lstStyle/>
          <a:p>
            <a:r>
              <a:rPr lang="en-US" sz="2400" b="1" dirty="0" smtClean="0"/>
              <a:t>*</a:t>
            </a:r>
            <a:endParaRPr lang="en-US" sz="2000" b="1" dirty="0"/>
          </a:p>
        </p:txBody>
      </p:sp>
      <p:sp>
        <p:nvSpPr>
          <p:cNvPr id="37" name="TextBox 36"/>
          <p:cNvSpPr txBox="1"/>
          <p:nvPr/>
        </p:nvSpPr>
        <p:spPr>
          <a:xfrm>
            <a:off x="5162532" y="7286641"/>
            <a:ext cx="285752" cy="461665"/>
          </a:xfrm>
          <a:prstGeom prst="rect">
            <a:avLst/>
          </a:prstGeom>
          <a:noFill/>
        </p:spPr>
        <p:txBody>
          <a:bodyPr wrap="square" rtlCol="0">
            <a:spAutoFit/>
          </a:bodyPr>
          <a:lstStyle/>
          <a:p>
            <a:r>
              <a:rPr lang="en-US" sz="2400" b="1" dirty="0" smtClean="0"/>
              <a:t>*</a:t>
            </a:r>
            <a:endParaRPr lang="en-US" sz="2000" b="1" dirty="0"/>
          </a:p>
        </p:txBody>
      </p:sp>
      <p:sp>
        <p:nvSpPr>
          <p:cNvPr id="38" name="TextBox 37"/>
          <p:cNvSpPr txBox="1"/>
          <p:nvPr/>
        </p:nvSpPr>
        <p:spPr>
          <a:xfrm flipH="1" flipV="1">
            <a:off x="9448812" y="7143764"/>
            <a:ext cx="357190" cy="461665"/>
          </a:xfrm>
          <a:prstGeom prst="rect">
            <a:avLst/>
          </a:prstGeom>
          <a:noFill/>
        </p:spPr>
        <p:txBody>
          <a:bodyPr wrap="square" rtlCol="0">
            <a:spAutoFit/>
          </a:bodyPr>
          <a:lstStyle/>
          <a:p>
            <a:r>
              <a:rPr lang="en-US" sz="2400" b="1" dirty="0" smtClean="0"/>
              <a:t>*</a:t>
            </a:r>
            <a:endParaRPr lang="en-US" b="1" dirty="0"/>
          </a:p>
        </p:txBody>
      </p:sp>
      <p:cxnSp>
        <p:nvCxnSpPr>
          <p:cNvPr id="55" name="Elbow Connector 54"/>
          <p:cNvCxnSpPr/>
          <p:nvPr/>
        </p:nvCxnSpPr>
        <p:spPr>
          <a:xfrm>
            <a:off x="2376450" y="4429120"/>
            <a:ext cx="3214710" cy="3143272"/>
          </a:xfrm>
          <a:prstGeom prst="bentConnector3">
            <a:avLst>
              <a:gd name="adj1" fmla="val 75126"/>
            </a:avLst>
          </a:prstGeom>
          <a:ln>
            <a:tailEnd type="arrow"/>
          </a:ln>
        </p:spPr>
        <p:style>
          <a:lnRef idx="1">
            <a:schemeClr val="accent1"/>
          </a:lnRef>
          <a:fillRef idx="0">
            <a:schemeClr val="accent1"/>
          </a:fillRef>
          <a:effectRef idx="0">
            <a:schemeClr val="accent1"/>
          </a:effectRef>
          <a:fontRef idx="minor">
            <a:schemeClr val="tx1"/>
          </a:fontRef>
        </p:style>
      </p:cxnSp>
      <p:sp>
        <p:nvSpPr>
          <p:cNvPr id="102" name="TextBox 101"/>
          <p:cNvSpPr txBox="1"/>
          <p:nvPr/>
        </p:nvSpPr>
        <p:spPr>
          <a:xfrm>
            <a:off x="3019392" y="4143368"/>
            <a:ext cx="285752" cy="369332"/>
          </a:xfrm>
          <a:prstGeom prst="rect">
            <a:avLst/>
          </a:prstGeom>
          <a:noFill/>
        </p:spPr>
        <p:txBody>
          <a:bodyPr wrap="square" rtlCol="0">
            <a:spAutoFit/>
          </a:bodyPr>
          <a:lstStyle/>
          <a:p>
            <a:r>
              <a:rPr lang="en-US" b="1" dirty="0" smtClean="0"/>
              <a:t>1</a:t>
            </a:r>
            <a:endParaRPr lang="en-US" b="1" dirty="0"/>
          </a:p>
        </p:txBody>
      </p:sp>
      <p:cxnSp>
        <p:nvCxnSpPr>
          <p:cNvPr id="111" name="Elbow Connector 110"/>
          <p:cNvCxnSpPr/>
          <p:nvPr/>
        </p:nvCxnSpPr>
        <p:spPr>
          <a:xfrm rot="10800000" flipV="1">
            <a:off x="9234498" y="5143500"/>
            <a:ext cx="2500330" cy="242889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32" name="TextBox 131"/>
          <p:cNvSpPr txBox="1"/>
          <p:nvPr/>
        </p:nvSpPr>
        <p:spPr>
          <a:xfrm>
            <a:off x="11306200" y="3071798"/>
            <a:ext cx="301686" cy="369332"/>
          </a:xfrm>
          <a:prstGeom prst="rect">
            <a:avLst/>
          </a:prstGeom>
          <a:noFill/>
        </p:spPr>
        <p:txBody>
          <a:bodyPr wrap="none" rtlCol="0">
            <a:spAutoFit/>
          </a:bodyPr>
          <a:lstStyle/>
          <a:p>
            <a:r>
              <a:rPr lang="en-US" b="1" dirty="0" smtClean="0"/>
              <a:t>1</a:t>
            </a:r>
            <a:endParaRPr lang="en-US" b="1"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Diagram 19"/>
          <p:cNvGraphicFramePr/>
          <p:nvPr/>
        </p:nvGraphicFramePr>
        <p:xfrm>
          <a:off x="5734036" y="1142972"/>
          <a:ext cx="4429156" cy="12144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1" name="Title 20"/>
          <p:cNvSpPr>
            <a:spLocks noGrp="1"/>
          </p:cNvSpPr>
          <p:nvPr>
            <p:ph type="title"/>
          </p:nvPr>
        </p:nvSpPr>
        <p:spPr>
          <a:xfrm>
            <a:off x="457200" y="274638"/>
            <a:ext cx="2205002" cy="1011210"/>
          </a:xfrm>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Step : 3</a:t>
            </a:r>
            <a:endParaRPr lang="en-US"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4" name="Content Placeholder 13"/>
          <p:cNvSpPr>
            <a:spLocks noGrp="1"/>
          </p:cNvSpPr>
          <p:nvPr>
            <p:ph idx="4294967295"/>
          </p:nvPr>
        </p:nvSpPr>
        <p:spPr>
          <a:xfrm>
            <a:off x="3162268" y="2714608"/>
            <a:ext cx="9501254" cy="7215238"/>
          </a:xfrm>
        </p:spPr>
        <p:txBody>
          <a:bodyPr>
            <a:noAutofit/>
          </a:bodyPr>
          <a:lstStyle/>
          <a:p>
            <a:pPr algn="ctr">
              <a:buNone/>
            </a:pPr>
            <a:r>
              <a:rPr lang="en-US" sz="115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Preprocessing data using Pandas.</a:t>
            </a:r>
            <a:endParaRPr lang="en-US"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33310" y="4857748"/>
            <a:ext cx="7000924" cy="1143000"/>
          </a:xfrm>
        </p:spPr>
        <p:txBody>
          <a:bodyPr/>
          <a:lstStyle/>
          <a:p>
            <a:r>
              <a:rPr lang="en-IN" b="1" dirty="0" smtClean="0"/>
              <a:t>Preparing Data for analysis</a:t>
            </a:r>
            <a:endParaRPr lang="en-US" b="1" dirty="0"/>
          </a:p>
        </p:txBody>
      </p:sp>
      <p:sp>
        <p:nvSpPr>
          <p:cNvPr id="4" name="Content Placeholder 3"/>
          <p:cNvSpPr>
            <a:spLocks noGrp="1"/>
          </p:cNvSpPr>
          <p:nvPr>
            <p:ph idx="1"/>
          </p:nvPr>
        </p:nvSpPr>
        <p:spPr>
          <a:xfrm>
            <a:off x="590500" y="6072194"/>
            <a:ext cx="13563644" cy="3614738"/>
          </a:xfrm>
        </p:spPr>
        <p:txBody>
          <a:bodyPr>
            <a:normAutofit fontScale="70000" lnSpcReduction="20000"/>
          </a:bodyPr>
          <a:lstStyle/>
          <a:p>
            <a:r>
              <a:rPr lang="en-IN" sz="6300" dirty="0" smtClean="0"/>
              <a:t>Files that we extracted from ESPN </a:t>
            </a:r>
            <a:r>
              <a:rPr lang="en-IN" sz="6300" dirty="0" err="1" smtClean="0"/>
              <a:t>cricInfo</a:t>
            </a:r>
            <a:r>
              <a:rPr lang="en-IN" sz="6300" dirty="0" smtClean="0"/>
              <a:t> website are available in JSON format.</a:t>
            </a:r>
          </a:p>
          <a:p>
            <a:r>
              <a:rPr lang="en-IN" sz="6300" dirty="0" smtClean="0"/>
              <a:t>We need to transform JSON files to a CSV file format.</a:t>
            </a:r>
          </a:p>
          <a:p>
            <a:r>
              <a:rPr lang="en-IN" sz="6300" dirty="0" smtClean="0"/>
              <a:t>Link datasets using a common id(Primary key) required to connect all the tables.</a:t>
            </a:r>
          </a:p>
          <a:p>
            <a:endParaRPr lang="en-IN" sz="4000" dirty="0" smtClean="0"/>
          </a:p>
          <a:p>
            <a:endParaRPr lang="en-US" dirty="0"/>
          </a:p>
        </p:txBody>
      </p:sp>
      <p:sp>
        <p:nvSpPr>
          <p:cNvPr id="6" name="TextBox 5"/>
          <p:cNvSpPr txBox="1"/>
          <p:nvPr/>
        </p:nvSpPr>
        <p:spPr>
          <a:xfrm>
            <a:off x="447624" y="285716"/>
            <a:ext cx="3987415" cy="769441"/>
          </a:xfrm>
          <a:prstGeom prst="rect">
            <a:avLst/>
          </a:prstGeom>
          <a:noFill/>
        </p:spPr>
        <p:txBody>
          <a:bodyPr wrap="square" rtlCol="0">
            <a:spAutoFit/>
          </a:bodyPr>
          <a:lstStyle/>
          <a:p>
            <a:r>
              <a:rPr lang="en-IN" sz="4400" b="1" dirty="0" smtClean="0"/>
              <a:t>Data Cleaning: </a:t>
            </a:r>
            <a:endParaRPr lang="en-US" sz="4400" b="1" dirty="0"/>
          </a:p>
        </p:txBody>
      </p:sp>
      <p:sp>
        <p:nvSpPr>
          <p:cNvPr id="7" name="TextBox 6"/>
          <p:cNvSpPr txBox="1"/>
          <p:nvPr/>
        </p:nvSpPr>
        <p:spPr>
          <a:xfrm>
            <a:off x="590500" y="1357287"/>
            <a:ext cx="14216162" cy="4308872"/>
          </a:xfrm>
          <a:prstGeom prst="rect">
            <a:avLst/>
          </a:prstGeom>
          <a:noFill/>
        </p:spPr>
        <p:txBody>
          <a:bodyPr wrap="square" rtlCol="0">
            <a:spAutoFit/>
          </a:bodyPr>
          <a:lstStyle/>
          <a:p>
            <a:pPr>
              <a:buFont typeface="Arial" pitchFamily="34" charset="0"/>
              <a:buChar char="•"/>
            </a:pPr>
            <a:r>
              <a:rPr lang="en-IN" sz="4400" dirty="0" smtClean="0"/>
              <a:t>Removing duplicate and </a:t>
            </a:r>
            <a:r>
              <a:rPr lang="en-IN" sz="4400" dirty="0" smtClean="0"/>
              <a:t>missing data entries</a:t>
            </a:r>
          </a:p>
          <a:p>
            <a:pPr>
              <a:buFont typeface="Arial" pitchFamily="34" charset="0"/>
              <a:buChar char="•"/>
            </a:pPr>
            <a:r>
              <a:rPr lang="en-IN" sz="4400" dirty="0" smtClean="0"/>
              <a:t>Some players name have </a:t>
            </a:r>
            <a:r>
              <a:rPr lang="en-IN" sz="4400" b="1" i="1" dirty="0" smtClean="0"/>
              <a:t>‘©’</a:t>
            </a:r>
            <a:r>
              <a:rPr lang="en-IN" sz="4400" dirty="0" smtClean="0"/>
              <a:t> at the end of their names indicating captain of the team.</a:t>
            </a:r>
            <a:endParaRPr lang="en-IN" sz="4400" dirty="0" smtClean="0"/>
          </a:p>
          <a:p>
            <a:pPr>
              <a:buFont typeface="Arial" pitchFamily="34" charset="0"/>
              <a:buChar char="•"/>
            </a:pPr>
            <a:r>
              <a:rPr lang="en-US" sz="4400" dirty="0" smtClean="0"/>
              <a:t>Cleanup strings by removing </a:t>
            </a:r>
            <a:r>
              <a:rPr lang="en-US" sz="4400" dirty="0" smtClean="0"/>
              <a:t>special characters from names</a:t>
            </a:r>
          </a:p>
          <a:p>
            <a:pPr>
              <a:buFont typeface="Arial" pitchFamily="34" charset="0"/>
              <a:buChar char="•"/>
            </a:pPr>
            <a:r>
              <a:rPr lang="en-US" sz="4400" dirty="0" smtClean="0"/>
              <a:t>Check and remove trailing white spaces.</a:t>
            </a:r>
            <a:endParaRPr lang="en-US" sz="4400" dirty="0" smtClean="0"/>
          </a:p>
          <a:p>
            <a:endParaRPr lang="en-US" sz="54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Diagram 19"/>
          <p:cNvGraphicFramePr/>
          <p:nvPr/>
        </p:nvGraphicFramePr>
        <p:xfrm>
          <a:off x="5734036" y="1142972"/>
          <a:ext cx="4429156" cy="12144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1" name="Title 20"/>
          <p:cNvSpPr>
            <a:spLocks noGrp="1"/>
          </p:cNvSpPr>
          <p:nvPr>
            <p:ph type="title"/>
          </p:nvPr>
        </p:nvSpPr>
        <p:spPr>
          <a:xfrm>
            <a:off x="457200" y="274638"/>
            <a:ext cx="2205002" cy="1011210"/>
          </a:xfrm>
        </p:spPr>
        <p:style>
          <a:lnRef idx="2">
            <a:schemeClr val="accent1">
              <a:shade val="50000"/>
            </a:schemeClr>
          </a:lnRef>
          <a:fillRef idx="1">
            <a:schemeClr val="accent1"/>
          </a:fillRef>
          <a:effectRef idx="0">
            <a:schemeClr val="accent1"/>
          </a:effectRef>
          <a:fontRef idx="minor">
            <a:schemeClr val="lt1"/>
          </a:fontRef>
        </p:style>
        <p:txBody>
          <a:bodyPr/>
          <a:lstStyle/>
          <a:p>
            <a:r>
              <a:rPr lang="en-US"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Step : 4</a:t>
            </a:r>
            <a:endParaRPr lang="en-US"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4" name="Content Placeholder 13"/>
          <p:cNvSpPr>
            <a:spLocks noGrp="1"/>
          </p:cNvSpPr>
          <p:nvPr>
            <p:ph idx="4294967295"/>
          </p:nvPr>
        </p:nvSpPr>
        <p:spPr>
          <a:xfrm>
            <a:off x="3162268" y="2714608"/>
            <a:ext cx="9858444" cy="7572392"/>
          </a:xfrm>
        </p:spPr>
        <p:txBody>
          <a:bodyPr>
            <a:noAutofit/>
          </a:bodyPr>
          <a:lstStyle/>
          <a:p>
            <a:pPr algn="ctr">
              <a:buNone/>
            </a:pPr>
            <a:r>
              <a:rPr lang="en-US" sz="115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Data aggregation and Transformation</a:t>
            </a:r>
            <a:endParaRPr lang="en-US"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318" y="0"/>
            <a:ext cx="10501386" cy="571468"/>
          </a:xfrm>
        </p:spPr>
        <p:txBody>
          <a:bodyPr>
            <a:normAutofit fontScale="90000"/>
          </a:bodyPr>
          <a:lstStyle/>
          <a:p>
            <a:pPr algn="l"/>
            <a:r>
              <a:rPr lang="en-US" dirty="0" smtClean="0"/>
              <a:t>  </a:t>
            </a:r>
            <a:r>
              <a:rPr lang="en-US" sz="4000" b="1" dirty="0" smtClean="0"/>
              <a:t>Add new calculated columns to existing datasets:</a:t>
            </a:r>
            <a:endParaRPr lang="en-US" sz="4000" b="1" dirty="0"/>
          </a:p>
        </p:txBody>
      </p:sp>
      <p:graphicFrame>
        <p:nvGraphicFramePr>
          <p:cNvPr id="3" name="Table 2"/>
          <p:cNvGraphicFramePr>
            <a:graphicFrameLocks noGrp="1"/>
          </p:cNvGraphicFramePr>
          <p:nvPr/>
        </p:nvGraphicFramePr>
        <p:xfrm>
          <a:off x="0" y="500033"/>
          <a:ext cx="15468599" cy="9935649"/>
        </p:xfrm>
        <a:graphic>
          <a:graphicData uri="http://schemas.openxmlformats.org/drawingml/2006/table">
            <a:tbl>
              <a:tblPr firstRow="1" bandRow="1">
                <a:tableStyleId>{5C22544A-7EE6-4342-B048-85BDC9FD1C3A}</a:tableStyleId>
              </a:tblPr>
              <a:tblGrid>
                <a:gridCol w="2154830"/>
                <a:gridCol w="5432150"/>
                <a:gridCol w="5251182"/>
                <a:gridCol w="2630437"/>
              </a:tblGrid>
              <a:tr h="229509">
                <a:tc>
                  <a:txBody>
                    <a:bodyPr/>
                    <a:lstStyle/>
                    <a:p>
                      <a:pPr algn="l" fontAlgn="b"/>
                      <a:r>
                        <a:rPr lang="en-US" sz="1600" b="1" i="0" u="none" strike="noStrike" dirty="0">
                          <a:solidFill>
                            <a:srgbClr val="FFFFFF"/>
                          </a:solidFill>
                          <a:latin typeface="Calibri"/>
                        </a:rPr>
                        <a:t>Measures</a:t>
                      </a:r>
                    </a:p>
                  </a:txBody>
                  <a:tcPr marL="6350" marR="6350" marT="6350" marB="0" anchor="b"/>
                </a:tc>
                <a:tc>
                  <a:txBody>
                    <a:bodyPr/>
                    <a:lstStyle/>
                    <a:p>
                      <a:pPr algn="l" fontAlgn="b"/>
                      <a:r>
                        <a:rPr lang="en-US" sz="1600" b="1" i="0" u="none" strike="noStrike">
                          <a:solidFill>
                            <a:srgbClr val="FFFFFF"/>
                          </a:solidFill>
                          <a:latin typeface="Calibri"/>
                        </a:rPr>
                        <a:t>Description / Purpose</a:t>
                      </a:r>
                    </a:p>
                  </a:txBody>
                  <a:tcPr marL="6350" marR="6350" marT="6350" marB="0" anchor="b"/>
                </a:tc>
                <a:tc>
                  <a:txBody>
                    <a:bodyPr/>
                    <a:lstStyle/>
                    <a:p>
                      <a:pPr algn="l" fontAlgn="b"/>
                      <a:r>
                        <a:rPr lang="en-US" sz="1600" b="1" i="0" u="none" strike="noStrike" dirty="0" smtClean="0">
                          <a:solidFill>
                            <a:srgbClr val="FFFFFF"/>
                          </a:solidFill>
                          <a:latin typeface="Calibri"/>
                        </a:rPr>
                        <a:t>FORMULA</a:t>
                      </a:r>
                      <a:endParaRPr lang="en-US" sz="1600" b="1" i="0" u="none" strike="noStrike" dirty="0">
                        <a:solidFill>
                          <a:srgbClr val="FFFFFF"/>
                        </a:solidFill>
                        <a:latin typeface="Calibri"/>
                      </a:endParaRPr>
                    </a:p>
                  </a:txBody>
                  <a:tcPr marL="6350" marR="6350" marT="6350" marB="0" anchor="b"/>
                </a:tc>
                <a:tc>
                  <a:txBody>
                    <a:bodyPr/>
                    <a:lstStyle/>
                    <a:p>
                      <a:pPr algn="l" fontAlgn="b"/>
                      <a:r>
                        <a:rPr lang="en-US" sz="1600" b="1" i="0" u="none" strike="noStrike">
                          <a:solidFill>
                            <a:srgbClr val="FFFFFF"/>
                          </a:solidFill>
                          <a:latin typeface="Calibri"/>
                        </a:rPr>
                        <a:t>TABLE</a:t>
                      </a:r>
                    </a:p>
                  </a:txBody>
                  <a:tcPr marL="6350" marR="6350" marT="6350" marB="0" anchor="b"/>
                </a:tc>
              </a:tr>
              <a:tr h="289377">
                <a:tc>
                  <a:txBody>
                    <a:bodyPr/>
                    <a:lstStyle/>
                    <a:p>
                      <a:pPr algn="l" fontAlgn="b"/>
                      <a:r>
                        <a:rPr lang="en-US" sz="2000" b="0" i="0" u="none" strike="noStrike" dirty="0">
                          <a:solidFill>
                            <a:srgbClr val="000000"/>
                          </a:solidFill>
                          <a:latin typeface="Calibri"/>
                        </a:rPr>
                        <a:t>Total Runs</a:t>
                      </a:r>
                    </a:p>
                  </a:txBody>
                  <a:tcPr marL="6350" marR="6350" marT="6350" marB="0" anchor="b"/>
                </a:tc>
                <a:tc>
                  <a:txBody>
                    <a:bodyPr/>
                    <a:lstStyle/>
                    <a:p>
                      <a:pPr algn="l" fontAlgn="b"/>
                      <a:r>
                        <a:rPr lang="en-US" sz="2000" b="0" i="0" u="none" strike="noStrike" dirty="0">
                          <a:solidFill>
                            <a:srgbClr val="000000"/>
                          </a:solidFill>
                          <a:latin typeface="Calibri"/>
                        </a:rPr>
                        <a:t>Total number of runs scored by the batsman</a:t>
                      </a:r>
                    </a:p>
                  </a:txBody>
                  <a:tcPr marL="6350" marR="6350" marT="6350" marB="0" anchor="b"/>
                </a:tc>
                <a:tc>
                  <a:txBody>
                    <a:bodyPr/>
                    <a:lstStyle/>
                    <a:p>
                      <a:pPr algn="l" fontAlgn="b"/>
                      <a:r>
                        <a:rPr lang="en-US" sz="1400" b="0" i="0" u="none" strike="noStrike" dirty="0">
                          <a:solidFill>
                            <a:srgbClr val="000000"/>
                          </a:solidFill>
                          <a:latin typeface="Consolas"/>
                        </a:rPr>
                        <a:t>Total Runs = </a:t>
                      </a:r>
                      <a:r>
                        <a:rPr lang="en-US" sz="1400" b="0" i="0" u="none" strike="noStrike" dirty="0">
                          <a:solidFill>
                            <a:srgbClr val="3165BB"/>
                          </a:solidFill>
                          <a:latin typeface="Consolas"/>
                        </a:rPr>
                        <a:t>SUM</a:t>
                      </a:r>
                      <a:r>
                        <a:rPr lang="en-US" sz="1400" b="0" i="0" u="none" strike="noStrike" dirty="0">
                          <a:solidFill>
                            <a:srgbClr val="000000"/>
                          </a:solidFill>
                          <a:latin typeface="Consolas"/>
                        </a:rPr>
                        <a:t>(</a:t>
                      </a:r>
                      <a:r>
                        <a:rPr lang="en-US" sz="1400" b="0" i="0" u="none" strike="noStrike" dirty="0" err="1">
                          <a:solidFill>
                            <a:srgbClr val="001080"/>
                          </a:solidFill>
                          <a:latin typeface="Consolas"/>
                        </a:rPr>
                        <a:t>fact_batting_summary</a:t>
                      </a:r>
                      <a:r>
                        <a:rPr lang="en-US" sz="1400" b="0" i="0" u="none" strike="noStrike" dirty="0">
                          <a:solidFill>
                            <a:srgbClr val="001080"/>
                          </a:solidFill>
                          <a:latin typeface="Consolas"/>
                        </a:rPr>
                        <a:t>[runs]</a:t>
                      </a:r>
                      <a:r>
                        <a:rPr lang="en-US" sz="1400" b="0" i="0" u="none" strike="noStrike" dirty="0">
                          <a:solidFill>
                            <a:srgbClr val="000000"/>
                          </a:solidFill>
                          <a:latin typeface="Consolas"/>
                        </a:rPr>
                        <a:t>)</a:t>
                      </a:r>
                      <a:endParaRPr lang="en-US" sz="2000" b="0" i="0" u="none" strike="noStrike" dirty="0">
                        <a:solidFill>
                          <a:srgbClr val="000000"/>
                        </a:solidFill>
                        <a:latin typeface="Calibri"/>
                      </a:endParaRPr>
                    </a:p>
                  </a:txBody>
                  <a:tcPr marL="6350" marR="6350" marT="6350" marB="0" anchor="b"/>
                </a:tc>
                <a:tc>
                  <a:txBody>
                    <a:bodyPr/>
                    <a:lstStyle/>
                    <a:p>
                      <a:pPr algn="l" fontAlgn="b"/>
                      <a:r>
                        <a:rPr lang="en-US" sz="2000" b="0" i="0" u="none" strike="noStrike">
                          <a:solidFill>
                            <a:srgbClr val="000000"/>
                          </a:solidFill>
                          <a:latin typeface="Calibri"/>
                        </a:rPr>
                        <a:t>fact_batting_summary</a:t>
                      </a:r>
                    </a:p>
                  </a:txBody>
                  <a:tcPr marL="6350" marR="6350" marT="6350" marB="0" anchor="b"/>
                </a:tc>
              </a:tr>
              <a:tr h="565035">
                <a:tc>
                  <a:txBody>
                    <a:bodyPr/>
                    <a:lstStyle/>
                    <a:p>
                      <a:pPr algn="l" fontAlgn="b"/>
                      <a:r>
                        <a:rPr lang="en-US" sz="2000" b="0" i="0" u="none" strike="noStrike" dirty="0">
                          <a:solidFill>
                            <a:srgbClr val="000000"/>
                          </a:solidFill>
                          <a:latin typeface="Calibri"/>
                        </a:rPr>
                        <a:t>Total Innings Batted</a:t>
                      </a:r>
                    </a:p>
                  </a:txBody>
                  <a:tcPr marL="6350" marR="6350" marT="6350" marB="0" anchor="b"/>
                </a:tc>
                <a:tc>
                  <a:txBody>
                    <a:bodyPr/>
                    <a:lstStyle/>
                    <a:p>
                      <a:pPr algn="l" fontAlgn="b"/>
                      <a:r>
                        <a:rPr lang="en-US" sz="2000" b="0" i="0" u="none" strike="noStrike">
                          <a:solidFill>
                            <a:srgbClr val="000000"/>
                          </a:solidFill>
                          <a:latin typeface="Calibri"/>
                        </a:rPr>
                        <a:t>Total number of innings a batsman got a chance to bat</a:t>
                      </a:r>
                    </a:p>
                  </a:txBody>
                  <a:tcPr marL="6350" marR="6350" marT="6350" marB="0" anchor="b"/>
                </a:tc>
                <a:tc>
                  <a:txBody>
                    <a:bodyPr/>
                    <a:lstStyle/>
                    <a:p>
                      <a:pPr algn="l" fontAlgn="b"/>
                      <a:r>
                        <a:rPr lang="en-US" sz="1400" b="0" i="0" u="none" strike="noStrike">
                          <a:solidFill>
                            <a:srgbClr val="000000"/>
                          </a:solidFill>
                          <a:latin typeface="Consolas"/>
                        </a:rPr>
                        <a:t>Total Innings Batted = </a:t>
                      </a:r>
                      <a:r>
                        <a:rPr lang="en-US" sz="1400" b="0" i="0" u="none" strike="noStrike">
                          <a:solidFill>
                            <a:srgbClr val="3165BB"/>
                          </a:solidFill>
                          <a:latin typeface="Consolas"/>
                        </a:rPr>
                        <a:t>COUNT</a:t>
                      </a:r>
                      <a:r>
                        <a:rPr lang="en-US" sz="1400" b="0" i="0" u="none" strike="noStrike">
                          <a:solidFill>
                            <a:srgbClr val="000000"/>
                          </a:solidFill>
                          <a:latin typeface="Consolas"/>
                        </a:rPr>
                        <a:t>(</a:t>
                      </a:r>
                      <a:r>
                        <a:rPr lang="en-US" sz="1400" b="0" i="0" u="none" strike="noStrike">
                          <a:solidFill>
                            <a:srgbClr val="001080"/>
                          </a:solidFill>
                          <a:latin typeface="Consolas"/>
                        </a:rPr>
                        <a:t>fact_batting_summary[match_id]</a:t>
                      </a:r>
                      <a:r>
                        <a:rPr lang="en-US" sz="1400" b="0" i="0" u="none" strike="noStrike">
                          <a:solidFill>
                            <a:srgbClr val="000000"/>
                          </a:solidFill>
                          <a:latin typeface="Consolas"/>
                        </a:rPr>
                        <a:t>)</a:t>
                      </a:r>
                    </a:p>
                  </a:txBody>
                  <a:tcPr marL="6350" marR="6350" marT="6350" marB="0" anchor="b"/>
                </a:tc>
                <a:tc>
                  <a:txBody>
                    <a:bodyPr/>
                    <a:lstStyle/>
                    <a:p>
                      <a:pPr algn="l" fontAlgn="b"/>
                      <a:r>
                        <a:rPr lang="en-US" sz="2000" b="0" i="0" u="none" strike="noStrike">
                          <a:solidFill>
                            <a:srgbClr val="000000"/>
                          </a:solidFill>
                          <a:latin typeface="Calibri"/>
                        </a:rPr>
                        <a:t>fact_batting_summary</a:t>
                      </a:r>
                    </a:p>
                  </a:txBody>
                  <a:tcPr marL="6350" marR="6350" marT="6350" marB="0" anchor="b"/>
                </a:tc>
              </a:tr>
              <a:tr h="537219">
                <a:tc>
                  <a:txBody>
                    <a:bodyPr/>
                    <a:lstStyle/>
                    <a:p>
                      <a:pPr algn="l" fontAlgn="b"/>
                      <a:r>
                        <a:rPr lang="en-US" sz="2000" b="0" i="0" u="none" strike="noStrike" dirty="0">
                          <a:solidFill>
                            <a:srgbClr val="000000"/>
                          </a:solidFill>
                          <a:latin typeface="Calibri"/>
                        </a:rPr>
                        <a:t>Total Innings Dismissed</a:t>
                      </a:r>
                    </a:p>
                  </a:txBody>
                  <a:tcPr marL="6350" marR="6350" marT="6350" marB="0" anchor="b"/>
                </a:tc>
                <a:tc>
                  <a:txBody>
                    <a:bodyPr/>
                    <a:lstStyle/>
                    <a:p>
                      <a:pPr algn="l" fontAlgn="b"/>
                      <a:r>
                        <a:rPr lang="en-US" sz="2000" b="0" i="0" u="none" strike="noStrike">
                          <a:solidFill>
                            <a:srgbClr val="000000"/>
                          </a:solidFill>
                          <a:latin typeface="Calibri"/>
                        </a:rPr>
                        <a:t>To find the number of innings batsman got out</a:t>
                      </a:r>
                    </a:p>
                  </a:txBody>
                  <a:tcPr marL="6350" marR="6350" marT="6350" marB="0" anchor="b"/>
                </a:tc>
                <a:tc>
                  <a:txBody>
                    <a:bodyPr/>
                    <a:lstStyle/>
                    <a:p>
                      <a:pPr algn="l" fontAlgn="ctr"/>
                      <a:r>
                        <a:rPr lang="en-US" sz="1400" b="0" i="0" u="none" strike="noStrike" dirty="0">
                          <a:solidFill>
                            <a:srgbClr val="3165BB"/>
                          </a:solidFill>
                          <a:latin typeface="Consolas"/>
                        </a:rPr>
                        <a:t>SUM(</a:t>
                      </a:r>
                      <a:r>
                        <a:rPr lang="en-US" sz="1400" b="0" i="0" u="none" strike="noStrike" dirty="0" err="1">
                          <a:solidFill>
                            <a:srgbClr val="3165BB"/>
                          </a:solidFill>
                          <a:latin typeface="Consolas"/>
                        </a:rPr>
                        <a:t>fact_batting_summary</a:t>
                      </a:r>
                      <a:r>
                        <a:rPr lang="en-US" sz="1400" b="0" i="0" u="none" strike="noStrike" dirty="0">
                          <a:solidFill>
                            <a:srgbClr val="3165BB"/>
                          </a:solidFill>
                          <a:latin typeface="Consolas"/>
                        </a:rPr>
                        <a:t>[out])</a:t>
                      </a:r>
                    </a:p>
                  </a:txBody>
                  <a:tcPr marL="6350" marR="6350" marT="6350" marB="0" anchor="ctr"/>
                </a:tc>
                <a:tc>
                  <a:txBody>
                    <a:bodyPr/>
                    <a:lstStyle/>
                    <a:p>
                      <a:pPr algn="l" fontAlgn="b"/>
                      <a:r>
                        <a:rPr lang="en-US" sz="2000" b="0" i="0" u="none" strike="noStrike">
                          <a:solidFill>
                            <a:srgbClr val="000000"/>
                          </a:solidFill>
                          <a:latin typeface="Calibri"/>
                        </a:rPr>
                        <a:t>fact_batting_summary</a:t>
                      </a:r>
                    </a:p>
                  </a:txBody>
                  <a:tcPr marL="6350" marR="6350" marT="6350" marB="0" anchor="b"/>
                </a:tc>
              </a:tr>
              <a:tr h="565035">
                <a:tc>
                  <a:txBody>
                    <a:bodyPr/>
                    <a:lstStyle/>
                    <a:p>
                      <a:pPr algn="l" fontAlgn="b"/>
                      <a:r>
                        <a:rPr lang="en-US" sz="2000" b="1" i="0" u="none" strike="noStrike" dirty="0">
                          <a:solidFill>
                            <a:srgbClr val="000000"/>
                          </a:solidFill>
                          <a:latin typeface="Calibri"/>
                        </a:rPr>
                        <a:t>Batting Average</a:t>
                      </a:r>
                    </a:p>
                  </a:txBody>
                  <a:tcPr marL="6350" marR="6350" marT="6350" marB="0" anchor="b"/>
                </a:tc>
                <a:tc>
                  <a:txBody>
                    <a:bodyPr/>
                    <a:lstStyle/>
                    <a:p>
                      <a:pPr algn="l" fontAlgn="b"/>
                      <a:r>
                        <a:rPr lang="en-US" sz="2000" b="1" i="0" u="none" strike="noStrike" dirty="0">
                          <a:solidFill>
                            <a:srgbClr val="000000"/>
                          </a:solidFill>
                          <a:latin typeface="Calibri"/>
                        </a:rPr>
                        <a:t>Average runs scored in an innings</a:t>
                      </a:r>
                    </a:p>
                  </a:txBody>
                  <a:tcPr marL="6350" marR="6350" marT="6350" marB="0" anchor="b"/>
                </a:tc>
                <a:tc>
                  <a:txBody>
                    <a:bodyPr/>
                    <a:lstStyle/>
                    <a:p>
                      <a:pPr algn="l" fontAlgn="b"/>
                      <a:r>
                        <a:rPr lang="en-US" sz="2000" b="1" i="0" u="none" strike="noStrike">
                          <a:solidFill>
                            <a:srgbClr val="000000"/>
                          </a:solidFill>
                          <a:latin typeface="Calibri"/>
                        </a:rPr>
                        <a:t>Batting Avg = DIVIDE([Total Runs],[Total Innings Dismissed],0)</a:t>
                      </a:r>
                    </a:p>
                  </a:txBody>
                  <a:tcPr marL="6350" marR="6350" marT="6350" marB="0" anchor="b"/>
                </a:tc>
                <a:tc>
                  <a:txBody>
                    <a:bodyPr/>
                    <a:lstStyle/>
                    <a:p>
                      <a:pPr algn="l" fontAlgn="b"/>
                      <a:r>
                        <a:rPr lang="en-US" sz="2000" b="1" i="0" u="none" strike="noStrike">
                          <a:solidFill>
                            <a:srgbClr val="000000"/>
                          </a:solidFill>
                          <a:latin typeface="Calibri"/>
                        </a:rPr>
                        <a:t>fact_batting_summary</a:t>
                      </a:r>
                    </a:p>
                  </a:txBody>
                  <a:tcPr marL="6350" marR="6350" marT="6350" marB="0" anchor="b"/>
                </a:tc>
              </a:tr>
              <a:tr h="565035">
                <a:tc>
                  <a:txBody>
                    <a:bodyPr/>
                    <a:lstStyle/>
                    <a:p>
                      <a:pPr algn="l" fontAlgn="b"/>
                      <a:r>
                        <a:rPr lang="en-US" sz="2000" b="0" i="0" u="none" strike="noStrike" dirty="0">
                          <a:solidFill>
                            <a:srgbClr val="000000"/>
                          </a:solidFill>
                          <a:latin typeface="Calibri"/>
                        </a:rPr>
                        <a:t>Total balls Faced</a:t>
                      </a:r>
                    </a:p>
                  </a:txBody>
                  <a:tcPr marL="6350" marR="6350" marT="6350" marB="0" anchor="b"/>
                </a:tc>
                <a:tc>
                  <a:txBody>
                    <a:bodyPr/>
                    <a:lstStyle/>
                    <a:p>
                      <a:pPr algn="l" fontAlgn="b"/>
                      <a:r>
                        <a:rPr lang="en-US" sz="2000" b="0" i="0" u="none" strike="noStrike" dirty="0">
                          <a:solidFill>
                            <a:srgbClr val="000000"/>
                          </a:solidFill>
                          <a:latin typeface="Calibri"/>
                        </a:rPr>
                        <a:t>Total number of balls faced by the batsman</a:t>
                      </a:r>
                    </a:p>
                  </a:txBody>
                  <a:tcPr marL="6350" marR="6350" marT="6350" marB="0" anchor="b"/>
                </a:tc>
                <a:tc>
                  <a:txBody>
                    <a:bodyPr/>
                    <a:lstStyle/>
                    <a:p>
                      <a:pPr algn="l" fontAlgn="b"/>
                      <a:r>
                        <a:rPr lang="en-US" sz="2000" b="0" i="0" u="none" strike="noStrike">
                          <a:solidFill>
                            <a:srgbClr val="000000"/>
                          </a:solidFill>
                          <a:latin typeface="Calibri"/>
                        </a:rPr>
                        <a:t>total balls faced = SUM(fact_batting_summary[balls])</a:t>
                      </a:r>
                    </a:p>
                  </a:txBody>
                  <a:tcPr marL="6350" marR="6350" marT="6350" marB="0" anchor="b"/>
                </a:tc>
                <a:tc>
                  <a:txBody>
                    <a:bodyPr/>
                    <a:lstStyle/>
                    <a:p>
                      <a:pPr algn="l" fontAlgn="b"/>
                      <a:r>
                        <a:rPr lang="en-US" sz="2000" b="0" i="0" u="none" strike="noStrike">
                          <a:solidFill>
                            <a:srgbClr val="000000"/>
                          </a:solidFill>
                          <a:latin typeface="Calibri"/>
                        </a:rPr>
                        <a:t>fact_batting_summary</a:t>
                      </a:r>
                    </a:p>
                  </a:txBody>
                  <a:tcPr marL="6350" marR="6350" marT="6350" marB="0" anchor="b"/>
                </a:tc>
              </a:tr>
              <a:tr h="565035">
                <a:tc>
                  <a:txBody>
                    <a:bodyPr/>
                    <a:lstStyle/>
                    <a:p>
                      <a:pPr algn="l" fontAlgn="b"/>
                      <a:r>
                        <a:rPr lang="en-US" sz="2000" b="1" i="0" u="none" strike="noStrike" dirty="0">
                          <a:solidFill>
                            <a:srgbClr val="000000"/>
                          </a:solidFill>
                          <a:latin typeface="Calibri"/>
                        </a:rPr>
                        <a:t>Strike Rate</a:t>
                      </a:r>
                    </a:p>
                  </a:txBody>
                  <a:tcPr marL="6350" marR="6350" marT="6350" marB="0" anchor="b"/>
                </a:tc>
                <a:tc>
                  <a:txBody>
                    <a:bodyPr/>
                    <a:lstStyle/>
                    <a:p>
                      <a:pPr algn="l" fontAlgn="b"/>
                      <a:r>
                        <a:rPr lang="en-US" sz="2000" b="1" i="0" u="none" strike="noStrike" dirty="0">
                          <a:solidFill>
                            <a:srgbClr val="000000"/>
                          </a:solidFill>
                          <a:latin typeface="Calibri"/>
                        </a:rPr>
                        <a:t>No of runs scored per 100 balls </a:t>
                      </a:r>
                    </a:p>
                  </a:txBody>
                  <a:tcPr marL="6350" marR="6350" marT="6350" marB="0" anchor="b"/>
                </a:tc>
                <a:tc>
                  <a:txBody>
                    <a:bodyPr/>
                    <a:lstStyle/>
                    <a:p>
                      <a:pPr algn="l" fontAlgn="b"/>
                      <a:r>
                        <a:rPr lang="en-US" sz="2000" b="1" i="0" u="none" strike="noStrike" dirty="0">
                          <a:solidFill>
                            <a:srgbClr val="000000"/>
                          </a:solidFill>
                          <a:latin typeface="Calibri"/>
                        </a:rPr>
                        <a:t>Strike rate = DIVIDE([Total Runs],[total balls faced],0)*100</a:t>
                      </a:r>
                    </a:p>
                  </a:txBody>
                  <a:tcPr marL="6350" marR="6350" marT="6350" marB="0" anchor="b"/>
                </a:tc>
                <a:tc>
                  <a:txBody>
                    <a:bodyPr/>
                    <a:lstStyle/>
                    <a:p>
                      <a:pPr algn="l" fontAlgn="b"/>
                      <a:r>
                        <a:rPr lang="en-US" sz="2000" b="1" i="0" u="none" strike="noStrike" dirty="0" err="1">
                          <a:solidFill>
                            <a:srgbClr val="000000"/>
                          </a:solidFill>
                          <a:latin typeface="Calibri"/>
                        </a:rPr>
                        <a:t>fact_batting_summary</a:t>
                      </a:r>
                      <a:endParaRPr lang="en-US" sz="2000" b="1" i="0" u="none" strike="noStrike" dirty="0">
                        <a:solidFill>
                          <a:srgbClr val="000000"/>
                        </a:solidFill>
                        <a:latin typeface="Calibri"/>
                      </a:endParaRPr>
                    </a:p>
                  </a:txBody>
                  <a:tcPr marL="6350" marR="6350" marT="6350" marB="0" anchor="b"/>
                </a:tc>
              </a:tr>
              <a:tr h="592996">
                <a:tc>
                  <a:txBody>
                    <a:bodyPr/>
                    <a:lstStyle/>
                    <a:p>
                      <a:pPr algn="l" fontAlgn="b"/>
                      <a:r>
                        <a:rPr lang="en-US" sz="2000" b="0" i="0" u="none" strike="noStrike" dirty="0">
                          <a:solidFill>
                            <a:srgbClr val="000000"/>
                          </a:solidFill>
                          <a:latin typeface="Calibri"/>
                        </a:rPr>
                        <a:t>Batting Position</a:t>
                      </a:r>
                    </a:p>
                  </a:txBody>
                  <a:tcPr marL="6350" marR="6350" marT="6350" marB="0" anchor="b"/>
                </a:tc>
                <a:tc>
                  <a:txBody>
                    <a:bodyPr/>
                    <a:lstStyle/>
                    <a:p>
                      <a:pPr algn="l" fontAlgn="b"/>
                      <a:r>
                        <a:rPr lang="en-US" sz="2000" b="0" i="0" u="none" strike="noStrike" dirty="0">
                          <a:solidFill>
                            <a:srgbClr val="000000"/>
                          </a:solidFill>
                          <a:latin typeface="Calibri"/>
                        </a:rPr>
                        <a:t>Batting position of a player</a:t>
                      </a:r>
                    </a:p>
                  </a:txBody>
                  <a:tcPr marL="6350" marR="6350" marT="6350" marB="0" anchor="b"/>
                </a:tc>
                <a:tc>
                  <a:txBody>
                    <a:bodyPr/>
                    <a:lstStyle/>
                    <a:p>
                      <a:pPr algn="l" fontAlgn="b"/>
                      <a:r>
                        <a:rPr lang="en-US" sz="1400" b="0" i="0" u="none" strike="noStrike" dirty="0">
                          <a:solidFill>
                            <a:srgbClr val="000000"/>
                          </a:solidFill>
                          <a:latin typeface="Consolas"/>
                        </a:rPr>
                        <a:t>Batting Position = </a:t>
                      </a:r>
                      <a:r>
                        <a:rPr lang="en-US" sz="1400" b="0" i="0" u="none" strike="noStrike" dirty="0">
                          <a:solidFill>
                            <a:srgbClr val="3165BB"/>
                          </a:solidFill>
                          <a:latin typeface="Consolas"/>
                        </a:rPr>
                        <a:t>ROUNDUP</a:t>
                      </a:r>
                      <a:r>
                        <a:rPr lang="en-US" sz="1400" b="0" i="0" u="none" strike="noStrike" dirty="0">
                          <a:solidFill>
                            <a:srgbClr val="000000"/>
                          </a:solidFill>
                          <a:latin typeface="Consolas"/>
                        </a:rPr>
                        <a:t>(</a:t>
                      </a:r>
                      <a:r>
                        <a:rPr lang="en-US" sz="1400" b="0" i="0" u="none" strike="noStrike" dirty="0">
                          <a:solidFill>
                            <a:srgbClr val="3165BB"/>
                          </a:solidFill>
                          <a:latin typeface="Consolas"/>
                        </a:rPr>
                        <a:t>AVERAGE</a:t>
                      </a:r>
                      <a:r>
                        <a:rPr lang="en-US" sz="1400" b="0" i="0" u="none" strike="noStrike" dirty="0">
                          <a:solidFill>
                            <a:srgbClr val="000000"/>
                          </a:solidFill>
                          <a:latin typeface="Consolas"/>
                        </a:rPr>
                        <a:t>(</a:t>
                      </a:r>
                      <a:r>
                        <a:rPr lang="en-US" sz="1400" b="0" i="0" u="none" strike="noStrike" dirty="0" err="1">
                          <a:solidFill>
                            <a:srgbClr val="001080"/>
                          </a:solidFill>
                          <a:latin typeface="Consolas"/>
                        </a:rPr>
                        <a:t>fact_batting_summary</a:t>
                      </a:r>
                      <a:r>
                        <a:rPr lang="en-US" sz="1400" b="0" i="0" u="none" strike="noStrike" dirty="0">
                          <a:solidFill>
                            <a:srgbClr val="001080"/>
                          </a:solidFill>
                          <a:latin typeface="Consolas"/>
                        </a:rPr>
                        <a:t>[</a:t>
                      </a:r>
                      <a:r>
                        <a:rPr lang="en-US" sz="1400" b="0" i="0" u="none" strike="noStrike" dirty="0" err="1">
                          <a:solidFill>
                            <a:srgbClr val="001080"/>
                          </a:solidFill>
                          <a:latin typeface="Consolas"/>
                        </a:rPr>
                        <a:t>batting_pos</a:t>
                      </a:r>
                      <a:r>
                        <a:rPr lang="en-US" sz="1400" b="0" i="0" u="none" strike="noStrike" dirty="0">
                          <a:solidFill>
                            <a:srgbClr val="001080"/>
                          </a:solidFill>
                          <a:latin typeface="Consolas"/>
                        </a:rPr>
                        <a:t>]</a:t>
                      </a:r>
                      <a:r>
                        <a:rPr lang="en-US" sz="1400" b="0" i="0" u="none" strike="noStrike" dirty="0">
                          <a:solidFill>
                            <a:srgbClr val="000000"/>
                          </a:solidFill>
                          <a:latin typeface="Consolas"/>
                        </a:rPr>
                        <a:t>),</a:t>
                      </a:r>
                      <a:r>
                        <a:rPr lang="en-US" sz="1400" b="0" i="0" u="none" strike="noStrike" dirty="0">
                          <a:solidFill>
                            <a:srgbClr val="09885A"/>
                          </a:solidFill>
                          <a:latin typeface="Consolas"/>
                        </a:rPr>
                        <a:t>0</a:t>
                      </a:r>
                      <a:r>
                        <a:rPr lang="en-US" sz="1400" b="0" i="0" u="none" strike="noStrike" dirty="0">
                          <a:solidFill>
                            <a:srgbClr val="000000"/>
                          </a:solidFill>
                          <a:latin typeface="Consolas"/>
                        </a:rPr>
                        <a:t>)</a:t>
                      </a:r>
                      <a:endParaRPr lang="en-US" sz="2000" b="0" i="0" u="none" strike="noStrike" dirty="0">
                        <a:solidFill>
                          <a:srgbClr val="000000"/>
                        </a:solidFill>
                        <a:latin typeface="Calibri"/>
                      </a:endParaRPr>
                    </a:p>
                  </a:txBody>
                  <a:tcPr marL="6350" marR="6350" marT="6350" marB="0" anchor="b"/>
                </a:tc>
                <a:tc>
                  <a:txBody>
                    <a:bodyPr/>
                    <a:lstStyle/>
                    <a:p>
                      <a:pPr algn="l" fontAlgn="b"/>
                      <a:r>
                        <a:rPr lang="en-US" sz="2000" b="0" i="0" u="none" strike="noStrike" dirty="0" err="1">
                          <a:solidFill>
                            <a:srgbClr val="000000"/>
                          </a:solidFill>
                          <a:latin typeface="Calibri"/>
                        </a:rPr>
                        <a:t>fact_batting_summary</a:t>
                      </a:r>
                      <a:endParaRPr lang="en-US" sz="2000" b="0" i="0" u="none" strike="noStrike" dirty="0">
                        <a:solidFill>
                          <a:srgbClr val="000000"/>
                        </a:solidFill>
                        <a:latin typeface="Calibri"/>
                      </a:endParaRPr>
                    </a:p>
                  </a:txBody>
                  <a:tcPr marL="6350" marR="6350" marT="6350" marB="0" anchor="b"/>
                </a:tc>
              </a:tr>
              <a:tr h="592996">
                <a:tc>
                  <a:txBody>
                    <a:bodyPr/>
                    <a:lstStyle/>
                    <a:p>
                      <a:pPr algn="l" fontAlgn="b"/>
                      <a:r>
                        <a:rPr lang="en-US" sz="2000" b="0" i="0" u="none" strike="noStrike">
                          <a:solidFill>
                            <a:srgbClr val="000000"/>
                          </a:solidFill>
                          <a:latin typeface="Calibri"/>
                        </a:rPr>
                        <a:t>Boundary %</a:t>
                      </a:r>
                    </a:p>
                  </a:txBody>
                  <a:tcPr marL="6350" marR="6350" marT="6350" marB="0" anchor="b"/>
                </a:tc>
                <a:tc>
                  <a:txBody>
                    <a:bodyPr/>
                    <a:lstStyle/>
                    <a:p>
                      <a:pPr algn="l" fontAlgn="b"/>
                      <a:r>
                        <a:rPr lang="en-US" sz="2000" b="0" i="0" u="none" strike="noStrike">
                          <a:solidFill>
                            <a:srgbClr val="000000"/>
                          </a:solidFill>
                          <a:latin typeface="Calibri"/>
                        </a:rPr>
                        <a:t>Percentage of boundaries scored by the Batsman</a:t>
                      </a:r>
                    </a:p>
                  </a:txBody>
                  <a:tcPr marL="6350" marR="6350" marT="6350" marB="0" anchor="b"/>
                </a:tc>
                <a:tc>
                  <a:txBody>
                    <a:bodyPr/>
                    <a:lstStyle/>
                    <a:p>
                      <a:pPr algn="l" fontAlgn="b"/>
                      <a:r>
                        <a:rPr lang="en-US" sz="1400" b="0" i="0" u="none" strike="noStrike">
                          <a:solidFill>
                            <a:srgbClr val="000000"/>
                          </a:solidFill>
                          <a:latin typeface="Consolas"/>
                        </a:rPr>
                        <a:t>Boundary % =  </a:t>
                      </a:r>
                      <a:r>
                        <a:rPr lang="en-US" sz="1400" b="0" i="0" u="none" strike="noStrike">
                          <a:solidFill>
                            <a:srgbClr val="3165BB"/>
                          </a:solidFill>
                          <a:latin typeface="Consolas"/>
                        </a:rPr>
                        <a:t>DIVIDE</a:t>
                      </a:r>
                      <a:r>
                        <a:rPr lang="en-US" sz="1400" b="0" i="0" u="none" strike="noStrike">
                          <a:solidFill>
                            <a:srgbClr val="000000"/>
                          </a:solidFill>
                          <a:latin typeface="Consolas"/>
                        </a:rPr>
                        <a:t>(</a:t>
                      </a:r>
                      <a:r>
                        <a:rPr lang="en-US" sz="1400" b="0" i="0" u="none" strike="noStrike">
                          <a:solidFill>
                            <a:srgbClr val="3165BB"/>
                          </a:solidFill>
                          <a:latin typeface="Consolas"/>
                        </a:rPr>
                        <a:t>SUM</a:t>
                      </a:r>
                      <a:r>
                        <a:rPr lang="en-US" sz="1400" b="0" i="0" u="none" strike="noStrike">
                          <a:solidFill>
                            <a:srgbClr val="000000"/>
                          </a:solidFill>
                          <a:latin typeface="Consolas"/>
                        </a:rPr>
                        <a:t>(</a:t>
                      </a:r>
                      <a:r>
                        <a:rPr lang="en-US" sz="1400" b="0" i="0" u="none" strike="noStrike">
                          <a:solidFill>
                            <a:srgbClr val="001080"/>
                          </a:solidFill>
                          <a:latin typeface="Consolas"/>
                        </a:rPr>
                        <a:t>fact_batting_summary[Boundary runs]</a:t>
                      </a:r>
                      <a:r>
                        <a:rPr lang="en-US" sz="1400" b="0" i="0" u="none" strike="noStrike">
                          <a:solidFill>
                            <a:srgbClr val="000000"/>
                          </a:solidFill>
                          <a:latin typeface="Consolas"/>
                        </a:rPr>
                        <a:t>),</a:t>
                      </a:r>
                      <a:r>
                        <a:rPr lang="en-US" sz="1400" b="0" i="0" u="none" strike="noStrike">
                          <a:solidFill>
                            <a:srgbClr val="68349C"/>
                          </a:solidFill>
                          <a:latin typeface="Consolas"/>
                        </a:rPr>
                        <a:t>[Total Runs]</a:t>
                      </a:r>
                      <a:r>
                        <a:rPr lang="en-US" sz="1400" b="0" i="0" u="none" strike="noStrike">
                          <a:solidFill>
                            <a:srgbClr val="000000"/>
                          </a:solidFill>
                          <a:latin typeface="Consolas"/>
                        </a:rPr>
                        <a:t>,</a:t>
                      </a:r>
                      <a:r>
                        <a:rPr lang="en-US" sz="1400" b="0" i="0" u="none" strike="noStrike">
                          <a:solidFill>
                            <a:srgbClr val="09885A"/>
                          </a:solidFill>
                          <a:latin typeface="Consolas"/>
                        </a:rPr>
                        <a:t>0</a:t>
                      </a:r>
                      <a:r>
                        <a:rPr lang="en-US" sz="1400" b="0" i="0" u="none" strike="noStrike">
                          <a:solidFill>
                            <a:srgbClr val="000000"/>
                          </a:solidFill>
                          <a:latin typeface="Consolas"/>
                        </a:rPr>
                        <a:t>)</a:t>
                      </a:r>
                      <a:endParaRPr lang="en-US" sz="2000" b="0" i="0" u="none" strike="noStrike">
                        <a:solidFill>
                          <a:srgbClr val="000000"/>
                        </a:solidFill>
                        <a:latin typeface="Calibri"/>
                      </a:endParaRPr>
                    </a:p>
                  </a:txBody>
                  <a:tcPr marL="6350" marR="6350" marT="6350" marB="0" anchor="b"/>
                </a:tc>
                <a:tc>
                  <a:txBody>
                    <a:bodyPr/>
                    <a:lstStyle/>
                    <a:p>
                      <a:pPr algn="l" fontAlgn="b"/>
                      <a:r>
                        <a:rPr lang="en-US" sz="2000" b="0" i="0" u="none" strike="noStrike" dirty="0" err="1">
                          <a:solidFill>
                            <a:srgbClr val="000000"/>
                          </a:solidFill>
                          <a:latin typeface="Calibri"/>
                        </a:rPr>
                        <a:t>fact_batting_summary</a:t>
                      </a:r>
                      <a:endParaRPr lang="en-US" sz="2000" b="0" i="0" u="none" strike="noStrike" dirty="0">
                        <a:solidFill>
                          <a:srgbClr val="000000"/>
                        </a:solidFill>
                        <a:latin typeface="Calibri"/>
                      </a:endParaRPr>
                    </a:p>
                  </a:txBody>
                  <a:tcPr marL="6350" marR="6350" marT="6350" marB="0" anchor="b"/>
                </a:tc>
              </a:tr>
              <a:tr h="285430">
                <a:tc>
                  <a:txBody>
                    <a:bodyPr/>
                    <a:lstStyle/>
                    <a:p>
                      <a:pPr algn="l" fontAlgn="b"/>
                      <a:r>
                        <a:rPr lang="en-US" sz="2000" b="0" i="0" u="none" strike="noStrike">
                          <a:solidFill>
                            <a:srgbClr val="000000"/>
                          </a:solidFill>
                          <a:latin typeface="Calibri"/>
                        </a:rPr>
                        <a:t>Avg. balls Faced</a:t>
                      </a:r>
                    </a:p>
                  </a:txBody>
                  <a:tcPr marL="6350" marR="6350" marT="6350" marB="0" anchor="b"/>
                </a:tc>
                <a:tc>
                  <a:txBody>
                    <a:bodyPr/>
                    <a:lstStyle/>
                    <a:p>
                      <a:pPr algn="l" fontAlgn="b"/>
                      <a:r>
                        <a:rPr lang="en-US" sz="2000" b="0" i="0" u="none" strike="noStrike">
                          <a:solidFill>
                            <a:srgbClr val="000000"/>
                          </a:solidFill>
                          <a:latin typeface="Calibri"/>
                        </a:rPr>
                        <a:t>Average balls faced by the batter in an innings</a:t>
                      </a:r>
                    </a:p>
                  </a:txBody>
                  <a:tcPr marL="6350" marR="6350" marT="6350" marB="0" anchor="b"/>
                </a:tc>
                <a:tc>
                  <a:txBody>
                    <a:bodyPr/>
                    <a:lstStyle/>
                    <a:p>
                      <a:pPr algn="l" fontAlgn="b"/>
                      <a:r>
                        <a:rPr lang="en-US" sz="2000" b="0" i="0" u="none" strike="noStrike">
                          <a:solidFill>
                            <a:srgbClr val="000000"/>
                          </a:solidFill>
                          <a:latin typeface="Calibri"/>
                        </a:rPr>
                        <a:t>AVERAGE(fact_batting_summary[balls])</a:t>
                      </a:r>
                    </a:p>
                  </a:txBody>
                  <a:tcPr marL="6350" marR="6350" marT="6350" marB="0" anchor="b"/>
                </a:tc>
                <a:tc>
                  <a:txBody>
                    <a:bodyPr/>
                    <a:lstStyle/>
                    <a:p>
                      <a:pPr algn="l" fontAlgn="b"/>
                      <a:r>
                        <a:rPr lang="en-US" sz="2000" b="0" i="0" u="none" strike="noStrike" dirty="0" err="1">
                          <a:solidFill>
                            <a:srgbClr val="000000"/>
                          </a:solidFill>
                          <a:latin typeface="Calibri"/>
                        </a:rPr>
                        <a:t>fact_batting_summary</a:t>
                      </a:r>
                      <a:endParaRPr lang="en-US" sz="2000" b="0" i="0" u="none" strike="noStrike" dirty="0">
                        <a:solidFill>
                          <a:srgbClr val="000000"/>
                        </a:solidFill>
                        <a:latin typeface="Calibri"/>
                      </a:endParaRPr>
                    </a:p>
                  </a:txBody>
                  <a:tcPr marL="6350" marR="6350" marT="6350" marB="0" anchor="b"/>
                </a:tc>
              </a:tr>
              <a:tr h="442919">
                <a:tc>
                  <a:txBody>
                    <a:bodyPr/>
                    <a:lstStyle/>
                    <a:p>
                      <a:pPr algn="l" fontAlgn="b"/>
                      <a:r>
                        <a:rPr lang="en-US" sz="2000" b="0" i="0" u="none" strike="noStrike" dirty="0">
                          <a:solidFill>
                            <a:srgbClr val="000000"/>
                          </a:solidFill>
                          <a:latin typeface="Calibri"/>
                        </a:rPr>
                        <a:t>Wickets</a:t>
                      </a:r>
                    </a:p>
                  </a:txBody>
                  <a:tcPr marL="6350" marR="6350" marT="6350" marB="0" anchor="b"/>
                </a:tc>
                <a:tc>
                  <a:txBody>
                    <a:bodyPr/>
                    <a:lstStyle/>
                    <a:p>
                      <a:pPr algn="l" fontAlgn="b"/>
                      <a:r>
                        <a:rPr lang="en-US" sz="2000" b="0" i="0" u="none" strike="noStrike">
                          <a:solidFill>
                            <a:srgbClr val="000000"/>
                          </a:solidFill>
                          <a:latin typeface="Calibri"/>
                        </a:rPr>
                        <a:t>Total number of wickets taken by a bowler</a:t>
                      </a:r>
                    </a:p>
                  </a:txBody>
                  <a:tcPr marL="6350" marR="6350" marT="6350" marB="0" anchor="b"/>
                </a:tc>
                <a:tc>
                  <a:txBody>
                    <a:bodyPr/>
                    <a:lstStyle/>
                    <a:p>
                      <a:pPr algn="l" fontAlgn="b"/>
                      <a:r>
                        <a:rPr lang="en-US" sz="2000" b="0" i="0" u="none" strike="noStrike">
                          <a:solidFill>
                            <a:srgbClr val="000000"/>
                          </a:solidFill>
                          <a:latin typeface="Calibri"/>
                        </a:rPr>
                        <a:t>wickets = </a:t>
                      </a:r>
                      <a:r>
                        <a:rPr lang="en-US" sz="1400" b="0" i="0" u="none" strike="noStrike">
                          <a:solidFill>
                            <a:srgbClr val="3165BB"/>
                          </a:solidFill>
                          <a:latin typeface="Consolas"/>
                        </a:rPr>
                        <a:t>SUM</a:t>
                      </a:r>
                      <a:r>
                        <a:rPr lang="en-US" sz="1400" b="0" i="0" u="none" strike="noStrike">
                          <a:solidFill>
                            <a:srgbClr val="000000"/>
                          </a:solidFill>
                          <a:latin typeface="Consolas"/>
                        </a:rPr>
                        <a:t>(</a:t>
                      </a:r>
                      <a:r>
                        <a:rPr lang="en-US" sz="1400" b="0" i="0" u="none" strike="noStrike">
                          <a:solidFill>
                            <a:srgbClr val="001080"/>
                          </a:solidFill>
                          <a:latin typeface="Consolas"/>
                        </a:rPr>
                        <a:t>fact_bowling_summary[wickets]</a:t>
                      </a:r>
                      <a:r>
                        <a:rPr lang="en-US" sz="1400" b="0" i="0" u="none" strike="noStrike">
                          <a:solidFill>
                            <a:srgbClr val="000000"/>
                          </a:solidFill>
                          <a:latin typeface="Consolas"/>
                        </a:rPr>
                        <a:t>)</a:t>
                      </a:r>
                      <a:endParaRPr lang="en-US" sz="2000" b="0" i="0" u="none" strike="noStrike">
                        <a:solidFill>
                          <a:srgbClr val="000000"/>
                        </a:solidFill>
                        <a:latin typeface="Calibri"/>
                      </a:endParaRPr>
                    </a:p>
                  </a:txBody>
                  <a:tcPr marL="6350" marR="6350" marT="6350" marB="0" anchor="b"/>
                </a:tc>
                <a:tc>
                  <a:txBody>
                    <a:bodyPr/>
                    <a:lstStyle/>
                    <a:p>
                      <a:pPr algn="l" fontAlgn="b"/>
                      <a:r>
                        <a:rPr lang="en-US" sz="2000" b="0" i="0" u="none" strike="noStrike" dirty="0" err="1">
                          <a:solidFill>
                            <a:srgbClr val="000000"/>
                          </a:solidFill>
                          <a:latin typeface="Calibri"/>
                        </a:rPr>
                        <a:t>fact_bowling_summary</a:t>
                      </a:r>
                      <a:endParaRPr lang="en-US" sz="2000" b="0" i="0" u="none" strike="noStrike" dirty="0">
                        <a:solidFill>
                          <a:srgbClr val="000000"/>
                        </a:solidFill>
                        <a:latin typeface="Calibri"/>
                      </a:endParaRPr>
                    </a:p>
                  </a:txBody>
                  <a:tcPr marL="6350" marR="6350" marT="6350" marB="0" anchor="b"/>
                </a:tc>
              </a:tr>
              <a:tr h="565035">
                <a:tc>
                  <a:txBody>
                    <a:bodyPr/>
                    <a:lstStyle/>
                    <a:p>
                      <a:pPr algn="l" fontAlgn="b"/>
                      <a:r>
                        <a:rPr lang="en-US" sz="2000" b="0" i="0" u="none" strike="noStrike">
                          <a:solidFill>
                            <a:srgbClr val="000000"/>
                          </a:solidFill>
                          <a:latin typeface="Calibri"/>
                        </a:rPr>
                        <a:t>balls Bowled</a:t>
                      </a:r>
                    </a:p>
                  </a:txBody>
                  <a:tcPr marL="6350" marR="6350" marT="6350" marB="0" anchor="b"/>
                </a:tc>
                <a:tc>
                  <a:txBody>
                    <a:bodyPr/>
                    <a:lstStyle/>
                    <a:p>
                      <a:pPr algn="l" fontAlgn="b"/>
                      <a:r>
                        <a:rPr lang="en-US" sz="2000" b="0" i="0" u="none" strike="noStrike">
                          <a:solidFill>
                            <a:srgbClr val="000000"/>
                          </a:solidFill>
                          <a:latin typeface="Calibri"/>
                        </a:rPr>
                        <a:t>Total number of balls bowled by the bowler</a:t>
                      </a:r>
                    </a:p>
                  </a:txBody>
                  <a:tcPr marL="6350" marR="6350" marT="6350" marB="0" anchor="b"/>
                </a:tc>
                <a:tc>
                  <a:txBody>
                    <a:bodyPr/>
                    <a:lstStyle/>
                    <a:p>
                      <a:pPr algn="l" fontAlgn="b"/>
                      <a:r>
                        <a:rPr lang="en-US" sz="2000" b="0" i="0" u="none" strike="noStrike">
                          <a:solidFill>
                            <a:srgbClr val="000000"/>
                          </a:solidFill>
                          <a:latin typeface="Calibri"/>
                        </a:rPr>
                        <a:t>balls Bowled = SUM(fact_bowling_summary[balls])</a:t>
                      </a:r>
                    </a:p>
                  </a:txBody>
                  <a:tcPr marL="6350" marR="6350" marT="6350" marB="0" anchor="b"/>
                </a:tc>
                <a:tc>
                  <a:txBody>
                    <a:bodyPr/>
                    <a:lstStyle/>
                    <a:p>
                      <a:pPr algn="l" fontAlgn="b"/>
                      <a:r>
                        <a:rPr lang="en-US" sz="2000" b="0" i="0" u="none" strike="noStrike" dirty="0" err="1">
                          <a:solidFill>
                            <a:srgbClr val="000000"/>
                          </a:solidFill>
                          <a:latin typeface="Calibri"/>
                        </a:rPr>
                        <a:t>fact_bowling_summary</a:t>
                      </a:r>
                      <a:endParaRPr lang="en-US" sz="2000" b="0" i="0" u="none" strike="noStrike" dirty="0">
                        <a:solidFill>
                          <a:srgbClr val="000000"/>
                        </a:solidFill>
                        <a:latin typeface="Calibri"/>
                      </a:endParaRPr>
                    </a:p>
                  </a:txBody>
                  <a:tcPr marL="6350" marR="6350" marT="6350" marB="0" anchor="b"/>
                </a:tc>
              </a:tr>
              <a:tr h="442919">
                <a:tc>
                  <a:txBody>
                    <a:bodyPr/>
                    <a:lstStyle/>
                    <a:p>
                      <a:pPr algn="l" fontAlgn="b"/>
                      <a:r>
                        <a:rPr lang="en-US" sz="2000" b="0" i="0" u="none" strike="noStrike">
                          <a:solidFill>
                            <a:srgbClr val="000000"/>
                          </a:solidFill>
                          <a:latin typeface="Calibri"/>
                        </a:rPr>
                        <a:t>Runs Conceded</a:t>
                      </a:r>
                    </a:p>
                  </a:txBody>
                  <a:tcPr marL="6350" marR="6350" marT="6350" marB="0" anchor="b"/>
                </a:tc>
                <a:tc>
                  <a:txBody>
                    <a:bodyPr/>
                    <a:lstStyle/>
                    <a:p>
                      <a:pPr algn="l" fontAlgn="b"/>
                      <a:r>
                        <a:rPr lang="en-US" sz="2000" b="0" i="0" u="none" strike="noStrike">
                          <a:solidFill>
                            <a:srgbClr val="000000"/>
                          </a:solidFill>
                          <a:latin typeface="Calibri"/>
                        </a:rPr>
                        <a:t>Total runs conceded by the bowler</a:t>
                      </a:r>
                    </a:p>
                  </a:txBody>
                  <a:tcPr marL="6350" marR="6350" marT="6350" marB="0" anchor="b"/>
                </a:tc>
                <a:tc>
                  <a:txBody>
                    <a:bodyPr/>
                    <a:lstStyle/>
                    <a:p>
                      <a:pPr algn="l" fontAlgn="b"/>
                      <a:r>
                        <a:rPr lang="en-US" sz="2000" b="0" i="0" u="none" strike="noStrike">
                          <a:solidFill>
                            <a:srgbClr val="000000"/>
                          </a:solidFill>
                          <a:latin typeface="Calibri"/>
                        </a:rPr>
                        <a:t>Runs Conceded = </a:t>
                      </a:r>
                      <a:r>
                        <a:rPr lang="en-US" sz="1400" b="0" i="0" u="none" strike="noStrike">
                          <a:solidFill>
                            <a:srgbClr val="3165BB"/>
                          </a:solidFill>
                          <a:latin typeface="Consolas"/>
                        </a:rPr>
                        <a:t>SUM</a:t>
                      </a:r>
                      <a:r>
                        <a:rPr lang="en-US" sz="1400" b="0" i="0" u="none" strike="noStrike">
                          <a:solidFill>
                            <a:srgbClr val="000000"/>
                          </a:solidFill>
                          <a:latin typeface="Consolas"/>
                        </a:rPr>
                        <a:t>(</a:t>
                      </a:r>
                      <a:r>
                        <a:rPr lang="en-US" sz="1400" b="0" i="0" u="none" strike="noStrike">
                          <a:solidFill>
                            <a:srgbClr val="001080"/>
                          </a:solidFill>
                          <a:latin typeface="Consolas"/>
                        </a:rPr>
                        <a:t>fact_bowling_summary[runs]</a:t>
                      </a:r>
                      <a:r>
                        <a:rPr lang="en-US" sz="1400" b="0" i="0" u="none" strike="noStrike">
                          <a:solidFill>
                            <a:srgbClr val="000000"/>
                          </a:solidFill>
                          <a:latin typeface="Consolas"/>
                        </a:rPr>
                        <a:t>)</a:t>
                      </a:r>
                      <a:endParaRPr lang="en-US" sz="2000" b="0" i="0" u="none" strike="noStrike">
                        <a:solidFill>
                          <a:srgbClr val="000000"/>
                        </a:solidFill>
                        <a:latin typeface="Calibri"/>
                      </a:endParaRPr>
                    </a:p>
                  </a:txBody>
                  <a:tcPr marL="6350" marR="6350" marT="6350" marB="0" anchor="b"/>
                </a:tc>
                <a:tc>
                  <a:txBody>
                    <a:bodyPr/>
                    <a:lstStyle/>
                    <a:p>
                      <a:pPr algn="l" fontAlgn="b"/>
                      <a:r>
                        <a:rPr lang="en-US" sz="2000" b="0" i="0" u="none" strike="noStrike" dirty="0" err="1">
                          <a:solidFill>
                            <a:srgbClr val="000000"/>
                          </a:solidFill>
                          <a:latin typeface="Calibri"/>
                        </a:rPr>
                        <a:t>fact_bowling_summary</a:t>
                      </a:r>
                      <a:endParaRPr lang="en-US" sz="2000" b="0" i="0" u="none" strike="noStrike" dirty="0">
                        <a:solidFill>
                          <a:srgbClr val="000000"/>
                        </a:solidFill>
                        <a:latin typeface="Calibri"/>
                      </a:endParaRPr>
                    </a:p>
                  </a:txBody>
                  <a:tcPr marL="6350" marR="6350" marT="6350" marB="0" anchor="b"/>
                </a:tc>
              </a:tr>
              <a:tr h="565035">
                <a:tc>
                  <a:txBody>
                    <a:bodyPr/>
                    <a:lstStyle/>
                    <a:p>
                      <a:pPr algn="l" fontAlgn="b"/>
                      <a:r>
                        <a:rPr lang="en-US" sz="2000" b="1" i="0" u="none" strike="noStrike">
                          <a:solidFill>
                            <a:srgbClr val="000000"/>
                          </a:solidFill>
                          <a:latin typeface="Calibri"/>
                        </a:rPr>
                        <a:t>Bowling Economy</a:t>
                      </a:r>
                    </a:p>
                  </a:txBody>
                  <a:tcPr marL="6350" marR="6350" marT="6350" marB="0" anchor="b"/>
                </a:tc>
                <a:tc>
                  <a:txBody>
                    <a:bodyPr/>
                    <a:lstStyle/>
                    <a:p>
                      <a:pPr algn="l" fontAlgn="b"/>
                      <a:r>
                        <a:rPr lang="en-US" sz="2000" b="1" i="0" u="none" strike="noStrike">
                          <a:solidFill>
                            <a:srgbClr val="000000"/>
                          </a:solidFill>
                          <a:latin typeface="Calibri"/>
                        </a:rPr>
                        <a:t>Average number of runs conceded in an over</a:t>
                      </a:r>
                    </a:p>
                  </a:txBody>
                  <a:tcPr marL="6350" marR="6350" marT="6350" marB="0" anchor="b"/>
                </a:tc>
                <a:tc>
                  <a:txBody>
                    <a:bodyPr/>
                    <a:lstStyle/>
                    <a:p>
                      <a:pPr algn="l" fontAlgn="b"/>
                      <a:r>
                        <a:rPr lang="en-US" sz="2000" b="1" i="0" u="none" strike="noStrike">
                          <a:solidFill>
                            <a:srgbClr val="000000"/>
                          </a:solidFill>
                          <a:latin typeface="Calibri"/>
                        </a:rPr>
                        <a:t>Economy = DIVIDE( [Runs Conceded], ([balls Bowled]/6),0)</a:t>
                      </a:r>
                    </a:p>
                  </a:txBody>
                  <a:tcPr marL="6350" marR="6350" marT="6350" marB="0" anchor="b"/>
                </a:tc>
                <a:tc>
                  <a:txBody>
                    <a:bodyPr/>
                    <a:lstStyle/>
                    <a:p>
                      <a:pPr algn="l" fontAlgn="b"/>
                      <a:r>
                        <a:rPr lang="en-US" sz="2000" b="1" i="0" u="none" strike="noStrike" dirty="0" err="1">
                          <a:solidFill>
                            <a:srgbClr val="000000"/>
                          </a:solidFill>
                          <a:latin typeface="Calibri"/>
                        </a:rPr>
                        <a:t>fact_bowling_summary</a:t>
                      </a:r>
                      <a:endParaRPr lang="en-US" sz="2000" b="1" i="0" u="none" strike="noStrike" dirty="0">
                        <a:solidFill>
                          <a:srgbClr val="000000"/>
                        </a:solidFill>
                        <a:latin typeface="Calibri"/>
                      </a:endParaRPr>
                    </a:p>
                  </a:txBody>
                  <a:tcPr marL="6350" marR="6350" marT="6350" marB="0" anchor="b"/>
                </a:tc>
              </a:tr>
              <a:tr h="565035">
                <a:tc>
                  <a:txBody>
                    <a:bodyPr/>
                    <a:lstStyle/>
                    <a:p>
                      <a:pPr algn="l" fontAlgn="b"/>
                      <a:r>
                        <a:rPr lang="en-US" sz="2000" b="1" i="0" u="none" strike="noStrike">
                          <a:solidFill>
                            <a:srgbClr val="000000"/>
                          </a:solidFill>
                          <a:latin typeface="Calibri"/>
                        </a:rPr>
                        <a:t>Bowling Strike Rate</a:t>
                      </a:r>
                    </a:p>
                  </a:txBody>
                  <a:tcPr marL="6350" marR="6350" marT="6350" marB="0" anchor="b"/>
                </a:tc>
                <a:tc>
                  <a:txBody>
                    <a:bodyPr/>
                    <a:lstStyle/>
                    <a:p>
                      <a:pPr algn="l" fontAlgn="b"/>
                      <a:r>
                        <a:rPr lang="en-US" sz="2000" b="1" i="0" u="none" strike="noStrike" dirty="0">
                          <a:solidFill>
                            <a:srgbClr val="000000"/>
                          </a:solidFill>
                          <a:latin typeface="Calibri"/>
                        </a:rPr>
                        <a:t>Number of balls bowled per wicket</a:t>
                      </a:r>
                    </a:p>
                  </a:txBody>
                  <a:tcPr marL="6350" marR="6350" marT="6350" marB="0" anchor="b"/>
                </a:tc>
                <a:tc>
                  <a:txBody>
                    <a:bodyPr/>
                    <a:lstStyle/>
                    <a:p>
                      <a:pPr algn="l" fontAlgn="b"/>
                      <a:r>
                        <a:rPr lang="en-US" sz="2000" b="1" i="0" u="none" strike="noStrike">
                          <a:solidFill>
                            <a:srgbClr val="000000"/>
                          </a:solidFill>
                          <a:latin typeface="Calibri"/>
                        </a:rPr>
                        <a:t>Bowling Strike Rate = DIVIDE([balls Bowled], [wickets],0)</a:t>
                      </a:r>
                    </a:p>
                  </a:txBody>
                  <a:tcPr marL="6350" marR="6350" marT="6350" marB="0" anchor="b"/>
                </a:tc>
                <a:tc>
                  <a:txBody>
                    <a:bodyPr/>
                    <a:lstStyle/>
                    <a:p>
                      <a:pPr algn="l" fontAlgn="b"/>
                      <a:r>
                        <a:rPr lang="en-US" sz="2000" b="1" i="0" u="none" strike="noStrike" dirty="0" err="1">
                          <a:solidFill>
                            <a:srgbClr val="000000"/>
                          </a:solidFill>
                          <a:latin typeface="Calibri"/>
                        </a:rPr>
                        <a:t>fact_bowling_summary</a:t>
                      </a:r>
                      <a:endParaRPr lang="en-US" sz="2000" b="1" i="0" u="none" strike="noStrike" dirty="0">
                        <a:solidFill>
                          <a:srgbClr val="000000"/>
                        </a:solidFill>
                        <a:latin typeface="Calibri"/>
                      </a:endParaRPr>
                    </a:p>
                  </a:txBody>
                  <a:tcPr marL="6350" marR="6350" marT="6350" marB="0" anchor="b"/>
                </a:tc>
              </a:tr>
              <a:tr h="481154">
                <a:tc>
                  <a:txBody>
                    <a:bodyPr/>
                    <a:lstStyle/>
                    <a:p>
                      <a:pPr algn="l" fontAlgn="b"/>
                      <a:r>
                        <a:rPr lang="en-US" sz="2000" b="0" i="0" u="none" strike="noStrike">
                          <a:solidFill>
                            <a:srgbClr val="000000"/>
                          </a:solidFill>
                          <a:latin typeface="Calibri"/>
                        </a:rPr>
                        <a:t>Bowling Average</a:t>
                      </a:r>
                    </a:p>
                  </a:txBody>
                  <a:tcPr marL="6350" marR="6350" marT="6350" marB="0" anchor="b"/>
                </a:tc>
                <a:tc>
                  <a:txBody>
                    <a:bodyPr/>
                    <a:lstStyle/>
                    <a:p>
                      <a:pPr algn="l" fontAlgn="b"/>
                      <a:r>
                        <a:rPr lang="en-US" sz="2000" b="0" i="0" u="none" strike="noStrike">
                          <a:solidFill>
                            <a:srgbClr val="000000"/>
                          </a:solidFill>
                          <a:latin typeface="Calibri"/>
                        </a:rPr>
                        <a:t>No. of runs allowed per wicket  </a:t>
                      </a:r>
                    </a:p>
                  </a:txBody>
                  <a:tcPr marL="6350" marR="6350" marT="6350" marB="0" anchor="b"/>
                </a:tc>
                <a:tc>
                  <a:txBody>
                    <a:bodyPr/>
                    <a:lstStyle/>
                    <a:p>
                      <a:pPr algn="l" fontAlgn="b"/>
                      <a:r>
                        <a:rPr lang="en-US" sz="2000" b="0" i="0" u="none" strike="noStrike" dirty="0">
                          <a:solidFill>
                            <a:srgbClr val="000000"/>
                          </a:solidFill>
                          <a:latin typeface="Calibri"/>
                        </a:rPr>
                        <a:t>Bowling Average = </a:t>
                      </a:r>
                      <a:r>
                        <a:rPr lang="en-US" sz="1400" b="0" i="0" u="none" strike="noStrike" dirty="0">
                          <a:solidFill>
                            <a:srgbClr val="3165BB"/>
                          </a:solidFill>
                          <a:latin typeface="Consolas"/>
                        </a:rPr>
                        <a:t>DIVIDE</a:t>
                      </a:r>
                      <a:r>
                        <a:rPr lang="en-US" sz="1400" b="0" i="0" u="none" strike="noStrike" dirty="0">
                          <a:solidFill>
                            <a:srgbClr val="000000"/>
                          </a:solidFill>
                          <a:latin typeface="Consolas"/>
                        </a:rPr>
                        <a:t>(</a:t>
                      </a:r>
                      <a:r>
                        <a:rPr lang="en-US" sz="1400" b="0" i="0" u="none" strike="noStrike" dirty="0">
                          <a:solidFill>
                            <a:srgbClr val="68349C"/>
                          </a:solidFill>
                          <a:latin typeface="Consolas"/>
                        </a:rPr>
                        <a:t>[Runs Conceded]</a:t>
                      </a:r>
                      <a:r>
                        <a:rPr lang="en-US" sz="1400" b="0" i="0" u="none" strike="noStrike" dirty="0">
                          <a:solidFill>
                            <a:srgbClr val="000000"/>
                          </a:solidFill>
                          <a:latin typeface="Consolas"/>
                        </a:rPr>
                        <a:t>,</a:t>
                      </a:r>
                      <a:r>
                        <a:rPr lang="en-US" sz="1400" b="0" i="0" u="none" strike="noStrike" dirty="0">
                          <a:solidFill>
                            <a:srgbClr val="68349C"/>
                          </a:solidFill>
                          <a:latin typeface="Consolas"/>
                        </a:rPr>
                        <a:t>[wickets]</a:t>
                      </a:r>
                      <a:r>
                        <a:rPr lang="en-US" sz="1400" b="0" i="0" u="none" strike="noStrike" dirty="0">
                          <a:solidFill>
                            <a:srgbClr val="000000"/>
                          </a:solidFill>
                          <a:latin typeface="Consolas"/>
                        </a:rPr>
                        <a:t>,</a:t>
                      </a:r>
                      <a:r>
                        <a:rPr lang="en-US" sz="1400" b="0" i="0" u="none" strike="noStrike" dirty="0">
                          <a:solidFill>
                            <a:srgbClr val="09885A"/>
                          </a:solidFill>
                          <a:latin typeface="Consolas"/>
                        </a:rPr>
                        <a:t>0</a:t>
                      </a:r>
                      <a:r>
                        <a:rPr lang="en-US" sz="1400" b="0" i="0" u="none" strike="noStrike" dirty="0">
                          <a:solidFill>
                            <a:srgbClr val="000000"/>
                          </a:solidFill>
                          <a:latin typeface="Consolas"/>
                        </a:rPr>
                        <a:t>)</a:t>
                      </a:r>
                      <a:endParaRPr lang="en-US" sz="2000" b="0" i="0" u="none" strike="noStrike" dirty="0">
                        <a:solidFill>
                          <a:srgbClr val="000000"/>
                        </a:solidFill>
                        <a:latin typeface="Calibri"/>
                      </a:endParaRPr>
                    </a:p>
                  </a:txBody>
                  <a:tcPr marL="6350" marR="6350" marT="6350" marB="0" anchor="b"/>
                </a:tc>
                <a:tc>
                  <a:txBody>
                    <a:bodyPr/>
                    <a:lstStyle/>
                    <a:p>
                      <a:pPr algn="l" fontAlgn="b"/>
                      <a:r>
                        <a:rPr lang="en-US" sz="2000" b="0" i="0" u="none" strike="noStrike" dirty="0" err="1">
                          <a:solidFill>
                            <a:srgbClr val="000000"/>
                          </a:solidFill>
                          <a:latin typeface="Calibri"/>
                        </a:rPr>
                        <a:t>fact_bowling_summary</a:t>
                      </a:r>
                      <a:endParaRPr lang="en-US" sz="2000" b="0" i="0" u="none" strike="noStrike" dirty="0">
                        <a:solidFill>
                          <a:srgbClr val="000000"/>
                        </a:solidFill>
                        <a:latin typeface="Calibri"/>
                      </a:endParaRPr>
                    </a:p>
                  </a:txBody>
                  <a:tcPr marL="6350" marR="6350" marT="6350" marB="0" anchor="b"/>
                </a:tc>
              </a:tr>
              <a:tr h="565035">
                <a:tc>
                  <a:txBody>
                    <a:bodyPr/>
                    <a:lstStyle/>
                    <a:p>
                      <a:pPr algn="l" fontAlgn="b"/>
                      <a:r>
                        <a:rPr lang="en-US" sz="2000" b="0" i="0" u="none" strike="noStrike" dirty="0">
                          <a:solidFill>
                            <a:srgbClr val="000000"/>
                          </a:solidFill>
                          <a:latin typeface="Calibri"/>
                        </a:rPr>
                        <a:t>Total Innings Bowled</a:t>
                      </a:r>
                    </a:p>
                  </a:txBody>
                  <a:tcPr marL="6350" marR="6350" marT="6350" marB="0" anchor="b"/>
                </a:tc>
                <a:tc>
                  <a:txBody>
                    <a:bodyPr/>
                    <a:lstStyle/>
                    <a:p>
                      <a:pPr algn="l" fontAlgn="b"/>
                      <a:r>
                        <a:rPr lang="en-US" sz="2000" b="0" i="0" u="none" strike="noStrike">
                          <a:solidFill>
                            <a:srgbClr val="000000"/>
                          </a:solidFill>
                          <a:latin typeface="Calibri"/>
                        </a:rPr>
                        <a:t>Total number of innings bowled by a bowler</a:t>
                      </a:r>
                    </a:p>
                  </a:txBody>
                  <a:tcPr marL="6350" marR="6350" marT="6350" marB="0" anchor="b"/>
                </a:tc>
                <a:tc>
                  <a:txBody>
                    <a:bodyPr/>
                    <a:lstStyle/>
                    <a:p>
                      <a:pPr algn="l" fontAlgn="b"/>
                      <a:r>
                        <a:rPr lang="en-US" sz="2000" b="0" i="0" u="none" strike="noStrike">
                          <a:solidFill>
                            <a:srgbClr val="000000"/>
                          </a:solidFill>
                          <a:latin typeface="Calibri"/>
                        </a:rPr>
                        <a:t>Total Innings Bowled = </a:t>
                      </a:r>
                      <a:r>
                        <a:rPr lang="en-US" sz="1400" b="0" i="0" u="none" strike="noStrike">
                          <a:solidFill>
                            <a:srgbClr val="3165BB"/>
                          </a:solidFill>
                          <a:latin typeface="Consolas"/>
                        </a:rPr>
                        <a:t>DISTINCTCOUNT</a:t>
                      </a:r>
                      <a:r>
                        <a:rPr lang="en-US" sz="1400" b="0" i="0" u="none" strike="noStrike">
                          <a:solidFill>
                            <a:srgbClr val="000000"/>
                          </a:solidFill>
                          <a:latin typeface="Consolas"/>
                        </a:rPr>
                        <a:t>(</a:t>
                      </a:r>
                      <a:r>
                        <a:rPr lang="en-US" sz="1400" b="0" i="0" u="none" strike="noStrike">
                          <a:solidFill>
                            <a:srgbClr val="001080"/>
                          </a:solidFill>
                          <a:latin typeface="Consolas"/>
                        </a:rPr>
                        <a:t>fact_bowling_summary[match_id]</a:t>
                      </a:r>
                      <a:r>
                        <a:rPr lang="en-US" sz="1400" b="0" i="0" u="none" strike="noStrike">
                          <a:solidFill>
                            <a:srgbClr val="000000"/>
                          </a:solidFill>
                          <a:latin typeface="Consolas"/>
                        </a:rPr>
                        <a:t>)</a:t>
                      </a:r>
                      <a:endParaRPr lang="en-US" sz="2000" b="0" i="0" u="none" strike="noStrike">
                        <a:solidFill>
                          <a:srgbClr val="000000"/>
                        </a:solidFill>
                        <a:latin typeface="Calibri"/>
                      </a:endParaRPr>
                    </a:p>
                  </a:txBody>
                  <a:tcPr marL="6350" marR="6350" marT="6350" marB="0" anchor="b"/>
                </a:tc>
                <a:tc>
                  <a:txBody>
                    <a:bodyPr/>
                    <a:lstStyle/>
                    <a:p>
                      <a:pPr algn="l" fontAlgn="b"/>
                      <a:r>
                        <a:rPr lang="en-US" sz="2000" b="0" i="0" u="none" strike="noStrike" dirty="0" err="1">
                          <a:solidFill>
                            <a:srgbClr val="000000"/>
                          </a:solidFill>
                          <a:latin typeface="Calibri"/>
                        </a:rPr>
                        <a:t>fact_bowling_summary</a:t>
                      </a:r>
                      <a:endParaRPr lang="en-US" sz="2000" b="0" i="0" u="none" strike="noStrike" dirty="0">
                        <a:solidFill>
                          <a:srgbClr val="000000"/>
                        </a:solidFill>
                        <a:latin typeface="Calibri"/>
                      </a:endParaRPr>
                    </a:p>
                  </a:txBody>
                  <a:tcPr marL="6350" marR="6350" marT="6350" marB="0" anchor="b"/>
                </a:tc>
              </a:tr>
              <a:tr h="844641">
                <a:tc>
                  <a:txBody>
                    <a:bodyPr/>
                    <a:lstStyle/>
                    <a:p>
                      <a:pPr algn="l" fontAlgn="b"/>
                      <a:r>
                        <a:rPr lang="en-US" sz="2000" b="0" i="0" u="none" strike="noStrike" dirty="0">
                          <a:solidFill>
                            <a:srgbClr val="000000"/>
                          </a:solidFill>
                          <a:latin typeface="Calibri"/>
                        </a:rPr>
                        <a:t>Dot Ball %</a:t>
                      </a:r>
                    </a:p>
                  </a:txBody>
                  <a:tcPr marL="6350" marR="6350" marT="6350" marB="0" anchor="b"/>
                </a:tc>
                <a:tc>
                  <a:txBody>
                    <a:bodyPr/>
                    <a:lstStyle/>
                    <a:p>
                      <a:pPr algn="l" fontAlgn="b"/>
                      <a:r>
                        <a:rPr lang="en-US" sz="2000" b="0" i="0" u="none" strike="noStrike" dirty="0">
                          <a:solidFill>
                            <a:srgbClr val="000000"/>
                          </a:solidFill>
                          <a:latin typeface="Calibri"/>
                        </a:rPr>
                        <a:t>Percentage of dot balls bowled by a bowler</a:t>
                      </a:r>
                    </a:p>
                  </a:txBody>
                  <a:tcPr marL="6350" marR="6350" marT="6350" marB="0" anchor="b"/>
                </a:tc>
                <a:tc>
                  <a:txBody>
                    <a:bodyPr/>
                    <a:lstStyle/>
                    <a:p>
                      <a:pPr algn="l" fontAlgn="b"/>
                      <a:r>
                        <a:rPr lang="en-US" sz="2000" b="0" i="0" u="none" strike="noStrike" dirty="0">
                          <a:solidFill>
                            <a:srgbClr val="000000"/>
                          </a:solidFill>
                          <a:latin typeface="Calibri"/>
                        </a:rPr>
                        <a:t>Dot ball % = DIVIDE(SUM(</a:t>
                      </a:r>
                      <a:r>
                        <a:rPr lang="en-US" sz="2000" b="0" i="0" u="none" strike="noStrike" dirty="0" err="1">
                          <a:solidFill>
                            <a:srgbClr val="000000"/>
                          </a:solidFill>
                          <a:latin typeface="Calibri"/>
                        </a:rPr>
                        <a:t>fact_bowling_summary</a:t>
                      </a:r>
                      <a:r>
                        <a:rPr lang="en-US" sz="2000" b="0" i="0" u="none" strike="noStrike" dirty="0">
                          <a:solidFill>
                            <a:srgbClr val="000000"/>
                          </a:solidFill>
                          <a:latin typeface="Calibri"/>
                        </a:rPr>
                        <a:t>[zeros]), SUM(</a:t>
                      </a:r>
                      <a:r>
                        <a:rPr lang="en-US" sz="2000" b="0" i="0" u="none" strike="noStrike" dirty="0" err="1">
                          <a:solidFill>
                            <a:srgbClr val="000000"/>
                          </a:solidFill>
                          <a:latin typeface="Calibri"/>
                        </a:rPr>
                        <a:t>fact_bowling_summary</a:t>
                      </a:r>
                      <a:r>
                        <a:rPr lang="en-US" sz="2000" b="0" i="0" u="none" strike="noStrike" dirty="0">
                          <a:solidFill>
                            <a:srgbClr val="000000"/>
                          </a:solidFill>
                          <a:latin typeface="Calibri"/>
                        </a:rPr>
                        <a:t>[balls]),0)</a:t>
                      </a:r>
                    </a:p>
                  </a:txBody>
                  <a:tcPr marL="6350" marR="6350" marT="6350" marB="0" anchor="b"/>
                </a:tc>
                <a:tc>
                  <a:txBody>
                    <a:bodyPr/>
                    <a:lstStyle/>
                    <a:p>
                      <a:pPr algn="l" fontAlgn="b"/>
                      <a:r>
                        <a:rPr lang="en-US" sz="2000" b="0" i="0" u="none" strike="noStrike" dirty="0" err="1">
                          <a:solidFill>
                            <a:srgbClr val="000000"/>
                          </a:solidFill>
                          <a:latin typeface="Calibri"/>
                        </a:rPr>
                        <a:t>fact_bowling_summary</a:t>
                      </a:r>
                      <a:endParaRPr lang="en-US" sz="2000" b="0" i="0" u="none" strike="noStrike" dirty="0">
                        <a:solidFill>
                          <a:srgbClr val="000000"/>
                        </a:solidFill>
                        <a:latin typeface="Calibri"/>
                      </a:endParaRPr>
                    </a:p>
                  </a:txBody>
                  <a:tcPr marL="6350" marR="6350" marT="6350" marB="0" anchor="b"/>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4AAD">
                <a:alpha val="100000"/>
              </a:srgbClr>
            </a:gs>
            <a:gs pos="100000">
              <a:srgbClr val="CB6CE6">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572789" y="537527"/>
            <a:ext cx="9271199" cy="887095"/>
          </a:xfrm>
          <a:prstGeom prst="rect">
            <a:avLst/>
          </a:prstGeom>
        </p:spPr>
        <p:txBody>
          <a:bodyPr lIns="0" tIns="0" rIns="0" bIns="0" rtlCol="0" anchor="t">
            <a:spAutoFit/>
          </a:bodyPr>
          <a:lstStyle/>
          <a:p>
            <a:pPr algn="ctr">
              <a:lnSpc>
                <a:spcPts val="7279"/>
              </a:lnSpc>
            </a:pPr>
            <a:r>
              <a:rPr lang="en-US" sz="5199" b="1">
                <a:solidFill>
                  <a:srgbClr val="FFFFFF"/>
                </a:solidFill>
                <a:latin typeface="Canva Sans Bold"/>
                <a:ea typeface="Canva Sans Bold"/>
                <a:cs typeface="Canva Sans Bold"/>
                <a:sym typeface="Canva Sans Bold"/>
              </a:rPr>
              <a:t>Tools and Technologies used</a:t>
            </a:r>
          </a:p>
        </p:txBody>
      </p:sp>
      <p:sp>
        <p:nvSpPr>
          <p:cNvPr id="3" name="TextBox 3"/>
          <p:cNvSpPr txBox="1"/>
          <p:nvPr/>
        </p:nvSpPr>
        <p:spPr>
          <a:xfrm>
            <a:off x="572789" y="1744389"/>
            <a:ext cx="13876636" cy="7971103"/>
          </a:xfrm>
          <a:prstGeom prst="rect">
            <a:avLst/>
          </a:prstGeom>
        </p:spPr>
        <p:txBody>
          <a:bodyPr lIns="0" tIns="0" rIns="0" bIns="0" rtlCol="0" anchor="t">
            <a:spAutoFit/>
          </a:bodyPr>
          <a:lstStyle/>
          <a:p>
            <a:pPr marL="982791" lvl="1" indent="-491395" algn="l">
              <a:lnSpc>
                <a:spcPts val="6372"/>
              </a:lnSpc>
              <a:buFont typeface="Arial"/>
              <a:buChar char="•"/>
            </a:pPr>
            <a:r>
              <a:rPr lang="en-US" sz="4552">
                <a:solidFill>
                  <a:srgbClr val="FFFFFF"/>
                </a:solidFill>
                <a:latin typeface="Canva Sans"/>
                <a:ea typeface="Canva Sans"/>
                <a:cs typeface="Canva Sans"/>
                <a:sym typeface="Canva Sans"/>
              </a:rPr>
              <a:t>Use web scraping (through bright data) to scrap T20 cricket world cup data from espncricinfo website.</a:t>
            </a:r>
          </a:p>
          <a:p>
            <a:pPr algn="l">
              <a:lnSpc>
                <a:spcPts val="6372"/>
              </a:lnSpc>
            </a:pPr>
            <a:endParaRPr/>
          </a:p>
          <a:p>
            <a:pPr marL="982791" lvl="1" indent="-491395" algn="l">
              <a:lnSpc>
                <a:spcPts val="6372"/>
              </a:lnSpc>
              <a:buFont typeface="Arial"/>
              <a:buChar char="•"/>
            </a:pPr>
            <a:r>
              <a:rPr lang="en-US" sz="4552">
                <a:solidFill>
                  <a:srgbClr val="FFFFFF"/>
                </a:solidFill>
                <a:latin typeface="Canva Sans"/>
                <a:ea typeface="Canva Sans"/>
                <a:cs typeface="Canva Sans"/>
                <a:sym typeface="Canva Sans"/>
              </a:rPr>
              <a:t>Used Python, Pandas and Jupyter Notebook for data transformation and data cleaning.</a:t>
            </a:r>
          </a:p>
          <a:p>
            <a:pPr algn="ctr">
              <a:lnSpc>
                <a:spcPts val="6372"/>
              </a:lnSpc>
            </a:pPr>
            <a:endParaRPr/>
          </a:p>
          <a:p>
            <a:pPr marL="982791" lvl="1" indent="-491395" algn="l">
              <a:lnSpc>
                <a:spcPts val="6372"/>
              </a:lnSpc>
              <a:buFont typeface="Arial"/>
              <a:buChar char="•"/>
            </a:pPr>
            <a:r>
              <a:rPr lang="en-US" sz="4552">
                <a:solidFill>
                  <a:srgbClr val="FFFFFF"/>
                </a:solidFill>
                <a:latin typeface="Canva Sans"/>
                <a:ea typeface="Canva Sans"/>
                <a:cs typeface="Canva Sans"/>
                <a:sym typeface="Canva Sans"/>
              </a:rPr>
              <a:t>Used Matplotlib and Seaborn for data visualization and preliminary insights.</a:t>
            </a:r>
          </a:p>
          <a:p>
            <a:pPr algn="l">
              <a:lnSpc>
                <a:spcPts val="6372"/>
              </a:lnSpc>
            </a:pPr>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4AAD">
                <a:alpha val="100000"/>
              </a:srgbClr>
            </a:gs>
            <a:gs pos="100000">
              <a:srgbClr val="CB6CE6">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906651" y="2262487"/>
            <a:ext cx="13542774" cy="4424288"/>
          </a:xfrm>
          <a:prstGeom prst="rect">
            <a:avLst/>
          </a:prstGeom>
        </p:spPr>
        <p:txBody>
          <a:bodyPr lIns="0" tIns="0" rIns="0" bIns="0" rtlCol="0" anchor="t">
            <a:spAutoFit/>
          </a:bodyPr>
          <a:lstStyle/>
          <a:p>
            <a:pPr marL="1063357" lvl="1" indent="-531678" algn="just">
              <a:lnSpc>
                <a:spcPts val="6895"/>
              </a:lnSpc>
              <a:buFont typeface="Arial"/>
              <a:buChar char="•"/>
            </a:pPr>
            <a:r>
              <a:rPr lang="en-US" sz="4925" dirty="0">
                <a:solidFill>
                  <a:srgbClr val="FFFFFF"/>
                </a:solidFill>
                <a:latin typeface="Canva Sans"/>
                <a:ea typeface="Canva Sans"/>
                <a:cs typeface="Canva Sans"/>
                <a:sym typeface="Canva Sans"/>
              </a:rPr>
              <a:t>Used Flask to display the results of analysis  on web server.</a:t>
            </a:r>
          </a:p>
          <a:p>
            <a:pPr algn="just">
              <a:lnSpc>
                <a:spcPts val="6895"/>
              </a:lnSpc>
            </a:pPr>
            <a:endParaRPr/>
          </a:p>
          <a:p>
            <a:pPr marL="1063357" lvl="1" indent="-531678" algn="l">
              <a:lnSpc>
                <a:spcPts val="6895"/>
              </a:lnSpc>
              <a:buFont typeface="Arial"/>
              <a:buChar char="•"/>
            </a:pPr>
            <a:r>
              <a:rPr lang="en-US" sz="4925" dirty="0">
                <a:solidFill>
                  <a:srgbClr val="FFFFFF"/>
                </a:solidFill>
                <a:latin typeface="Canva Sans"/>
                <a:ea typeface="Canva Sans"/>
                <a:cs typeface="Canva Sans"/>
                <a:sym typeface="Canva Sans"/>
              </a:rPr>
              <a:t>Implemented Flask Login </a:t>
            </a:r>
            <a:r>
              <a:rPr lang="en-US" sz="4925" dirty="0" err="1">
                <a:solidFill>
                  <a:srgbClr val="FFFFFF"/>
                </a:solidFill>
                <a:latin typeface="Canva Sans"/>
                <a:ea typeface="Canva Sans"/>
                <a:cs typeface="Canva Sans"/>
                <a:sym typeface="Canva Sans"/>
              </a:rPr>
              <a:t>functionaltity</a:t>
            </a:r>
            <a:r>
              <a:rPr lang="en-US" sz="4925" dirty="0">
                <a:solidFill>
                  <a:srgbClr val="FFFFFF"/>
                </a:solidFill>
                <a:latin typeface="Canva Sans"/>
                <a:ea typeface="Canva Sans"/>
                <a:cs typeface="Canva Sans"/>
                <a:sym typeface="Canva Sans"/>
              </a:rPr>
              <a:t> to enable admin to log </a:t>
            </a:r>
            <a:r>
              <a:rPr lang="en-US" sz="4925" dirty="0" smtClean="0">
                <a:solidFill>
                  <a:srgbClr val="FFFFFF"/>
                </a:solidFill>
                <a:latin typeface="Canva Sans"/>
                <a:ea typeface="Canva Sans"/>
                <a:cs typeface="Canva Sans"/>
                <a:sym typeface="Canva Sans"/>
              </a:rPr>
              <a:t>in using </a:t>
            </a:r>
            <a:r>
              <a:rPr lang="en-US" sz="4925" dirty="0" err="1" smtClean="0">
                <a:solidFill>
                  <a:srgbClr val="FFFFFF"/>
                </a:solidFill>
                <a:latin typeface="Canva Sans"/>
                <a:ea typeface="Canva Sans"/>
                <a:cs typeface="Canva Sans"/>
                <a:sym typeface="Canva Sans"/>
              </a:rPr>
              <a:t>SQLite</a:t>
            </a:r>
            <a:r>
              <a:rPr lang="en-US" sz="4925" dirty="0" smtClean="0">
                <a:solidFill>
                  <a:srgbClr val="FFFFFF"/>
                </a:solidFill>
                <a:latin typeface="Canva Sans"/>
                <a:ea typeface="Canva Sans"/>
                <a:cs typeface="Canva Sans"/>
                <a:sym typeface="Canva Sans"/>
              </a:rPr>
              <a:t>.</a:t>
            </a:r>
            <a:endParaRPr lang="en-US" sz="4925" dirty="0">
              <a:solidFill>
                <a:srgbClr val="FFFFFF"/>
              </a:solidFill>
              <a:latin typeface="Canva Sans"/>
              <a:ea typeface="Canva Sans"/>
              <a:cs typeface="Canva Sans"/>
              <a:sym typeface="Canva Sans"/>
            </a:endParaRPr>
          </a:p>
        </p:txBody>
      </p:sp>
      <p:sp>
        <p:nvSpPr>
          <p:cNvPr id="3" name="TextBox 3"/>
          <p:cNvSpPr txBox="1"/>
          <p:nvPr/>
        </p:nvSpPr>
        <p:spPr>
          <a:xfrm>
            <a:off x="692510" y="537527"/>
            <a:ext cx="12613953" cy="874214"/>
          </a:xfrm>
          <a:prstGeom prst="rect">
            <a:avLst/>
          </a:prstGeom>
        </p:spPr>
        <p:txBody>
          <a:bodyPr wrap="square" lIns="0" tIns="0" rIns="0" bIns="0" rtlCol="0" anchor="t">
            <a:spAutoFit/>
          </a:bodyPr>
          <a:lstStyle/>
          <a:p>
            <a:pPr>
              <a:lnSpc>
                <a:spcPts val="7279"/>
              </a:lnSpc>
            </a:pPr>
            <a:r>
              <a:rPr lang="en-US" sz="5199" b="1" dirty="0">
                <a:solidFill>
                  <a:srgbClr val="FFFFFF"/>
                </a:solidFill>
                <a:latin typeface="Canva Sans Bold"/>
                <a:ea typeface="Canva Sans Bold"/>
                <a:cs typeface="Canva Sans Bold"/>
                <a:sym typeface="Canva Sans Bold"/>
              </a:rPr>
              <a:t>New Technologies used/learned:</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4AAD">
                <a:alpha val="100000"/>
              </a:srgbClr>
            </a:gs>
            <a:gs pos="100000">
              <a:srgbClr val="CB6CE6">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3090830" y="2571732"/>
            <a:ext cx="9501254" cy="3257302"/>
          </a:xfrm>
          <a:prstGeom prst="rect">
            <a:avLst/>
          </a:prstGeom>
        </p:spPr>
        <p:txBody>
          <a:bodyPr wrap="square" lIns="0" tIns="0" rIns="0" bIns="0" rtlCol="0" anchor="t">
            <a:spAutoFit/>
          </a:bodyPr>
          <a:lstStyle/>
          <a:p>
            <a:pPr algn="ctr">
              <a:lnSpc>
                <a:spcPts val="12651"/>
              </a:lnSpc>
            </a:pPr>
            <a:endParaRPr lang="en-US" sz="8000" dirty="0" smtClean="0">
              <a:solidFill>
                <a:srgbClr val="FFFFFF"/>
              </a:solidFill>
              <a:latin typeface="Sitka Display" pitchFamily="2" charset="0"/>
              <a:ea typeface="TAN Headline"/>
              <a:cs typeface="TAN Headline"/>
              <a:sym typeface="TAN Headline"/>
            </a:endParaRPr>
          </a:p>
          <a:p>
            <a:pPr algn="ctr">
              <a:lnSpc>
                <a:spcPts val="12651"/>
              </a:lnSpc>
            </a:pPr>
            <a:r>
              <a:rPr lang="en-US" sz="14542" dirty="0" smtClean="0">
                <a:solidFill>
                  <a:srgbClr val="FFFFFF"/>
                </a:solidFill>
                <a:latin typeface="TAN Headline"/>
                <a:ea typeface="TAN Headline"/>
                <a:cs typeface="TAN Headline"/>
                <a:sym typeface="TAN Headline"/>
              </a:rPr>
              <a:t>Thank </a:t>
            </a:r>
            <a:r>
              <a:rPr lang="en-US" sz="14542" dirty="0">
                <a:solidFill>
                  <a:srgbClr val="FFFFFF"/>
                </a:solidFill>
                <a:latin typeface="TAN Headline"/>
                <a:ea typeface="TAN Headline"/>
                <a:cs typeface="TAN Headline"/>
                <a:sym typeface="TAN Headline"/>
              </a:rPr>
              <a:t>You!</a:t>
            </a:r>
          </a:p>
        </p:txBody>
      </p:sp>
      <p:sp>
        <p:nvSpPr>
          <p:cNvPr id="3" name="TextBox 2"/>
          <p:cNvSpPr txBox="1"/>
          <p:nvPr/>
        </p:nvSpPr>
        <p:spPr>
          <a:xfrm>
            <a:off x="11091886" y="9429780"/>
            <a:ext cx="5000660" cy="646331"/>
          </a:xfrm>
          <a:prstGeom prst="rect">
            <a:avLst/>
          </a:prstGeom>
          <a:noFill/>
        </p:spPr>
        <p:txBody>
          <a:bodyPr wrap="square" rtlCol="0">
            <a:spAutoFit/>
          </a:bodyPr>
          <a:lstStyle/>
          <a:p>
            <a:r>
              <a:rPr lang="en-US" sz="3600" spc="600" dirty="0" smtClean="0">
                <a:solidFill>
                  <a:srgbClr val="FFFFFF"/>
                </a:solidFill>
                <a:effectLst>
                  <a:outerShdw blurRad="38100" dist="38100" dir="2700000" algn="tl">
                    <a:srgbClr val="000000">
                      <a:alpha val="43137"/>
                    </a:srgbClr>
                  </a:outerShdw>
                </a:effectLst>
                <a:latin typeface="Sitka Display" pitchFamily="2" charset="0"/>
                <a:ea typeface="TAN Headline"/>
                <a:cs typeface="TAN Headline"/>
                <a:sym typeface="TAN Headline"/>
              </a:rPr>
              <a:t>to be continued…</a:t>
            </a:r>
            <a:endParaRPr lang="en-US" spc="600" dirty="0">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358</TotalTime>
  <Words>1421</Words>
  <Application>Microsoft Office PowerPoint</Application>
  <PresentationFormat>Custom</PresentationFormat>
  <Paragraphs>457</Paragraphs>
  <Slides>22</Slides>
  <Notes>4</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22</vt:i4>
      </vt:variant>
    </vt:vector>
  </HeadingPairs>
  <TitlesOfParts>
    <vt:vector size="37" baseType="lpstr">
      <vt:lpstr>Arial</vt:lpstr>
      <vt:lpstr>Chunk Five</vt:lpstr>
      <vt:lpstr>Canva Sans Bold</vt:lpstr>
      <vt:lpstr>Red Hat Display Bold</vt:lpstr>
      <vt:lpstr>Calibri</vt:lpstr>
      <vt:lpstr>Canva Sans</vt:lpstr>
      <vt:lpstr>Poppins Semi-Bold</vt:lpstr>
      <vt:lpstr>Anton</vt:lpstr>
      <vt:lpstr>Poppins</vt:lpstr>
      <vt:lpstr>Poppins Ultra-Bold</vt:lpstr>
      <vt:lpstr>Poppins Medium</vt:lpstr>
      <vt:lpstr>Consolas</vt:lpstr>
      <vt:lpstr>Sitka Display</vt:lpstr>
      <vt:lpstr>TAN Headline</vt:lpstr>
      <vt:lpstr>Office Theme</vt:lpstr>
      <vt:lpstr>Slide 1</vt:lpstr>
      <vt:lpstr>Slide 2</vt:lpstr>
      <vt:lpstr>Slide 3</vt:lpstr>
      <vt:lpstr>Step : 1</vt:lpstr>
      <vt:lpstr>Slide 5</vt:lpstr>
      <vt:lpstr>Slide 6</vt:lpstr>
      <vt:lpstr>Slide 7</vt:lpstr>
      <vt:lpstr>Slide 8</vt:lpstr>
      <vt:lpstr>Slide 9</vt:lpstr>
      <vt:lpstr>Step : 2</vt:lpstr>
      <vt:lpstr>Match Dataset  Match Dataset contains total 45 records with 7 columns. Few of the records are shown in the below table:  </vt:lpstr>
      <vt:lpstr>Batting Table  Batting csv file contains total 699 records with 11 columns of which 5 records are shown in the below table:  </vt:lpstr>
      <vt:lpstr>Bowling table  Bowling.csv file contains total 500 records with 13 columns. Few of the records are shown in the below table:  </vt:lpstr>
      <vt:lpstr>Player Dataset  Players.csv dataset contains total 219 rows and 6 columns. Few of the records are shown in the below table:  </vt:lpstr>
      <vt:lpstr>Relation between tables:</vt:lpstr>
      <vt:lpstr>Step : 3</vt:lpstr>
      <vt:lpstr>Preparing Data for analysis</vt:lpstr>
      <vt:lpstr>Step : 4</vt:lpstr>
      <vt:lpstr>  Add new calculated columns to existing datasets:</vt:lpstr>
      <vt:lpstr>Slide 20</vt:lpstr>
      <vt:lpstr>Slide 21</vt:lpstr>
      <vt:lpstr>Slide 22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Paramaeter Scoping.pdf</dc:title>
  <cp:lastModifiedBy>DELL</cp:lastModifiedBy>
  <cp:revision>52</cp:revision>
  <dcterms:created xsi:type="dcterms:W3CDTF">2006-08-16T00:00:00Z</dcterms:created>
  <dcterms:modified xsi:type="dcterms:W3CDTF">2024-10-01T08:31:04Z</dcterms:modified>
  <dc:identifier>DAGPy51EQ0k</dc:identifier>
</cp:coreProperties>
</file>